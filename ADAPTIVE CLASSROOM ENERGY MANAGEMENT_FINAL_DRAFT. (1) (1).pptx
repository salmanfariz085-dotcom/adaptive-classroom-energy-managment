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handoutMasterIdLst>
    <p:handoutMasterId r:id="rId49"/>
  </p:handoutMasterIdLst>
  <p:sldIdLst>
    <p:sldId id="256" r:id="rId2"/>
    <p:sldId id="257" r:id="rId3"/>
    <p:sldId id="282" r:id="rId4"/>
    <p:sldId id="258" r:id="rId5"/>
    <p:sldId id="259" r:id="rId6"/>
    <p:sldId id="260" r:id="rId7"/>
    <p:sldId id="263" r:id="rId8"/>
    <p:sldId id="264" r:id="rId9"/>
    <p:sldId id="271" r:id="rId10"/>
    <p:sldId id="272" r:id="rId11"/>
    <p:sldId id="273" r:id="rId12"/>
    <p:sldId id="292" r:id="rId13"/>
    <p:sldId id="261" r:id="rId14"/>
    <p:sldId id="293" r:id="rId15"/>
    <p:sldId id="301" r:id="rId16"/>
    <p:sldId id="302" r:id="rId17"/>
    <p:sldId id="288" r:id="rId18"/>
    <p:sldId id="304" r:id="rId19"/>
    <p:sldId id="289" r:id="rId20"/>
    <p:sldId id="290" r:id="rId21"/>
    <p:sldId id="262" r:id="rId22"/>
    <p:sldId id="303" r:id="rId23"/>
    <p:sldId id="266" r:id="rId24"/>
    <p:sldId id="285" r:id="rId25"/>
    <p:sldId id="267" r:id="rId26"/>
    <p:sldId id="268" r:id="rId27"/>
    <p:sldId id="269" r:id="rId28"/>
    <p:sldId id="277" r:id="rId29"/>
    <p:sldId id="270" r:id="rId30"/>
    <p:sldId id="274" r:id="rId31"/>
    <p:sldId id="275" r:id="rId32"/>
    <p:sldId id="278" r:id="rId33"/>
    <p:sldId id="279" r:id="rId34"/>
    <p:sldId id="283" r:id="rId35"/>
    <p:sldId id="280" r:id="rId36"/>
    <p:sldId id="305" r:id="rId37"/>
    <p:sldId id="286" r:id="rId38"/>
    <p:sldId id="276" r:id="rId39"/>
    <p:sldId id="298" r:id="rId40"/>
    <p:sldId id="294" r:id="rId41"/>
    <p:sldId id="297" r:id="rId42"/>
    <p:sldId id="296" r:id="rId43"/>
    <p:sldId id="295" r:id="rId44"/>
    <p:sldId id="299" r:id="rId45"/>
    <p:sldId id="300" r:id="rId46"/>
    <p:sldId id="281"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3EB0E10-CDEC-4338-99BD-51E1771768B2}">
          <p14:sldIdLst>
            <p14:sldId id="256"/>
            <p14:sldId id="257"/>
            <p14:sldId id="282"/>
          </p14:sldIdLst>
        </p14:section>
        <p14:section name="Untitled Section" id="{8392F98B-AB4E-4594-B996-982606D3C551}">
          <p14:sldIdLst>
            <p14:sldId id="258"/>
            <p14:sldId id="259"/>
            <p14:sldId id="260"/>
            <p14:sldId id="263"/>
            <p14:sldId id="264"/>
            <p14:sldId id="271"/>
            <p14:sldId id="272"/>
            <p14:sldId id="273"/>
            <p14:sldId id="292"/>
            <p14:sldId id="261"/>
            <p14:sldId id="293"/>
            <p14:sldId id="301"/>
            <p14:sldId id="302"/>
            <p14:sldId id="288"/>
            <p14:sldId id="304"/>
            <p14:sldId id="289"/>
            <p14:sldId id="290"/>
            <p14:sldId id="262"/>
            <p14:sldId id="303"/>
            <p14:sldId id="266"/>
            <p14:sldId id="285"/>
            <p14:sldId id="267"/>
            <p14:sldId id="268"/>
            <p14:sldId id="269"/>
            <p14:sldId id="277"/>
            <p14:sldId id="270"/>
            <p14:sldId id="274"/>
            <p14:sldId id="275"/>
            <p14:sldId id="278"/>
            <p14:sldId id="279"/>
            <p14:sldId id="283"/>
            <p14:sldId id="280"/>
            <p14:sldId id="305"/>
            <p14:sldId id="286"/>
            <p14:sldId id="276"/>
            <p14:sldId id="298"/>
            <p14:sldId id="294"/>
            <p14:sldId id="297"/>
            <p14:sldId id="296"/>
            <p14:sldId id="295"/>
            <p14:sldId id="299"/>
            <p14:sldId id="300"/>
            <p14:sldId id="28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85359" autoAdjust="0"/>
  </p:normalViewPr>
  <p:slideViewPr>
    <p:cSldViewPr snapToGrid="0">
      <p:cViewPr varScale="1">
        <p:scale>
          <a:sx n="91" d="100"/>
          <a:sy n="91" d="100"/>
        </p:scale>
        <p:origin x="935" y="8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2C43DCF-9A09-56EE-C86E-65EC4839C54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5D50224C-51F1-20DE-37F9-76AE0F48BF3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43866EB-0D2B-4F37-A923-6B73871D4BBA}" type="datetime1">
              <a:rPr lang="en-IN" smtClean="0"/>
              <a:t>17-10-2026</a:t>
            </a:fld>
            <a:endParaRPr lang="en-IN"/>
          </a:p>
        </p:txBody>
      </p:sp>
      <p:sp>
        <p:nvSpPr>
          <p:cNvPr id="4" name="Footer Placeholder 3">
            <a:extLst>
              <a:ext uri="{FF2B5EF4-FFF2-40B4-BE49-F238E27FC236}">
                <a16:creationId xmlns:a16="http://schemas.microsoft.com/office/drawing/2014/main" id="{D48D6306-2524-5E5C-CD8F-3FA0A7DA71A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0105C5FB-C325-85FE-92F6-A5455080C71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A72C55-E480-4813-8CFF-A4CED132E753}" type="slidenum">
              <a:rPr lang="en-IN" smtClean="0"/>
              <a:t>‹#›</a:t>
            </a:fld>
            <a:endParaRPr lang="en-IN"/>
          </a:p>
        </p:txBody>
      </p:sp>
    </p:spTree>
    <p:extLst>
      <p:ext uri="{BB962C8B-B14F-4D97-AF65-F5344CB8AC3E}">
        <p14:creationId xmlns:p14="http://schemas.microsoft.com/office/powerpoint/2010/main" val="148121555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7940E5-9C40-4C8F-BDE6-A8276A2774DF}" type="datetime1">
              <a:rPr lang="en-IN" smtClean="0"/>
              <a:t>17-10-2026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6B6275-DBBE-4958-801F-C4E3C25F2188}" type="slidenum">
              <a:rPr lang="en-IN" smtClean="0"/>
              <a:t>‹#›</a:t>
            </a:fld>
            <a:endParaRPr lang="en-IN"/>
          </a:p>
        </p:txBody>
      </p:sp>
    </p:spTree>
    <p:extLst>
      <p:ext uri="{BB962C8B-B14F-4D97-AF65-F5344CB8AC3E}">
        <p14:creationId xmlns:p14="http://schemas.microsoft.com/office/powerpoint/2010/main" val="259950440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E6B6275-DBBE-4958-801F-C4E3C25F2188}" type="slidenum">
              <a:rPr lang="en-IN" smtClean="0"/>
              <a:t>5</a:t>
            </a:fld>
            <a:endParaRPr lang="en-IN"/>
          </a:p>
        </p:txBody>
      </p:sp>
    </p:spTree>
    <p:extLst>
      <p:ext uri="{BB962C8B-B14F-4D97-AF65-F5344CB8AC3E}">
        <p14:creationId xmlns:p14="http://schemas.microsoft.com/office/powerpoint/2010/main" val="1235521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E6B6275-DBBE-4958-801F-C4E3C25F2188}" type="slidenum">
              <a:rPr lang="en-IN" smtClean="0"/>
              <a:t>28</a:t>
            </a:fld>
            <a:endParaRPr lang="en-IN"/>
          </a:p>
        </p:txBody>
      </p:sp>
    </p:spTree>
    <p:extLst>
      <p:ext uri="{BB962C8B-B14F-4D97-AF65-F5344CB8AC3E}">
        <p14:creationId xmlns:p14="http://schemas.microsoft.com/office/powerpoint/2010/main" val="37570220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E6B6275-DBBE-4958-801F-C4E3C25F2188}" type="slidenum">
              <a:rPr lang="en-IN" smtClean="0"/>
              <a:t>34</a:t>
            </a:fld>
            <a:endParaRPr lang="en-IN"/>
          </a:p>
        </p:txBody>
      </p:sp>
    </p:spTree>
    <p:extLst>
      <p:ext uri="{BB962C8B-B14F-4D97-AF65-F5344CB8AC3E}">
        <p14:creationId xmlns:p14="http://schemas.microsoft.com/office/powerpoint/2010/main" val="18552010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709A8-A659-8238-B631-C2635CE67C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C744EE3-6F63-5FEB-AA54-0FF79A627E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76B5F96-755A-B2F2-C7E8-E14B97858D03}"/>
              </a:ext>
            </a:extLst>
          </p:cNvPr>
          <p:cNvSpPr>
            <a:spLocks noGrp="1"/>
          </p:cNvSpPr>
          <p:nvPr>
            <p:ph type="dt" sz="half" idx="10"/>
          </p:nvPr>
        </p:nvSpPr>
        <p:spPr/>
        <p:txBody>
          <a:bodyPr/>
          <a:lstStyle/>
          <a:p>
            <a:fld id="{B270BE52-BF9D-4D1A-8449-FD102191637C}" type="datetime1">
              <a:rPr lang="en-IN" smtClean="0"/>
              <a:t>17-10-2026</a:t>
            </a:fld>
            <a:endParaRPr lang="en-IN"/>
          </a:p>
        </p:txBody>
      </p:sp>
      <p:sp>
        <p:nvSpPr>
          <p:cNvPr id="5" name="Footer Placeholder 4">
            <a:extLst>
              <a:ext uri="{FF2B5EF4-FFF2-40B4-BE49-F238E27FC236}">
                <a16:creationId xmlns:a16="http://schemas.microsoft.com/office/drawing/2014/main" id="{A15CEE57-E144-2B28-9042-90680211AE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A1CB74-519B-6622-E504-BC2EF605440D}"/>
              </a:ext>
            </a:extLst>
          </p:cNvPr>
          <p:cNvSpPr>
            <a:spLocks noGrp="1"/>
          </p:cNvSpPr>
          <p:nvPr>
            <p:ph type="sldNum" sz="quarter" idx="12"/>
          </p:nvPr>
        </p:nvSpPr>
        <p:spPr/>
        <p:txBody>
          <a:bodyPr/>
          <a:lstStyle/>
          <a:p>
            <a:fld id="{0E29D32D-1BC0-48D0-BB54-D1EE225F3EBD}" type="slidenum">
              <a:rPr lang="en-IN" smtClean="0"/>
              <a:t>‹#›</a:t>
            </a:fld>
            <a:endParaRPr lang="en-IN"/>
          </a:p>
        </p:txBody>
      </p:sp>
    </p:spTree>
    <p:extLst>
      <p:ext uri="{BB962C8B-B14F-4D97-AF65-F5344CB8AC3E}">
        <p14:creationId xmlns:p14="http://schemas.microsoft.com/office/powerpoint/2010/main" val="35789814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E5982-019B-35A3-76E1-D67E70BD2B7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A0D9A61-0B61-6158-2EC3-FB26D95B3B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03D97E-6B6A-83C8-C154-EC36030A6AFA}"/>
              </a:ext>
            </a:extLst>
          </p:cNvPr>
          <p:cNvSpPr>
            <a:spLocks noGrp="1"/>
          </p:cNvSpPr>
          <p:nvPr>
            <p:ph type="dt" sz="half" idx="10"/>
          </p:nvPr>
        </p:nvSpPr>
        <p:spPr/>
        <p:txBody>
          <a:bodyPr/>
          <a:lstStyle/>
          <a:p>
            <a:fld id="{8D433EF3-B30A-41EE-AC2F-05E1E56F24B4}" type="datetime1">
              <a:rPr lang="en-IN" smtClean="0"/>
              <a:t>17-10-2026</a:t>
            </a:fld>
            <a:endParaRPr lang="en-IN"/>
          </a:p>
        </p:txBody>
      </p:sp>
      <p:sp>
        <p:nvSpPr>
          <p:cNvPr id="5" name="Footer Placeholder 4">
            <a:extLst>
              <a:ext uri="{FF2B5EF4-FFF2-40B4-BE49-F238E27FC236}">
                <a16:creationId xmlns:a16="http://schemas.microsoft.com/office/drawing/2014/main" id="{5DAE214A-5CF7-7F63-D938-32EDDFBB1F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A6BB3D-5E08-CF17-4B22-75EC4B22475D}"/>
              </a:ext>
            </a:extLst>
          </p:cNvPr>
          <p:cNvSpPr>
            <a:spLocks noGrp="1"/>
          </p:cNvSpPr>
          <p:nvPr>
            <p:ph type="sldNum" sz="quarter" idx="12"/>
          </p:nvPr>
        </p:nvSpPr>
        <p:spPr/>
        <p:txBody>
          <a:bodyPr/>
          <a:lstStyle/>
          <a:p>
            <a:fld id="{0E29D32D-1BC0-48D0-BB54-D1EE225F3EBD}" type="slidenum">
              <a:rPr lang="en-IN" smtClean="0"/>
              <a:t>‹#›</a:t>
            </a:fld>
            <a:endParaRPr lang="en-IN"/>
          </a:p>
        </p:txBody>
      </p:sp>
    </p:spTree>
    <p:extLst>
      <p:ext uri="{BB962C8B-B14F-4D97-AF65-F5344CB8AC3E}">
        <p14:creationId xmlns:p14="http://schemas.microsoft.com/office/powerpoint/2010/main" val="1122138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ABDC8-A93D-B6F9-F7D6-8C2D717B19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7B10632-BDCC-2ED6-3E19-38D6C7D310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0B2874-71AC-BF01-6401-1065DA09C167}"/>
              </a:ext>
            </a:extLst>
          </p:cNvPr>
          <p:cNvSpPr>
            <a:spLocks noGrp="1"/>
          </p:cNvSpPr>
          <p:nvPr>
            <p:ph type="dt" sz="half" idx="10"/>
          </p:nvPr>
        </p:nvSpPr>
        <p:spPr/>
        <p:txBody>
          <a:bodyPr/>
          <a:lstStyle/>
          <a:p>
            <a:fld id="{341CDC11-8627-457D-8FC7-6BA61AD333F0}" type="datetime1">
              <a:rPr lang="en-IN" smtClean="0"/>
              <a:t>17-10-2026</a:t>
            </a:fld>
            <a:endParaRPr lang="en-IN"/>
          </a:p>
        </p:txBody>
      </p:sp>
      <p:sp>
        <p:nvSpPr>
          <p:cNvPr id="5" name="Footer Placeholder 4">
            <a:extLst>
              <a:ext uri="{FF2B5EF4-FFF2-40B4-BE49-F238E27FC236}">
                <a16:creationId xmlns:a16="http://schemas.microsoft.com/office/drawing/2014/main" id="{9A44024B-B3DB-375A-AF31-665762D74D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682DEB-1729-9ECD-8A7F-45EFCFE9ADC9}"/>
              </a:ext>
            </a:extLst>
          </p:cNvPr>
          <p:cNvSpPr>
            <a:spLocks noGrp="1"/>
          </p:cNvSpPr>
          <p:nvPr>
            <p:ph type="sldNum" sz="quarter" idx="12"/>
          </p:nvPr>
        </p:nvSpPr>
        <p:spPr/>
        <p:txBody>
          <a:bodyPr/>
          <a:lstStyle/>
          <a:p>
            <a:fld id="{0E29D32D-1BC0-48D0-BB54-D1EE225F3EBD}" type="slidenum">
              <a:rPr lang="en-IN" smtClean="0"/>
              <a:t>‹#›</a:t>
            </a:fld>
            <a:endParaRPr lang="en-IN"/>
          </a:p>
        </p:txBody>
      </p:sp>
    </p:spTree>
    <p:extLst>
      <p:ext uri="{BB962C8B-B14F-4D97-AF65-F5344CB8AC3E}">
        <p14:creationId xmlns:p14="http://schemas.microsoft.com/office/powerpoint/2010/main" val="209262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89251-B4D9-F9EA-DE35-331AE9AEFD9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D5728CA-B17E-1D73-7B88-CD56FEA593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AE77732-F767-0C37-7626-EEA35854A5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A4AFAE8-88CE-EE41-60A3-25F793D79ECF}"/>
              </a:ext>
            </a:extLst>
          </p:cNvPr>
          <p:cNvSpPr>
            <a:spLocks noGrp="1"/>
          </p:cNvSpPr>
          <p:nvPr>
            <p:ph type="dt" sz="half" idx="10"/>
          </p:nvPr>
        </p:nvSpPr>
        <p:spPr/>
        <p:txBody>
          <a:bodyPr/>
          <a:lstStyle/>
          <a:p>
            <a:fld id="{4583360F-81C5-4D89-BC6E-8719C0F06519}" type="datetime1">
              <a:rPr lang="en-IN" smtClean="0"/>
              <a:t>17-10-2026</a:t>
            </a:fld>
            <a:endParaRPr lang="en-IN"/>
          </a:p>
        </p:txBody>
      </p:sp>
      <p:sp>
        <p:nvSpPr>
          <p:cNvPr id="6" name="Footer Placeholder 5">
            <a:extLst>
              <a:ext uri="{FF2B5EF4-FFF2-40B4-BE49-F238E27FC236}">
                <a16:creationId xmlns:a16="http://schemas.microsoft.com/office/drawing/2014/main" id="{AA191005-ADC6-0C9D-DC87-1FB9D25B30A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CD7E3D-B5E8-E219-5B5D-845A42EC7C01}"/>
              </a:ext>
            </a:extLst>
          </p:cNvPr>
          <p:cNvSpPr>
            <a:spLocks noGrp="1"/>
          </p:cNvSpPr>
          <p:nvPr>
            <p:ph type="sldNum" sz="quarter" idx="12"/>
          </p:nvPr>
        </p:nvSpPr>
        <p:spPr/>
        <p:txBody>
          <a:bodyPr/>
          <a:lstStyle/>
          <a:p>
            <a:fld id="{0E29D32D-1BC0-48D0-BB54-D1EE225F3EBD}" type="slidenum">
              <a:rPr lang="en-IN" smtClean="0"/>
              <a:t>‹#›</a:t>
            </a:fld>
            <a:endParaRPr lang="en-IN"/>
          </a:p>
        </p:txBody>
      </p:sp>
    </p:spTree>
    <p:extLst>
      <p:ext uri="{BB962C8B-B14F-4D97-AF65-F5344CB8AC3E}">
        <p14:creationId xmlns:p14="http://schemas.microsoft.com/office/powerpoint/2010/main" val="529287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5CDB9-BD92-ACFA-F4F5-555600F55CE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956864-FA8F-71EE-57FE-0E5D87B105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0F294E-B7E5-A45E-674D-A504168FB0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03DC1FF-C357-406B-EF7D-E2BC288DA9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4BB36B-8BDA-8115-0CBD-DE58C14B89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2A1CD21-BB1F-6A21-7AF4-E26E93E4E754}"/>
              </a:ext>
            </a:extLst>
          </p:cNvPr>
          <p:cNvSpPr>
            <a:spLocks noGrp="1"/>
          </p:cNvSpPr>
          <p:nvPr>
            <p:ph type="dt" sz="half" idx="10"/>
          </p:nvPr>
        </p:nvSpPr>
        <p:spPr/>
        <p:txBody>
          <a:bodyPr/>
          <a:lstStyle/>
          <a:p>
            <a:fld id="{BC8A95BC-FF43-41FB-8C53-E7798E0E054D}" type="datetime1">
              <a:rPr lang="en-IN" smtClean="0"/>
              <a:t>17-10-2026</a:t>
            </a:fld>
            <a:endParaRPr lang="en-IN"/>
          </a:p>
        </p:txBody>
      </p:sp>
      <p:sp>
        <p:nvSpPr>
          <p:cNvPr id="8" name="Footer Placeholder 7">
            <a:extLst>
              <a:ext uri="{FF2B5EF4-FFF2-40B4-BE49-F238E27FC236}">
                <a16:creationId xmlns:a16="http://schemas.microsoft.com/office/drawing/2014/main" id="{16C0A9E7-B895-A30C-B4D9-9A45EBA3FAA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F52A042-CF75-65E1-7517-933A7C7DFA1B}"/>
              </a:ext>
            </a:extLst>
          </p:cNvPr>
          <p:cNvSpPr>
            <a:spLocks noGrp="1"/>
          </p:cNvSpPr>
          <p:nvPr>
            <p:ph type="sldNum" sz="quarter" idx="12"/>
          </p:nvPr>
        </p:nvSpPr>
        <p:spPr/>
        <p:txBody>
          <a:bodyPr/>
          <a:lstStyle/>
          <a:p>
            <a:fld id="{0E29D32D-1BC0-48D0-BB54-D1EE225F3EBD}" type="slidenum">
              <a:rPr lang="en-IN" smtClean="0"/>
              <a:t>‹#›</a:t>
            </a:fld>
            <a:endParaRPr lang="en-IN"/>
          </a:p>
        </p:txBody>
      </p:sp>
    </p:spTree>
    <p:extLst>
      <p:ext uri="{BB962C8B-B14F-4D97-AF65-F5344CB8AC3E}">
        <p14:creationId xmlns:p14="http://schemas.microsoft.com/office/powerpoint/2010/main" val="39575921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79B67-B224-46B8-E098-8B6A204CF50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77CC13F-BC11-901C-851D-4F0D2AA16EC3}"/>
              </a:ext>
            </a:extLst>
          </p:cNvPr>
          <p:cNvSpPr>
            <a:spLocks noGrp="1"/>
          </p:cNvSpPr>
          <p:nvPr>
            <p:ph type="dt" sz="half" idx="10"/>
          </p:nvPr>
        </p:nvSpPr>
        <p:spPr/>
        <p:txBody>
          <a:bodyPr/>
          <a:lstStyle/>
          <a:p>
            <a:fld id="{453C7E38-6249-4B1D-87BD-707AF8D161D5}" type="datetime1">
              <a:rPr lang="en-IN" smtClean="0"/>
              <a:t>17-10-2026</a:t>
            </a:fld>
            <a:endParaRPr lang="en-IN"/>
          </a:p>
        </p:txBody>
      </p:sp>
      <p:sp>
        <p:nvSpPr>
          <p:cNvPr id="4" name="Footer Placeholder 3">
            <a:extLst>
              <a:ext uri="{FF2B5EF4-FFF2-40B4-BE49-F238E27FC236}">
                <a16:creationId xmlns:a16="http://schemas.microsoft.com/office/drawing/2014/main" id="{C614D253-75EE-8BF0-7E27-E175AA14C2A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11EED83-F884-4B6F-D5B7-BED9EBB04E2F}"/>
              </a:ext>
            </a:extLst>
          </p:cNvPr>
          <p:cNvSpPr>
            <a:spLocks noGrp="1"/>
          </p:cNvSpPr>
          <p:nvPr>
            <p:ph type="sldNum" sz="quarter" idx="12"/>
          </p:nvPr>
        </p:nvSpPr>
        <p:spPr/>
        <p:txBody>
          <a:bodyPr/>
          <a:lstStyle/>
          <a:p>
            <a:fld id="{0E29D32D-1BC0-48D0-BB54-D1EE225F3EBD}" type="slidenum">
              <a:rPr lang="en-IN" smtClean="0"/>
              <a:t>‹#›</a:t>
            </a:fld>
            <a:endParaRPr lang="en-IN" dirty="0"/>
          </a:p>
        </p:txBody>
      </p:sp>
    </p:spTree>
    <p:extLst>
      <p:ext uri="{BB962C8B-B14F-4D97-AF65-F5344CB8AC3E}">
        <p14:creationId xmlns:p14="http://schemas.microsoft.com/office/powerpoint/2010/main" val="1337233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7F38CE-BB2F-C49A-1EFF-203503D50411}"/>
              </a:ext>
            </a:extLst>
          </p:cNvPr>
          <p:cNvSpPr>
            <a:spLocks noGrp="1"/>
          </p:cNvSpPr>
          <p:nvPr>
            <p:ph type="dt" sz="half" idx="10"/>
          </p:nvPr>
        </p:nvSpPr>
        <p:spPr/>
        <p:txBody>
          <a:bodyPr/>
          <a:lstStyle/>
          <a:p>
            <a:fld id="{E5167F35-86C2-49E4-A6A4-DA72DE6E7D1D}" type="datetime1">
              <a:rPr lang="en-IN" smtClean="0"/>
              <a:t>17-10-2026</a:t>
            </a:fld>
            <a:endParaRPr lang="en-IN"/>
          </a:p>
        </p:txBody>
      </p:sp>
      <p:sp>
        <p:nvSpPr>
          <p:cNvPr id="3" name="Footer Placeholder 2">
            <a:extLst>
              <a:ext uri="{FF2B5EF4-FFF2-40B4-BE49-F238E27FC236}">
                <a16:creationId xmlns:a16="http://schemas.microsoft.com/office/drawing/2014/main" id="{2D18C87B-9CE7-8DE8-4B15-AD1CB53180B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F699A43-E49F-2C4E-11BE-22037CE58FCC}"/>
              </a:ext>
            </a:extLst>
          </p:cNvPr>
          <p:cNvSpPr>
            <a:spLocks noGrp="1"/>
          </p:cNvSpPr>
          <p:nvPr>
            <p:ph type="sldNum" sz="quarter" idx="12"/>
          </p:nvPr>
        </p:nvSpPr>
        <p:spPr/>
        <p:txBody>
          <a:bodyPr/>
          <a:lstStyle/>
          <a:p>
            <a:fld id="{0E29D32D-1BC0-48D0-BB54-D1EE225F3EBD}" type="slidenum">
              <a:rPr lang="en-IN" smtClean="0"/>
              <a:t>‹#›</a:t>
            </a:fld>
            <a:endParaRPr lang="en-IN"/>
          </a:p>
        </p:txBody>
      </p:sp>
    </p:spTree>
    <p:extLst>
      <p:ext uri="{BB962C8B-B14F-4D97-AF65-F5344CB8AC3E}">
        <p14:creationId xmlns:p14="http://schemas.microsoft.com/office/powerpoint/2010/main" val="41425893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453C2-8593-62B4-1EC3-B4211BED68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C101167-567F-DEE9-7A44-417DF05931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E5D4593-C5E6-2DAE-055E-5E1860489B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A94A28-71E1-74E4-6D7A-F41F837865FC}"/>
              </a:ext>
            </a:extLst>
          </p:cNvPr>
          <p:cNvSpPr>
            <a:spLocks noGrp="1"/>
          </p:cNvSpPr>
          <p:nvPr>
            <p:ph type="dt" sz="half" idx="10"/>
          </p:nvPr>
        </p:nvSpPr>
        <p:spPr/>
        <p:txBody>
          <a:bodyPr/>
          <a:lstStyle/>
          <a:p>
            <a:fld id="{CAB5AEDE-F6B4-4E04-98E3-7C9D618F5664}" type="datetime1">
              <a:rPr lang="en-IN" smtClean="0"/>
              <a:t>17-10-2026</a:t>
            </a:fld>
            <a:endParaRPr lang="en-IN"/>
          </a:p>
        </p:txBody>
      </p:sp>
      <p:sp>
        <p:nvSpPr>
          <p:cNvPr id="6" name="Footer Placeholder 5">
            <a:extLst>
              <a:ext uri="{FF2B5EF4-FFF2-40B4-BE49-F238E27FC236}">
                <a16:creationId xmlns:a16="http://schemas.microsoft.com/office/drawing/2014/main" id="{69D0D62A-9C99-9D94-E889-992317E645F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7DFC29-18DD-7347-F580-8A29832BAA3F}"/>
              </a:ext>
            </a:extLst>
          </p:cNvPr>
          <p:cNvSpPr>
            <a:spLocks noGrp="1"/>
          </p:cNvSpPr>
          <p:nvPr>
            <p:ph type="sldNum" sz="quarter" idx="12"/>
          </p:nvPr>
        </p:nvSpPr>
        <p:spPr/>
        <p:txBody>
          <a:bodyPr/>
          <a:lstStyle/>
          <a:p>
            <a:fld id="{0E29D32D-1BC0-48D0-BB54-D1EE225F3EBD}" type="slidenum">
              <a:rPr lang="en-IN" smtClean="0"/>
              <a:t>‹#›</a:t>
            </a:fld>
            <a:endParaRPr lang="en-IN"/>
          </a:p>
        </p:txBody>
      </p:sp>
    </p:spTree>
    <p:extLst>
      <p:ext uri="{BB962C8B-B14F-4D97-AF65-F5344CB8AC3E}">
        <p14:creationId xmlns:p14="http://schemas.microsoft.com/office/powerpoint/2010/main" val="1151146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1BFBD-C2C5-44BE-CC96-68C0DBB611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32BC85D-C2FC-E5B0-644A-7FB67C441F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DD552BC-3942-1BAC-7A08-02152E4FA1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30A9BA-86A4-4642-A758-471AD968B2F9}"/>
              </a:ext>
            </a:extLst>
          </p:cNvPr>
          <p:cNvSpPr>
            <a:spLocks noGrp="1"/>
          </p:cNvSpPr>
          <p:nvPr>
            <p:ph type="dt" sz="half" idx="10"/>
          </p:nvPr>
        </p:nvSpPr>
        <p:spPr/>
        <p:txBody>
          <a:bodyPr/>
          <a:lstStyle/>
          <a:p>
            <a:fld id="{62506740-88E6-4996-AD8E-F908F6A6309E}" type="datetime1">
              <a:rPr lang="en-IN" smtClean="0"/>
              <a:t>17-10-2026</a:t>
            </a:fld>
            <a:endParaRPr lang="en-IN"/>
          </a:p>
        </p:txBody>
      </p:sp>
      <p:sp>
        <p:nvSpPr>
          <p:cNvPr id="6" name="Footer Placeholder 5">
            <a:extLst>
              <a:ext uri="{FF2B5EF4-FFF2-40B4-BE49-F238E27FC236}">
                <a16:creationId xmlns:a16="http://schemas.microsoft.com/office/drawing/2014/main" id="{9BE69300-AE6B-E07F-3802-63C32527B61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F097C5-A9D7-41B1-15F4-EED1C309F947}"/>
              </a:ext>
            </a:extLst>
          </p:cNvPr>
          <p:cNvSpPr>
            <a:spLocks noGrp="1"/>
          </p:cNvSpPr>
          <p:nvPr>
            <p:ph type="sldNum" sz="quarter" idx="12"/>
          </p:nvPr>
        </p:nvSpPr>
        <p:spPr/>
        <p:txBody>
          <a:bodyPr/>
          <a:lstStyle/>
          <a:p>
            <a:fld id="{0E29D32D-1BC0-48D0-BB54-D1EE225F3EBD}" type="slidenum">
              <a:rPr lang="en-IN" smtClean="0"/>
              <a:t>‹#›</a:t>
            </a:fld>
            <a:endParaRPr lang="en-IN"/>
          </a:p>
        </p:txBody>
      </p:sp>
    </p:spTree>
    <p:extLst>
      <p:ext uri="{BB962C8B-B14F-4D97-AF65-F5344CB8AC3E}">
        <p14:creationId xmlns:p14="http://schemas.microsoft.com/office/powerpoint/2010/main" val="486985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712F9-E252-D5A3-DE38-95049664EA4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FDFDF4F-DE6D-CCB4-B7B0-615A828515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115E85-4964-639B-FFD3-05CDAD6F5F5F}"/>
              </a:ext>
            </a:extLst>
          </p:cNvPr>
          <p:cNvSpPr>
            <a:spLocks noGrp="1"/>
          </p:cNvSpPr>
          <p:nvPr>
            <p:ph type="dt" sz="half" idx="10"/>
          </p:nvPr>
        </p:nvSpPr>
        <p:spPr/>
        <p:txBody>
          <a:bodyPr/>
          <a:lstStyle/>
          <a:p>
            <a:fld id="{7895A021-3775-4C39-BD8C-86C3D97C92E8}" type="datetime1">
              <a:rPr lang="en-IN" smtClean="0"/>
              <a:t>17-10-2026</a:t>
            </a:fld>
            <a:endParaRPr lang="en-IN"/>
          </a:p>
        </p:txBody>
      </p:sp>
      <p:sp>
        <p:nvSpPr>
          <p:cNvPr id="5" name="Footer Placeholder 4">
            <a:extLst>
              <a:ext uri="{FF2B5EF4-FFF2-40B4-BE49-F238E27FC236}">
                <a16:creationId xmlns:a16="http://schemas.microsoft.com/office/drawing/2014/main" id="{7944F74D-E449-66AB-DCA1-136A0CD52E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3C713B-5D5E-E999-87BB-C74734971880}"/>
              </a:ext>
            </a:extLst>
          </p:cNvPr>
          <p:cNvSpPr>
            <a:spLocks noGrp="1"/>
          </p:cNvSpPr>
          <p:nvPr>
            <p:ph type="sldNum" sz="quarter" idx="12"/>
          </p:nvPr>
        </p:nvSpPr>
        <p:spPr/>
        <p:txBody>
          <a:bodyPr/>
          <a:lstStyle/>
          <a:p>
            <a:fld id="{0E29D32D-1BC0-48D0-BB54-D1EE225F3EBD}" type="slidenum">
              <a:rPr lang="en-IN" smtClean="0"/>
              <a:t>‹#›</a:t>
            </a:fld>
            <a:endParaRPr lang="en-IN"/>
          </a:p>
        </p:txBody>
      </p:sp>
    </p:spTree>
    <p:extLst>
      <p:ext uri="{BB962C8B-B14F-4D97-AF65-F5344CB8AC3E}">
        <p14:creationId xmlns:p14="http://schemas.microsoft.com/office/powerpoint/2010/main" val="1707682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8553B1-5CF8-BADA-D3EC-0F608B7A134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2BFCEA4-25D0-7E86-ED82-27F79E9AF3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72DE94-04DF-46D3-ADD0-604419C90F5D}"/>
              </a:ext>
            </a:extLst>
          </p:cNvPr>
          <p:cNvSpPr>
            <a:spLocks noGrp="1"/>
          </p:cNvSpPr>
          <p:nvPr>
            <p:ph type="dt" sz="half" idx="10"/>
          </p:nvPr>
        </p:nvSpPr>
        <p:spPr/>
        <p:txBody>
          <a:bodyPr/>
          <a:lstStyle/>
          <a:p>
            <a:fld id="{19F59343-210A-44A4-BCFC-C9E375D5BEAC}" type="datetime1">
              <a:rPr lang="en-IN" smtClean="0"/>
              <a:t>17-10-2026</a:t>
            </a:fld>
            <a:endParaRPr lang="en-IN"/>
          </a:p>
        </p:txBody>
      </p:sp>
      <p:sp>
        <p:nvSpPr>
          <p:cNvPr id="5" name="Footer Placeholder 4">
            <a:extLst>
              <a:ext uri="{FF2B5EF4-FFF2-40B4-BE49-F238E27FC236}">
                <a16:creationId xmlns:a16="http://schemas.microsoft.com/office/drawing/2014/main" id="{A8E9DA7F-578E-7A5B-D622-3CF6E6BA63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142007-2B25-D827-93C1-CC5697925DD2}"/>
              </a:ext>
            </a:extLst>
          </p:cNvPr>
          <p:cNvSpPr>
            <a:spLocks noGrp="1"/>
          </p:cNvSpPr>
          <p:nvPr>
            <p:ph type="sldNum" sz="quarter" idx="12"/>
          </p:nvPr>
        </p:nvSpPr>
        <p:spPr/>
        <p:txBody>
          <a:bodyPr/>
          <a:lstStyle/>
          <a:p>
            <a:fld id="{0E29D32D-1BC0-48D0-BB54-D1EE225F3EBD}" type="slidenum">
              <a:rPr lang="en-IN" smtClean="0"/>
              <a:t>‹#›</a:t>
            </a:fld>
            <a:endParaRPr lang="en-IN"/>
          </a:p>
        </p:txBody>
      </p:sp>
    </p:spTree>
    <p:extLst>
      <p:ext uri="{BB962C8B-B14F-4D97-AF65-F5344CB8AC3E}">
        <p14:creationId xmlns:p14="http://schemas.microsoft.com/office/powerpoint/2010/main" val="430494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C6DD45-A9F4-59F5-7589-3BCBCC1E53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DF2723-CDEB-3707-D8B6-BDD345BC47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18B3D7-6B92-1A2F-781B-5FDB8693A0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7C0ECC8-D396-4C9C-9D0D-D9CAA65149A1}" type="datetime1">
              <a:rPr lang="en-IN" smtClean="0"/>
              <a:t>17-10-2026</a:t>
            </a:fld>
            <a:endParaRPr lang="en-IN"/>
          </a:p>
        </p:txBody>
      </p:sp>
      <p:sp>
        <p:nvSpPr>
          <p:cNvPr id="5" name="Footer Placeholder 4">
            <a:extLst>
              <a:ext uri="{FF2B5EF4-FFF2-40B4-BE49-F238E27FC236}">
                <a16:creationId xmlns:a16="http://schemas.microsoft.com/office/drawing/2014/main" id="{2A93BA04-8067-6384-C357-AB055BD3B5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A1B9A38-2B3D-1274-FC67-CF76AEC549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29D32D-1BC0-48D0-BB54-D1EE225F3EBD}" type="slidenum">
              <a:rPr lang="en-IN" smtClean="0"/>
              <a:t>‹#›</a:t>
            </a:fld>
            <a:endParaRPr lang="en-IN"/>
          </a:p>
        </p:txBody>
      </p:sp>
    </p:spTree>
    <p:extLst>
      <p:ext uri="{BB962C8B-B14F-4D97-AF65-F5344CB8AC3E}">
        <p14:creationId xmlns:p14="http://schemas.microsoft.com/office/powerpoint/2010/main" val="3384801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7.xml"/><Relationship Id="rId4" Type="http://schemas.openxmlformats.org/officeDocument/2006/relationships/image" Target="../media/image26.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D8C23-33E0-77FF-9896-3B6F6DCFB571}"/>
              </a:ext>
            </a:extLst>
          </p:cNvPr>
          <p:cNvSpPr>
            <a:spLocks noGrp="1"/>
          </p:cNvSpPr>
          <p:nvPr>
            <p:ph type="ctrTitle"/>
          </p:nvPr>
        </p:nvSpPr>
        <p:spPr/>
        <p:txBody>
          <a:bodyPr/>
          <a:lstStyle/>
          <a:p>
            <a:r>
              <a:rPr lang="en-IN" b="1" u="sng"/>
              <a:t>ADAPTIVE CLASSROOM ENERGY MANAGEMENT </a:t>
            </a:r>
            <a:endParaRPr lang="en-IN" b="1" u="sng" dirty="0"/>
          </a:p>
        </p:txBody>
      </p:sp>
      <p:sp>
        <p:nvSpPr>
          <p:cNvPr id="3" name="Subtitle 2">
            <a:extLst>
              <a:ext uri="{FF2B5EF4-FFF2-40B4-BE49-F238E27FC236}">
                <a16:creationId xmlns:a16="http://schemas.microsoft.com/office/drawing/2014/main" id="{8A513872-0A7D-64DF-C296-B3C5CC2C2013}"/>
              </a:ext>
            </a:extLst>
          </p:cNvPr>
          <p:cNvSpPr>
            <a:spLocks noGrp="1"/>
          </p:cNvSpPr>
          <p:nvPr>
            <p:ph type="subTitle" idx="1"/>
          </p:nvPr>
        </p:nvSpPr>
        <p:spPr>
          <a:xfrm>
            <a:off x="7924801" y="4746834"/>
            <a:ext cx="4571999" cy="1655762"/>
          </a:xfrm>
        </p:spPr>
        <p:txBody>
          <a:bodyPr>
            <a:normAutofit/>
          </a:bodyPr>
          <a:lstStyle/>
          <a:p>
            <a:pPr algn="l"/>
            <a:r>
              <a:rPr lang="en-IN" sz="1800"/>
              <a:t>ATHUL KRISHNA K H           PKD23EC022 </a:t>
            </a:r>
          </a:p>
          <a:p>
            <a:pPr algn="l"/>
            <a:r>
              <a:rPr lang="en-IN" sz="1800"/>
              <a:t>FATHIMATHU SAJA K C       PKD23EC029 </a:t>
            </a:r>
          </a:p>
          <a:p>
            <a:pPr algn="l"/>
            <a:r>
              <a:rPr lang="en-IN" sz="1800"/>
              <a:t>SALMAN FARIZ T M              PKD23EC058 </a:t>
            </a:r>
          </a:p>
          <a:p>
            <a:pPr algn="l"/>
            <a:r>
              <a:rPr lang="en-IN" sz="1800"/>
              <a:t>SHIFANATH T S                      PKD23EC061 </a:t>
            </a:r>
            <a:endParaRPr lang="en-IN" sz="1800" dirty="0"/>
          </a:p>
        </p:txBody>
      </p:sp>
      <p:sp>
        <p:nvSpPr>
          <p:cNvPr id="4" name="TextBox 3">
            <a:extLst>
              <a:ext uri="{FF2B5EF4-FFF2-40B4-BE49-F238E27FC236}">
                <a16:creationId xmlns:a16="http://schemas.microsoft.com/office/drawing/2014/main" id="{819B1128-FE1B-9F7F-C116-16F74B6605FB}"/>
              </a:ext>
            </a:extLst>
          </p:cNvPr>
          <p:cNvSpPr txBox="1"/>
          <p:nvPr/>
        </p:nvSpPr>
        <p:spPr>
          <a:xfrm>
            <a:off x="9340645" y="4265616"/>
            <a:ext cx="2251588" cy="461665"/>
          </a:xfrm>
          <a:prstGeom prst="rect">
            <a:avLst/>
          </a:prstGeom>
          <a:noFill/>
        </p:spPr>
        <p:txBody>
          <a:bodyPr wrap="square" rtlCol="0">
            <a:spAutoFit/>
          </a:bodyPr>
          <a:lstStyle/>
          <a:p>
            <a:r>
              <a:rPr lang="en-IN" sz="2400" b="1" u="sng" dirty="0"/>
              <a:t>TEAM 10 </a:t>
            </a:r>
          </a:p>
        </p:txBody>
      </p:sp>
      <p:sp>
        <p:nvSpPr>
          <p:cNvPr id="5" name="TextBox 4">
            <a:extLst>
              <a:ext uri="{FF2B5EF4-FFF2-40B4-BE49-F238E27FC236}">
                <a16:creationId xmlns:a16="http://schemas.microsoft.com/office/drawing/2014/main" id="{98BAC815-E680-9465-E151-CBFFF30A87C4}"/>
              </a:ext>
            </a:extLst>
          </p:cNvPr>
          <p:cNvSpPr txBox="1"/>
          <p:nvPr/>
        </p:nvSpPr>
        <p:spPr>
          <a:xfrm>
            <a:off x="753062" y="4265616"/>
            <a:ext cx="3352800" cy="1292662"/>
          </a:xfrm>
          <a:prstGeom prst="rect">
            <a:avLst/>
          </a:prstGeom>
          <a:noFill/>
        </p:spPr>
        <p:txBody>
          <a:bodyPr wrap="square" rtlCol="0">
            <a:spAutoFit/>
          </a:bodyPr>
          <a:lstStyle/>
          <a:p>
            <a:pPr algn="ctr"/>
            <a:r>
              <a:rPr lang="en-IN" dirty="0"/>
              <a:t>     </a:t>
            </a:r>
            <a:r>
              <a:rPr lang="en-IN" sz="2400" b="1" u="sng" dirty="0"/>
              <a:t>TEAM GUIDE</a:t>
            </a:r>
          </a:p>
          <a:p>
            <a:pPr algn="ctr"/>
            <a:endParaRPr lang="en-IN" b="1" u="sng" dirty="0"/>
          </a:p>
          <a:p>
            <a:pPr algn="ctr"/>
            <a:r>
              <a:rPr lang="en-IN" dirty="0"/>
              <a:t>    </a:t>
            </a:r>
            <a:r>
              <a:rPr lang="en-IN" dirty="0">
                <a:latin typeface="+mj-lt"/>
              </a:rPr>
              <a:t>Dr. CHITHIRA P R </a:t>
            </a:r>
          </a:p>
          <a:p>
            <a:pPr algn="ctr"/>
            <a:r>
              <a:rPr lang="en-IN" dirty="0">
                <a:latin typeface="+mj-lt"/>
              </a:rPr>
              <a:t>Assistant </a:t>
            </a:r>
            <a:r>
              <a:rPr lang="en-IN" dirty="0" err="1">
                <a:latin typeface="+mj-lt"/>
              </a:rPr>
              <a:t>professor,Dept</a:t>
            </a:r>
            <a:r>
              <a:rPr lang="en-IN" dirty="0">
                <a:latin typeface="+mj-lt"/>
              </a:rPr>
              <a:t> of ECE </a:t>
            </a:r>
          </a:p>
        </p:txBody>
      </p:sp>
      <p:sp>
        <p:nvSpPr>
          <p:cNvPr id="6" name="TextBox 5">
            <a:extLst>
              <a:ext uri="{FF2B5EF4-FFF2-40B4-BE49-F238E27FC236}">
                <a16:creationId xmlns:a16="http://schemas.microsoft.com/office/drawing/2014/main" id="{3034BFD5-02CF-56EA-72E9-918A922F532D}"/>
              </a:ext>
            </a:extLst>
          </p:cNvPr>
          <p:cNvSpPr txBox="1"/>
          <p:nvPr/>
        </p:nvSpPr>
        <p:spPr>
          <a:xfrm>
            <a:off x="5240595" y="3366652"/>
            <a:ext cx="2684206" cy="507831"/>
          </a:xfrm>
          <a:prstGeom prst="rect">
            <a:avLst/>
          </a:prstGeom>
          <a:noFill/>
        </p:spPr>
        <p:txBody>
          <a:bodyPr wrap="square" rtlCol="0">
            <a:spAutoFit/>
          </a:bodyPr>
          <a:lstStyle/>
          <a:p>
            <a:r>
              <a:rPr lang="en-IN" sz="2700" dirty="0"/>
              <a:t>MINI PROJECT</a:t>
            </a:r>
          </a:p>
        </p:txBody>
      </p:sp>
      <p:sp>
        <p:nvSpPr>
          <p:cNvPr id="9" name="Slide Number Placeholder 8">
            <a:extLst>
              <a:ext uri="{FF2B5EF4-FFF2-40B4-BE49-F238E27FC236}">
                <a16:creationId xmlns:a16="http://schemas.microsoft.com/office/drawing/2014/main" id="{E15EC49B-3ADD-1FE8-3698-D6AC8443374D}"/>
              </a:ext>
            </a:extLst>
          </p:cNvPr>
          <p:cNvSpPr>
            <a:spLocks noGrp="1"/>
          </p:cNvSpPr>
          <p:nvPr>
            <p:ph type="sldNum" sz="quarter" idx="12"/>
          </p:nvPr>
        </p:nvSpPr>
        <p:spPr/>
        <p:txBody>
          <a:bodyPr/>
          <a:lstStyle/>
          <a:p>
            <a:fld id="{0E29D32D-1BC0-48D0-BB54-D1EE225F3EBD}" type="slidenum">
              <a:rPr lang="en-IN" smtClean="0"/>
              <a:t>1</a:t>
            </a:fld>
            <a:endParaRPr lang="en-IN"/>
          </a:p>
        </p:txBody>
      </p:sp>
    </p:spTree>
    <p:extLst>
      <p:ext uri="{BB962C8B-B14F-4D97-AF65-F5344CB8AC3E}">
        <p14:creationId xmlns:p14="http://schemas.microsoft.com/office/powerpoint/2010/main" val="3520256704"/>
      </p:ext>
    </p:extLst>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F62FFA7-F5B1-3725-E04C-AAA80FFA8F03}"/>
              </a:ext>
            </a:extLst>
          </p:cNvPr>
          <p:cNvSpPr txBox="1"/>
          <p:nvPr/>
        </p:nvSpPr>
        <p:spPr>
          <a:xfrm>
            <a:off x="370492" y="196785"/>
            <a:ext cx="2517058" cy="646331"/>
          </a:xfrm>
          <a:prstGeom prst="rect">
            <a:avLst/>
          </a:prstGeom>
          <a:noFill/>
        </p:spPr>
        <p:txBody>
          <a:bodyPr wrap="square" rtlCol="0">
            <a:spAutoFit/>
          </a:bodyPr>
          <a:lstStyle/>
          <a:p>
            <a:r>
              <a:rPr lang="en-US" sz="3600" b="1" u="sng" dirty="0"/>
              <a:t>CONTENT</a:t>
            </a:r>
            <a:endParaRPr lang="en-IN" sz="3600" b="1" u="sng" dirty="0"/>
          </a:p>
        </p:txBody>
      </p:sp>
      <p:sp>
        <p:nvSpPr>
          <p:cNvPr id="12" name="TextBox 11">
            <a:extLst>
              <a:ext uri="{FF2B5EF4-FFF2-40B4-BE49-F238E27FC236}">
                <a16:creationId xmlns:a16="http://schemas.microsoft.com/office/drawing/2014/main" id="{A805ECE3-8053-26D6-0032-E59318DCB737}"/>
              </a:ext>
            </a:extLst>
          </p:cNvPr>
          <p:cNvSpPr txBox="1"/>
          <p:nvPr/>
        </p:nvSpPr>
        <p:spPr>
          <a:xfrm>
            <a:off x="370492" y="663006"/>
            <a:ext cx="5614672" cy="7940635"/>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IN" sz="2400" dirty="0"/>
              <a:t>INTRODUCTION                                                                         </a:t>
            </a:r>
          </a:p>
          <a:p>
            <a:pPr marL="285750" indent="-285750">
              <a:lnSpc>
                <a:spcPct val="150000"/>
              </a:lnSpc>
              <a:buFont typeface="Wingdings" panose="05000000000000000000" pitchFamily="2" charset="2"/>
              <a:buChar char="Ø"/>
            </a:pPr>
            <a:r>
              <a:rPr lang="en-IN" sz="2400" dirty="0"/>
              <a:t>PROBLEM STATEMENT                                                </a:t>
            </a:r>
          </a:p>
          <a:p>
            <a:pPr marL="285750" indent="-285750">
              <a:lnSpc>
                <a:spcPct val="150000"/>
              </a:lnSpc>
              <a:buFont typeface="Wingdings" panose="05000000000000000000" pitchFamily="2" charset="2"/>
              <a:buChar char="Ø"/>
            </a:pPr>
            <a:r>
              <a:rPr lang="en-IN" sz="2400" dirty="0"/>
              <a:t>AIM                                                                                 </a:t>
            </a:r>
          </a:p>
          <a:p>
            <a:pPr marL="285750" indent="-285750">
              <a:lnSpc>
                <a:spcPct val="150000"/>
              </a:lnSpc>
              <a:buFont typeface="Wingdings" panose="05000000000000000000" pitchFamily="2" charset="2"/>
              <a:buChar char="Ø"/>
            </a:pPr>
            <a:r>
              <a:rPr lang="en-IN" sz="2400" dirty="0"/>
              <a:t>OBJECTIVES</a:t>
            </a:r>
          </a:p>
          <a:p>
            <a:pPr marL="285750" indent="-285750">
              <a:lnSpc>
                <a:spcPct val="150000"/>
              </a:lnSpc>
              <a:buFont typeface="Wingdings" panose="05000000000000000000" pitchFamily="2" charset="2"/>
              <a:buChar char="Ø"/>
            </a:pPr>
            <a:r>
              <a:rPr lang="en-IN" sz="2400" dirty="0"/>
              <a:t>LITERATURE SURVEY</a:t>
            </a:r>
          </a:p>
          <a:p>
            <a:pPr marL="285750" indent="-285750">
              <a:lnSpc>
                <a:spcPct val="150000"/>
              </a:lnSpc>
              <a:buFont typeface="Wingdings" panose="05000000000000000000" pitchFamily="2" charset="2"/>
              <a:buChar char="Ø"/>
            </a:pPr>
            <a:r>
              <a:rPr lang="en-US" sz="2400" dirty="0"/>
              <a:t>COMPONENTS</a:t>
            </a:r>
          </a:p>
          <a:p>
            <a:pPr marL="285750" indent="-285750">
              <a:lnSpc>
                <a:spcPct val="150000"/>
              </a:lnSpc>
              <a:buFont typeface="Wingdings" panose="05000000000000000000" pitchFamily="2" charset="2"/>
              <a:buChar char="Ø"/>
            </a:pPr>
            <a:r>
              <a:rPr lang="en-US" sz="2400" dirty="0"/>
              <a:t>SYSTEM DESIGN</a:t>
            </a:r>
          </a:p>
          <a:p>
            <a:pPr marL="285750" indent="-285750">
              <a:lnSpc>
                <a:spcPct val="150000"/>
              </a:lnSpc>
              <a:buFont typeface="Wingdings" panose="05000000000000000000" pitchFamily="2" charset="2"/>
              <a:buChar char="Ø"/>
            </a:pPr>
            <a:r>
              <a:rPr lang="en-US" sz="2400" dirty="0"/>
              <a:t>BLOCKDIAGRAM</a:t>
            </a:r>
          </a:p>
          <a:p>
            <a:pPr marL="285750" indent="-285750">
              <a:lnSpc>
                <a:spcPct val="150000"/>
              </a:lnSpc>
              <a:buFont typeface="Wingdings" panose="05000000000000000000" pitchFamily="2" charset="2"/>
              <a:buChar char="Ø"/>
            </a:pPr>
            <a:r>
              <a:rPr lang="en-IN" sz="2400" dirty="0"/>
              <a:t>FLOWCHART</a:t>
            </a:r>
          </a:p>
          <a:p>
            <a:pPr marL="285750" indent="-285750">
              <a:lnSpc>
                <a:spcPct val="150000"/>
              </a:lnSpc>
              <a:buFont typeface="Wingdings" panose="05000000000000000000" pitchFamily="2" charset="2"/>
              <a:buChar char="Ø"/>
            </a:pPr>
            <a:r>
              <a:rPr lang="en-US" sz="2400" dirty="0"/>
              <a:t>CIRCUITDIAGRAM</a:t>
            </a:r>
          </a:p>
          <a:p>
            <a:pPr marL="285750" indent="-285750">
              <a:lnSpc>
                <a:spcPct val="150000"/>
              </a:lnSpc>
              <a:buFont typeface="Wingdings" panose="05000000000000000000" pitchFamily="2" charset="2"/>
              <a:buChar char="Ø"/>
            </a:pPr>
            <a:r>
              <a:rPr lang="en-US" sz="2400" dirty="0"/>
              <a:t>SIMULATION</a:t>
            </a:r>
          </a:p>
          <a:p>
            <a:pPr marL="285750" indent="-285750">
              <a:lnSpc>
                <a:spcPct val="150000"/>
              </a:lnSpc>
              <a:buFont typeface="Wingdings" panose="05000000000000000000" pitchFamily="2" charset="2"/>
              <a:buChar char="Ø"/>
            </a:pPr>
            <a:endParaRPr lang="en-US" sz="2400" dirty="0"/>
          </a:p>
          <a:p>
            <a:pPr marL="285750" indent="-285750">
              <a:buFont typeface="Wingdings" panose="05000000000000000000" pitchFamily="2" charset="2"/>
              <a:buChar char="Ø"/>
            </a:pPr>
            <a:endParaRPr lang="en-IN" sz="2400" dirty="0"/>
          </a:p>
          <a:p>
            <a:pPr marL="285750" indent="-285750">
              <a:buFont typeface="Wingdings" panose="05000000000000000000" pitchFamily="2" charset="2"/>
              <a:buChar char="Ø"/>
            </a:pPr>
            <a:endParaRPr lang="en-IN" b="1" u="sng" dirty="0"/>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endParaRPr lang="en-IN" dirty="0"/>
          </a:p>
        </p:txBody>
      </p:sp>
      <p:sp>
        <p:nvSpPr>
          <p:cNvPr id="16" name="TextBox 15">
            <a:extLst>
              <a:ext uri="{FF2B5EF4-FFF2-40B4-BE49-F238E27FC236}">
                <a16:creationId xmlns:a16="http://schemas.microsoft.com/office/drawing/2014/main" id="{7342C74E-0D41-6E7D-EE70-3265B8F8F3D0}"/>
              </a:ext>
            </a:extLst>
          </p:cNvPr>
          <p:cNvSpPr txBox="1"/>
          <p:nvPr/>
        </p:nvSpPr>
        <p:spPr>
          <a:xfrm>
            <a:off x="7892940" y="674849"/>
            <a:ext cx="2939143" cy="8125301"/>
          </a:xfrm>
          <a:prstGeom prst="rect">
            <a:avLst/>
          </a:prstGeom>
          <a:noFill/>
        </p:spPr>
        <p:txBody>
          <a:bodyPr wrap="square" rtlCol="0">
            <a:spAutoFit/>
          </a:bodyPr>
          <a:lstStyle/>
          <a:p>
            <a:pPr>
              <a:lnSpc>
                <a:spcPct val="150000"/>
              </a:lnSpc>
            </a:pPr>
            <a:r>
              <a:rPr lang="en-US" sz="2400" dirty="0"/>
              <a:t>  1</a:t>
            </a:r>
          </a:p>
          <a:p>
            <a:pPr>
              <a:lnSpc>
                <a:spcPct val="150000"/>
              </a:lnSpc>
            </a:pPr>
            <a:r>
              <a:rPr lang="en-US" sz="2400" dirty="0"/>
              <a:t>  2</a:t>
            </a:r>
          </a:p>
          <a:p>
            <a:pPr>
              <a:lnSpc>
                <a:spcPct val="150000"/>
              </a:lnSpc>
            </a:pPr>
            <a:r>
              <a:rPr lang="en-US" sz="2400" dirty="0"/>
              <a:t>  2</a:t>
            </a:r>
          </a:p>
          <a:p>
            <a:pPr>
              <a:lnSpc>
                <a:spcPct val="150000"/>
              </a:lnSpc>
            </a:pPr>
            <a:r>
              <a:rPr lang="en-US" sz="2400" dirty="0"/>
              <a:t>  3</a:t>
            </a:r>
          </a:p>
          <a:p>
            <a:pPr>
              <a:lnSpc>
                <a:spcPct val="150000"/>
              </a:lnSpc>
            </a:pPr>
            <a:r>
              <a:rPr lang="en-US" sz="2400" dirty="0"/>
              <a:t>  4</a:t>
            </a:r>
          </a:p>
          <a:p>
            <a:pPr>
              <a:lnSpc>
                <a:spcPct val="150000"/>
              </a:lnSpc>
            </a:pPr>
            <a:r>
              <a:rPr lang="en-US" sz="2400" dirty="0"/>
              <a:t>  6</a:t>
            </a:r>
          </a:p>
          <a:p>
            <a:pPr>
              <a:lnSpc>
                <a:spcPct val="150000"/>
              </a:lnSpc>
            </a:pPr>
            <a:r>
              <a:rPr lang="en-US" sz="2400" dirty="0"/>
              <a:t>  9 </a:t>
            </a:r>
          </a:p>
          <a:p>
            <a:pPr>
              <a:lnSpc>
                <a:spcPct val="150000"/>
              </a:lnSpc>
            </a:pPr>
            <a:r>
              <a:rPr lang="en-US" sz="2400" dirty="0"/>
              <a:t> 18</a:t>
            </a:r>
          </a:p>
          <a:p>
            <a:pPr>
              <a:lnSpc>
                <a:spcPct val="150000"/>
              </a:lnSpc>
            </a:pPr>
            <a:r>
              <a:rPr lang="en-US" sz="2400" dirty="0"/>
              <a:t> 19</a:t>
            </a:r>
          </a:p>
          <a:p>
            <a:pPr>
              <a:lnSpc>
                <a:spcPct val="150000"/>
              </a:lnSpc>
            </a:pPr>
            <a:r>
              <a:rPr lang="en-US" sz="2400" dirty="0"/>
              <a:t> 20</a:t>
            </a:r>
          </a:p>
          <a:p>
            <a:pPr>
              <a:lnSpc>
                <a:spcPct val="150000"/>
              </a:lnSpc>
            </a:pPr>
            <a:r>
              <a:rPr lang="en-US" sz="2400" dirty="0"/>
              <a:t> 21</a:t>
            </a:r>
          </a:p>
          <a:p>
            <a:pPr>
              <a:lnSpc>
                <a:spcPct val="150000"/>
              </a:lnSpc>
            </a:pPr>
            <a:r>
              <a:rPr lang="en-US" sz="2400" dirty="0"/>
              <a:t>  </a:t>
            </a:r>
          </a:p>
          <a:p>
            <a:pPr>
              <a:lnSpc>
                <a:spcPct val="150000"/>
              </a:lnSpc>
            </a:pPr>
            <a:endParaRPr lang="en-US" sz="2400" dirty="0"/>
          </a:p>
          <a:p>
            <a:pPr>
              <a:lnSpc>
                <a:spcPct val="150000"/>
              </a:lnSpc>
            </a:pPr>
            <a:endParaRPr lang="en-US" sz="2400" dirty="0"/>
          </a:p>
          <a:p>
            <a:endParaRPr lang="en-IN" dirty="0"/>
          </a:p>
        </p:txBody>
      </p:sp>
      <p:sp>
        <p:nvSpPr>
          <p:cNvPr id="4" name="Slide Number Placeholder 3">
            <a:extLst>
              <a:ext uri="{FF2B5EF4-FFF2-40B4-BE49-F238E27FC236}">
                <a16:creationId xmlns:a16="http://schemas.microsoft.com/office/drawing/2014/main" id="{E2D14FCF-5C12-65C7-3D53-C569F7AA8E2A}"/>
              </a:ext>
            </a:extLst>
          </p:cNvPr>
          <p:cNvSpPr>
            <a:spLocks noGrp="1"/>
          </p:cNvSpPr>
          <p:nvPr>
            <p:ph type="sldNum" sz="quarter" idx="12"/>
          </p:nvPr>
        </p:nvSpPr>
        <p:spPr/>
        <p:txBody>
          <a:bodyPr/>
          <a:lstStyle/>
          <a:p>
            <a:fld id="{0E29D32D-1BC0-48D0-BB54-D1EE225F3EBD}" type="slidenum">
              <a:rPr lang="en-IN" smtClean="0"/>
              <a:t>2</a:t>
            </a:fld>
            <a:endParaRPr lang="en-IN"/>
          </a:p>
        </p:txBody>
      </p:sp>
    </p:spTree>
    <p:extLst>
      <p:ext uri="{BB962C8B-B14F-4D97-AF65-F5344CB8AC3E}">
        <p14:creationId xmlns:p14="http://schemas.microsoft.com/office/powerpoint/2010/main" val="88871715"/>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4874AD-6E58-179C-E1BE-718D4A357491}"/>
              </a:ext>
            </a:extLst>
          </p:cNvPr>
          <p:cNvSpPr txBox="1"/>
          <p:nvPr/>
        </p:nvSpPr>
        <p:spPr>
          <a:xfrm>
            <a:off x="289728" y="0"/>
            <a:ext cx="8229600" cy="7017306"/>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IN" sz="2400" dirty="0"/>
              <a:t>PRACTICAL IMPLEMENTATION</a:t>
            </a:r>
          </a:p>
          <a:p>
            <a:pPr marL="285750" indent="-285750">
              <a:lnSpc>
                <a:spcPct val="150000"/>
              </a:lnSpc>
              <a:buFont typeface="Wingdings" panose="05000000000000000000" pitchFamily="2" charset="2"/>
              <a:buChar char="Ø"/>
            </a:pPr>
            <a:r>
              <a:rPr lang="en-IN" sz="2400" dirty="0"/>
              <a:t>CONTROL LOGIC</a:t>
            </a:r>
          </a:p>
          <a:p>
            <a:pPr marL="285750" indent="-285750">
              <a:lnSpc>
                <a:spcPct val="150000"/>
              </a:lnSpc>
              <a:buFont typeface="Wingdings" panose="05000000000000000000" pitchFamily="2" charset="2"/>
              <a:buChar char="Ø"/>
            </a:pPr>
            <a:r>
              <a:rPr lang="en-IN" sz="2400" dirty="0"/>
              <a:t>WORKING/METHODOLOGY</a:t>
            </a:r>
          </a:p>
          <a:p>
            <a:pPr marL="285750" indent="-285750">
              <a:lnSpc>
                <a:spcPct val="150000"/>
              </a:lnSpc>
              <a:buFont typeface="Wingdings" panose="05000000000000000000" pitchFamily="2" charset="2"/>
              <a:buChar char="Ø"/>
            </a:pPr>
            <a:r>
              <a:rPr lang="en-IN" sz="2400" dirty="0"/>
              <a:t>TECHNICAL PARAMETERS AND SPECIFICATIONS</a:t>
            </a:r>
          </a:p>
          <a:p>
            <a:pPr marL="285750" indent="-285750">
              <a:lnSpc>
                <a:spcPct val="150000"/>
              </a:lnSpc>
              <a:buFont typeface="Wingdings" panose="05000000000000000000" pitchFamily="2" charset="2"/>
              <a:buChar char="Ø"/>
            </a:pPr>
            <a:r>
              <a:rPr lang="en-IN" sz="2400" dirty="0"/>
              <a:t>GANTT CHART</a:t>
            </a:r>
          </a:p>
          <a:p>
            <a:pPr marL="285750" indent="-285750">
              <a:lnSpc>
                <a:spcPct val="150000"/>
              </a:lnSpc>
              <a:buFont typeface="Wingdings" panose="05000000000000000000" pitchFamily="2" charset="2"/>
              <a:buChar char="Ø"/>
            </a:pPr>
            <a:r>
              <a:rPr lang="en-IN" sz="2400" dirty="0"/>
              <a:t>WORK DISTRIBUTION</a:t>
            </a:r>
          </a:p>
          <a:p>
            <a:pPr marL="285750" indent="-285750">
              <a:lnSpc>
                <a:spcPct val="150000"/>
              </a:lnSpc>
              <a:buFont typeface="Wingdings" panose="05000000000000000000" pitchFamily="2" charset="2"/>
              <a:buChar char="Ø"/>
            </a:pPr>
            <a:r>
              <a:rPr lang="en-IN" sz="2400" dirty="0"/>
              <a:t>COST ESTIMATION </a:t>
            </a:r>
          </a:p>
          <a:p>
            <a:pPr marL="285750" indent="-285750">
              <a:lnSpc>
                <a:spcPct val="150000"/>
              </a:lnSpc>
              <a:buFont typeface="Wingdings" panose="05000000000000000000" pitchFamily="2" charset="2"/>
              <a:buChar char="Ø"/>
            </a:pPr>
            <a:r>
              <a:rPr lang="en-US" sz="2400" dirty="0"/>
              <a:t>FUTURESCOPE</a:t>
            </a:r>
          </a:p>
          <a:p>
            <a:pPr marL="285750" indent="-285750">
              <a:lnSpc>
                <a:spcPct val="150000"/>
              </a:lnSpc>
              <a:buFont typeface="Wingdings" panose="05000000000000000000" pitchFamily="2" charset="2"/>
              <a:buChar char="Ø"/>
            </a:pPr>
            <a:r>
              <a:rPr lang="en-US" sz="2400" dirty="0"/>
              <a:t>HARDWARE</a:t>
            </a:r>
          </a:p>
          <a:p>
            <a:pPr marL="285750" indent="-285750">
              <a:lnSpc>
                <a:spcPct val="150000"/>
              </a:lnSpc>
              <a:buFont typeface="Wingdings" panose="05000000000000000000" pitchFamily="2" charset="2"/>
              <a:buChar char="Ø"/>
            </a:pPr>
            <a:r>
              <a:rPr lang="en-US" sz="2400" dirty="0"/>
              <a:t>CONCLUSION</a:t>
            </a:r>
          </a:p>
          <a:p>
            <a:pPr marL="285750" indent="-285750">
              <a:lnSpc>
                <a:spcPct val="150000"/>
              </a:lnSpc>
              <a:buFont typeface="Wingdings" panose="05000000000000000000" pitchFamily="2" charset="2"/>
              <a:buChar char="Ø"/>
            </a:pPr>
            <a:r>
              <a:rPr lang="en-IN" sz="2400" dirty="0"/>
              <a:t>CODE</a:t>
            </a:r>
          </a:p>
          <a:p>
            <a:pPr marL="285750" indent="-285750">
              <a:lnSpc>
                <a:spcPct val="150000"/>
              </a:lnSpc>
              <a:buFont typeface="Wingdings" panose="05000000000000000000" pitchFamily="2" charset="2"/>
              <a:buChar char="Ø"/>
            </a:pPr>
            <a:r>
              <a:rPr lang="en-US" sz="2400" dirty="0"/>
              <a:t>THANK YOU</a:t>
            </a:r>
            <a:endParaRPr lang="en-IN" sz="2400" dirty="0"/>
          </a:p>
          <a:p>
            <a:pPr marL="285750" indent="-285750">
              <a:buFont typeface="Wingdings" panose="05000000000000000000" pitchFamily="2" charset="2"/>
              <a:buChar char="Ø"/>
            </a:pPr>
            <a:endParaRPr lang="en-IN" dirty="0"/>
          </a:p>
        </p:txBody>
      </p:sp>
      <p:sp>
        <p:nvSpPr>
          <p:cNvPr id="6" name="TextBox 5">
            <a:extLst>
              <a:ext uri="{FF2B5EF4-FFF2-40B4-BE49-F238E27FC236}">
                <a16:creationId xmlns:a16="http://schemas.microsoft.com/office/drawing/2014/main" id="{5604D076-6097-A4C5-9FA3-22FE40DD8144}"/>
              </a:ext>
            </a:extLst>
          </p:cNvPr>
          <p:cNvSpPr txBox="1"/>
          <p:nvPr/>
        </p:nvSpPr>
        <p:spPr>
          <a:xfrm>
            <a:off x="7870373" y="0"/>
            <a:ext cx="2111827" cy="7571303"/>
          </a:xfrm>
          <a:prstGeom prst="rect">
            <a:avLst/>
          </a:prstGeom>
          <a:noFill/>
        </p:spPr>
        <p:txBody>
          <a:bodyPr wrap="square" rtlCol="0">
            <a:spAutoFit/>
          </a:bodyPr>
          <a:lstStyle/>
          <a:p>
            <a:pPr>
              <a:lnSpc>
                <a:spcPct val="150000"/>
              </a:lnSpc>
            </a:pPr>
            <a:r>
              <a:rPr lang="en-US" sz="2400" dirty="0"/>
              <a:t>  22</a:t>
            </a:r>
          </a:p>
          <a:p>
            <a:pPr>
              <a:lnSpc>
                <a:spcPct val="150000"/>
              </a:lnSpc>
            </a:pPr>
            <a:r>
              <a:rPr lang="en-US" sz="2400" dirty="0"/>
              <a:t>  24</a:t>
            </a:r>
          </a:p>
          <a:p>
            <a:pPr>
              <a:lnSpc>
                <a:spcPct val="150000"/>
              </a:lnSpc>
            </a:pPr>
            <a:r>
              <a:rPr lang="en-US" sz="2400" dirty="0"/>
              <a:t>  25</a:t>
            </a:r>
          </a:p>
          <a:p>
            <a:pPr>
              <a:lnSpc>
                <a:spcPct val="150000"/>
              </a:lnSpc>
            </a:pPr>
            <a:r>
              <a:rPr lang="en-US" sz="2400" dirty="0"/>
              <a:t>  26</a:t>
            </a:r>
          </a:p>
          <a:p>
            <a:pPr>
              <a:lnSpc>
                <a:spcPct val="150000"/>
              </a:lnSpc>
            </a:pPr>
            <a:r>
              <a:rPr lang="en-US" sz="2400" dirty="0"/>
              <a:t>  27</a:t>
            </a:r>
          </a:p>
          <a:p>
            <a:pPr>
              <a:lnSpc>
                <a:spcPct val="150000"/>
              </a:lnSpc>
            </a:pPr>
            <a:r>
              <a:rPr lang="en-US" sz="2400" dirty="0"/>
              <a:t>  28</a:t>
            </a:r>
          </a:p>
          <a:p>
            <a:pPr>
              <a:lnSpc>
                <a:spcPct val="150000"/>
              </a:lnSpc>
            </a:pPr>
            <a:r>
              <a:rPr lang="en-US" sz="2400" dirty="0"/>
              <a:t>  31</a:t>
            </a:r>
          </a:p>
          <a:p>
            <a:pPr>
              <a:lnSpc>
                <a:spcPct val="150000"/>
              </a:lnSpc>
            </a:pPr>
            <a:r>
              <a:rPr lang="en-US" sz="2400" dirty="0"/>
              <a:t>  32</a:t>
            </a:r>
          </a:p>
          <a:p>
            <a:pPr>
              <a:lnSpc>
                <a:spcPct val="150000"/>
              </a:lnSpc>
            </a:pPr>
            <a:r>
              <a:rPr lang="en-US" sz="2400" dirty="0"/>
              <a:t>  33</a:t>
            </a:r>
          </a:p>
          <a:p>
            <a:pPr>
              <a:lnSpc>
                <a:spcPct val="150000"/>
              </a:lnSpc>
            </a:pPr>
            <a:r>
              <a:rPr lang="en-US" sz="2400" dirty="0"/>
              <a:t>  34</a:t>
            </a:r>
          </a:p>
          <a:p>
            <a:pPr>
              <a:lnSpc>
                <a:spcPct val="150000"/>
              </a:lnSpc>
            </a:pPr>
            <a:r>
              <a:rPr lang="en-US" sz="2400" dirty="0"/>
              <a:t>  35</a:t>
            </a:r>
          </a:p>
          <a:p>
            <a:pPr>
              <a:lnSpc>
                <a:spcPct val="150000"/>
              </a:lnSpc>
            </a:pPr>
            <a:r>
              <a:rPr lang="en-US" sz="2400" dirty="0"/>
              <a:t>  43</a:t>
            </a:r>
          </a:p>
          <a:p>
            <a:pPr>
              <a:lnSpc>
                <a:spcPct val="150000"/>
              </a:lnSpc>
            </a:pPr>
            <a:endParaRPr lang="en-US" sz="2400" dirty="0"/>
          </a:p>
          <a:p>
            <a:endParaRPr lang="en-IN" dirty="0"/>
          </a:p>
        </p:txBody>
      </p:sp>
      <p:sp>
        <p:nvSpPr>
          <p:cNvPr id="5" name="Slide Number Placeholder 4">
            <a:extLst>
              <a:ext uri="{FF2B5EF4-FFF2-40B4-BE49-F238E27FC236}">
                <a16:creationId xmlns:a16="http://schemas.microsoft.com/office/drawing/2014/main" id="{54373F8D-51DB-712C-CAF3-EC1D26DD81AD}"/>
              </a:ext>
            </a:extLst>
          </p:cNvPr>
          <p:cNvSpPr>
            <a:spLocks noGrp="1"/>
          </p:cNvSpPr>
          <p:nvPr>
            <p:ph type="sldNum" sz="quarter" idx="12"/>
          </p:nvPr>
        </p:nvSpPr>
        <p:spPr/>
        <p:txBody>
          <a:bodyPr/>
          <a:lstStyle/>
          <a:p>
            <a:fld id="{0E29D32D-1BC0-48D0-BB54-D1EE225F3EBD}" type="slidenum">
              <a:rPr lang="en-IN" smtClean="0"/>
              <a:t>3</a:t>
            </a:fld>
            <a:endParaRPr lang="en-IN"/>
          </a:p>
        </p:txBody>
      </p:sp>
    </p:spTree>
    <p:extLst>
      <p:ext uri="{BB962C8B-B14F-4D97-AF65-F5344CB8AC3E}">
        <p14:creationId xmlns:p14="http://schemas.microsoft.com/office/powerpoint/2010/main" val="1707341278"/>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FF2A4-5E6D-1AC6-D8C6-761DB7B4324E}"/>
              </a:ext>
            </a:extLst>
          </p:cNvPr>
          <p:cNvSpPr>
            <a:spLocks noGrp="1"/>
          </p:cNvSpPr>
          <p:nvPr>
            <p:ph type="title"/>
          </p:nvPr>
        </p:nvSpPr>
        <p:spPr>
          <a:xfrm>
            <a:off x="351503" y="313104"/>
            <a:ext cx="10515600" cy="1325563"/>
          </a:xfrm>
        </p:spPr>
        <p:txBody>
          <a:bodyPr>
            <a:normAutofit/>
          </a:bodyPr>
          <a:lstStyle/>
          <a:p>
            <a:r>
              <a:rPr lang="en-IN" sz="3600" b="1" u="sng" dirty="0"/>
              <a:t>INTRODUCTION</a:t>
            </a:r>
          </a:p>
        </p:txBody>
      </p:sp>
      <p:sp>
        <p:nvSpPr>
          <p:cNvPr id="3" name="TextBox 2">
            <a:extLst>
              <a:ext uri="{FF2B5EF4-FFF2-40B4-BE49-F238E27FC236}">
                <a16:creationId xmlns:a16="http://schemas.microsoft.com/office/drawing/2014/main" id="{0807185B-1819-650F-6BE8-07DE87382C27}"/>
              </a:ext>
            </a:extLst>
          </p:cNvPr>
          <p:cNvSpPr txBox="1"/>
          <p:nvPr/>
        </p:nvSpPr>
        <p:spPr>
          <a:xfrm>
            <a:off x="251776" y="1311235"/>
            <a:ext cx="11417710" cy="3416320"/>
          </a:xfrm>
          <a:prstGeom prst="rect">
            <a:avLst/>
          </a:prstGeom>
          <a:noFill/>
        </p:spPr>
        <p:txBody>
          <a:bodyPr wrap="square" rtlCol="0">
            <a:spAutoFit/>
          </a:bodyPr>
          <a:lstStyle/>
          <a:p>
            <a:endParaRPr lang="en-US" sz="2400" dirty="0"/>
          </a:p>
          <a:p>
            <a:pPr algn="just"/>
            <a:r>
              <a:rPr lang="en-US" sz="2400" dirty="0"/>
              <a:t>•   Classroom appliances like fans, lights are manually controlled, causing energy     </a:t>
            </a:r>
          </a:p>
          <a:p>
            <a:pPr algn="just"/>
            <a:r>
              <a:rPr lang="en-US" sz="2400" dirty="0"/>
              <a:t>      wastage</a:t>
            </a:r>
          </a:p>
          <a:p>
            <a:pPr algn="just"/>
            <a:endParaRPr lang="en-US" sz="2400" dirty="0"/>
          </a:p>
          <a:p>
            <a:pPr algn="just"/>
            <a:r>
              <a:rPr lang="en-US" sz="2400" dirty="0"/>
              <a:t>•   An automated system using </a:t>
            </a:r>
            <a:r>
              <a:rPr lang="en-US" sz="2400" b="1" dirty="0"/>
              <a:t>PIR</a:t>
            </a:r>
            <a:r>
              <a:rPr lang="en-US" sz="2400" dirty="0"/>
              <a:t>, </a:t>
            </a:r>
            <a:r>
              <a:rPr lang="en-US" sz="2400" b="1" dirty="0"/>
              <a:t>temperature</a:t>
            </a:r>
            <a:r>
              <a:rPr lang="en-US" sz="2400" dirty="0"/>
              <a:t>, and </a:t>
            </a:r>
            <a:r>
              <a:rPr lang="en-US" sz="2400" b="1" dirty="0"/>
              <a:t>light</a:t>
            </a:r>
            <a:r>
              <a:rPr lang="en-US" sz="2400" dirty="0"/>
              <a:t> sensors can intelligently </a:t>
            </a:r>
          </a:p>
          <a:p>
            <a:pPr algn="just"/>
            <a:r>
              <a:rPr lang="en-US" sz="2400" dirty="0"/>
              <a:t>     control appliances by detecting student </a:t>
            </a:r>
            <a:r>
              <a:rPr lang="en-US" sz="2400" dirty="0" err="1"/>
              <a:t>presence,ambient</a:t>
            </a:r>
            <a:r>
              <a:rPr lang="en-US" sz="2400" dirty="0"/>
              <a:t> </a:t>
            </a:r>
            <a:r>
              <a:rPr lang="en-US" sz="2400" dirty="0" err="1"/>
              <a:t>temperature,and</a:t>
            </a:r>
            <a:endParaRPr lang="en-US" sz="2400" dirty="0"/>
          </a:p>
          <a:p>
            <a:pPr algn="just"/>
            <a:r>
              <a:rPr lang="en-US" sz="2400" dirty="0"/>
              <a:t>     natural light availability, ensuring efficient energy usage</a:t>
            </a:r>
          </a:p>
          <a:p>
            <a:r>
              <a:rPr lang="en-US" sz="2400" dirty="0"/>
              <a:t>   </a:t>
            </a:r>
          </a:p>
          <a:p>
            <a:pPr algn="just"/>
            <a:endParaRPr lang="en-US" sz="2400" dirty="0"/>
          </a:p>
        </p:txBody>
      </p:sp>
      <p:sp>
        <p:nvSpPr>
          <p:cNvPr id="5" name="TextBox 4">
            <a:extLst>
              <a:ext uri="{FF2B5EF4-FFF2-40B4-BE49-F238E27FC236}">
                <a16:creationId xmlns:a16="http://schemas.microsoft.com/office/drawing/2014/main" id="{451A4CCC-2349-F26C-28C3-E0366DDE26C9}"/>
              </a:ext>
            </a:extLst>
          </p:cNvPr>
          <p:cNvSpPr txBox="1"/>
          <p:nvPr/>
        </p:nvSpPr>
        <p:spPr>
          <a:xfrm>
            <a:off x="11070772" y="291222"/>
            <a:ext cx="598714" cy="369332"/>
          </a:xfrm>
          <a:prstGeom prst="rect">
            <a:avLst/>
          </a:prstGeom>
          <a:noFill/>
        </p:spPr>
        <p:txBody>
          <a:bodyPr wrap="square">
            <a:spAutoFit/>
          </a:bodyPr>
          <a:lstStyle/>
          <a:p>
            <a:r>
              <a:rPr lang="en-US" b="1" dirty="0"/>
              <a:t>1</a:t>
            </a:r>
            <a:endParaRPr lang="en-IN" b="1" dirty="0"/>
          </a:p>
        </p:txBody>
      </p:sp>
      <p:sp>
        <p:nvSpPr>
          <p:cNvPr id="7" name="Slide Number Placeholder 6">
            <a:extLst>
              <a:ext uri="{FF2B5EF4-FFF2-40B4-BE49-F238E27FC236}">
                <a16:creationId xmlns:a16="http://schemas.microsoft.com/office/drawing/2014/main" id="{E74EB089-688C-A1FC-EE75-449E6959997D}"/>
              </a:ext>
            </a:extLst>
          </p:cNvPr>
          <p:cNvSpPr>
            <a:spLocks noGrp="1"/>
          </p:cNvSpPr>
          <p:nvPr>
            <p:ph type="sldNum" sz="quarter" idx="12"/>
          </p:nvPr>
        </p:nvSpPr>
        <p:spPr/>
        <p:txBody>
          <a:bodyPr/>
          <a:lstStyle/>
          <a:p>
            <a:fld id="{0E29D32D-1BC0-48D0-BB54-D1EE225F3EBD}" type="slidenum">
              <a:rPr lang="en-IN" smtClean="0"/>
              <a:t>4</a:t>
            </a:fld>
            <a:endParaRPr lang="en-IN" dirty="0"/>
          </a:p>
        </p:txBody>
      </p:sp>
    </p:spTree>
    <p:extLst>
      <p:ext uri="{BB962C8B-B14F-4D97-AF65-F5344CB8AC3E}">
        <p14:creationId xmlns:p14="http://schemas.microsoft.com/office/powerpoint/2010/main" val="2514443275"/>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667A7-42F2-5DB5-4C3B-96E2329E4695}"/>
              </a:ext>
            </a:extLst>
          </p:cNvPr>
          <p:cNvSpPr>
            <a:spLocks noGrp="1"/>
          </p:cNvSpPr>
          <p:nvPr>
            <p:ph type="title"/>
          </p:nvPr>
        </p:nvSpPr>
        <p:spPr>
          <a:xfrm>
            <a:off x="311337" y="893730"/>
            <a:ext cx="10515600" cy="1325563"/>
          </a:xfrm>
        </p:spPr>
        <p:txBody>
          <a:bodyPr>
            <a:normAutofit/>
          </a:bodyPr>
          <a:lstStyle/>
          <a:p>
            <a:r>
              <a:rPr lang="en-IN" sz="3600" b="1" u="sng" dirty="0"/>
              <a:t>PROBLEM STATEMENT</a:t>
            </a:r>
            <a:br>
              <a:rPr lang="en-IN" sz="3600" b="1" u="sng" dirty="0"/>
            </a:br>
            <a:r>
              <a:rPr lang="en-IN" sz="3600" b="1" u="sng" dirty="0"/>
              <a:t> </a:t>
            </a:r>
          </a:p>
        </p:txBody>
      </p:sp>
      <p:sp>
        <p:nvSpPr>
          <p:cNvPr id="3" name="TextBox 2">
            <a:extLst>
              <a:ext uri="{FF2B5EF4-FFF2-40B4-BE49-F238E27FC236}">
                <a16:creationId xmlns:a16="http://schemas.microsoft.com/office/drawing/2014/main" id="{165B315C-A1E1-8E89-D5C3-9C74BFE989AE}"/>
              </a:ext>
            </a:extLst>
          </p:cNvPr>
          <p:cNvSpPr txBox="1"/>
          <p:nvPr/>
        </p:nvSpPr>
        <p:spPr>
          <a:xfrm>
            <a:off x="311336" y="1753143"/>
            <a:ext cx="10805651" cy="1569660"/>
          </a:xfrm>
          <a:prstGeom prst="rect">
            <a:avLst/>
          </a:prstGeom>
          <a:noFill/>
        </p:spPr>
        <p:txBody>
          <a:bodyPr wrap="square" rtlCol="0">
            <a:spAutoFit/>
          </a:bodyPr>
          <a:lstStyle/>
          <a:p>
            <a:pPr algn="just"/>
            <a:r>
              <a:rPr lang="en-US" sz="2400" dirty="0"/>
              <a:t>Manual control of classroom lights and fans without considering occupancy, light intensity, and temperature causes unnecessary energy wastage. An automated system is required to control appliances efficiently based on room occupancy and environmental conditions</a:t>
            </a:r>
            <a:endParaRPr lang="en-IN" sz="2400" dirty="0"/>
          </a:p>
        </p:txBody>
      </p:sp>
      <p:sp>
        <p:nvSpPr>
          <p:cNvPr id="6" name="TextBox 5">
            <a:extLst>
              <a:ext uri="{FF2B5EF4-FFF2-40B4-BE49-F238E27FC236}">
                <a16:creationId xmlns:a16="http://schemas.microsoft.com/office/drawing/2014/main" id="{43A65209-BE1E-CB2D-1C3E-821B9766260C}"/>
              </a:ext>
            </a:extLst>
          </p:cNvPr>
          <p:cNvSpPr txBox="1"/>
          <p:nvPr/>
        </p:nvSpPr>
        <p:spPr>
          <a:xfrm>
            <a:off x="311337" y="3374260"/>
            <a:ext cx="3038168" cy="646331"/>
          </a:xfrm>
          <a:prstGeom prst="rect">
            <a:avLst/>
          </a:prstGeom>
          <a:noFill/>
        </p:spPr>
        <p:txBody>
          <a:bodyPr wrap="square" rtlCol="0">
            <a:spAutoFit/>
          </a:bodyPr>
          <a:lstStyle/>
          <a:p>
            <a:r>
              <a:rPr lang="en-IN" sz="3600" b="1" u="sng" dirty="0"/>
              <a:t>AIM</a:t>
            </a:r>
          </a:p>
        </p:txBody>
      </p:sp>
      <p:sp>
        <p:nvSpPr>
          <p:cNvPr id="7" name="TextBox 6">
            <a:extLst>
              <a:ext uri="{FF2B5EF4-FFF2-40B4-BE49-F238E27FC236}">
                <a16:creationId xmlns:a16="http://schemas.microsoft.com/office/drawing/2014/main" id="{AB5DF692-3C83-E305-DD92-DE1FBDF60156}"/>
              </a:ext>
            </a:extLst>
          </p:cNvPr>
          <p:cNvSpPr txBox="1"/>
          <p:nvPr/>
        </p:nvSpPr>
        <p:spPr>
          <a:xfrm>
            <a:off x="311337" y="3795049"/>
            <a:ext cx="10805652" cy="1846659"/>
          </a:xfrm>
          <a:prstGeom prst="rect">
            <a:avLst/>
          </a:prstGeom>
          <a:noFill/>
        </p:spPr>
        <p:txBody>
          <a:bodyPr wrap="square" rtlCol="0">
            <a:spAutoFit/>
          </a:bodyPr>
          <a:lstStyle/>
          <a:p>
            <a:endParaRPr lang="en-US" sz="2400" dirty="0"/>
          </a:p>
          <a:p>
            <a:pPr algn="just"/>
            <a:r>
              <a:rPr lang="en-US" sz="2400" dirty="0"/>
              <a:t>To design an automatic classroom energy management system that controls lights and fans based on occupancy, ambient light, and temperature to reduce energy wastage </a:t>
            </a:r>
            <a:endParaRPr lang="en-IN" sz="2400" dirty="0"/>
          </a:p>
          <a:p>
            <a:endParaRPr lang="en-IN" dirty="0"/>
          </a:p>
        </p:txBody>
      </p:sp>
      <p:sp>
        <p:nvSpPr>
          <p:cNvPr id="9" name="TextBox 8">
            <a:extLst>
              <a:ext uri="{FF2B5EF4-FFF2-40B4-BE49-F238E27FC236}">
                <a16:creationId xmlns:a16="http://schemas.microsoft.com/office/drawing/2014/main" id="{74493C4C-08B4-9578-5E03-3970E16E6B6E}"/>
              </a:ext>
            </a:extLst>
          </p:cNvPr>
          <p:cNvSpPr txBox="1"/>
          <p:nvPr/>
        </p:nvSpPr>
        <p:spPr>
          <a:xfrm>
            <a:off x="11070772" y="291222"/>
            <a:ext cx="598714" cy="369332"/>
          </a:xfrm>
          <a:prstGeom prst="rect">
            <a:avLst/>
          </a:prstGeom>
          <a:noFill/>
        </p:spPr>
        <p:txBody>
          <a:bodyPr wrap="square">
            <a:spAutoFit/>
          </a:bodyPr>
          <a:lstStyle/>
          <a:p>
            <a:r>
              <a:rPr lang="en-US" b="1" dirty="0"/>
              <a:t>2</a:t>
            </a:r>
            <a:endParaRPr lang="en-IN" b="1" dirty="0"/>
          </a:p>
        </p:txBody>
      </p:sp>
      <p:sp>
        <p:nvSpPr>
          <p:cNvPr id="8" name="Slide Number Placeholder 7">
            <a:extLst>
              <a:ext uri="{FF2B5EF4-FFF2-40B4-BE49-F238E27FC236}">
                <a16:creationId xmlns:a16="http://schemas.microsoft.com/office/drawing/2014/main" id="{417AFCCB-9B51-4FCA-E88C-7A8B277A4D12}"/>
              </a:ext>
            </a:extLst>
          </p:cNvPr>
          <p:cNvSpPr>
            <a:spLocks noGrp="1"/>
          </p:cNvSpPr>
          <p:nvPr>
            <p:ph type="sldNum" sz="quarter" idx="12"/>
          </p:nvPr>
        </p:nvSpPr>
        <p:spPr/>
        <p:txBody>
          <a:bodyPr/>
          <a:lstStyle/>
          <a:p>
            <a:fld id="{0E29D32D-1BC0-48D0-BB54-D1EE225F3EBD}" type="slidenum">
              <a:rPr lang="en-IN" smtClean="0"/>
              <a:t>5</a:t>
            </a:fld>
            <a:endParaRPr lang="en-IN" dirty="0"/>
          </a:p>
        </p:txBody>
      </p:sp>
    </p:spTree>
    <p:extLst>
      <p:ext uri="{BB962C8B-B14F-4D97-AF65-F5344CB8AC3E}">
        <p14:creationId xmlns:p14="http://schemas.microsoft.com/office/powerpoint/2010/main" val="1619894795"/>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71463-A968-5239-6729-CADA0139F03E}"/>
              </a:ext>
            </a:extLst>
          </p:cNvPr>
          <p:cNvSpPr>
            <a:spLocks noGrp="1"/>
          </p:cNvSpPr>
          <p:nvPr>
            <p:ph type="title"/>
          </p:nvPr>
        </p:nvSpPr>
        <p:spPr>
          <a:xfrm>
            <a:off x="357246" y="361128"/>
            <a:ext cx="9876503" cy="1209123"/>
          </a:xfrm>
        </p:spPr>
        <p:txBody>
          <a:bodyPr>
            <a:normAutofit fontScale="90000"/>
          </a:bodyPr>
          <a:lstStyle/>
          <a:p>
            <a:r>
              <a:rPr lang="en-IN" sz="4000" b="1" u="sng" dirty="0"/>
              <a:t>OBJECTIVES</a:t>
            </a:r>
            <a:r>
              <a:rPr lang="en-IN" b="1" u="sng" dirty="0"/>
              <a:t> </a:t>
            </a:r>
            <a:br>
              <a:rPr lang="en-IN" b="1" u="sng" dirty="0"/>
            </a:br>
            <a:endParaRPr lang="en-IN" dirty="0"/>
          </a:p>
        </p:txBody>
      </p:sp>
      <p:sp>
        <p:nvSpPr>
          <p:cNvPr id="5" name="TextBox 4">
            <a:extLst>
              <a:ext uri="{FF2B5EF4-FFF2-40B4-BE49-F238E27FC236}">
                <a16:creationId xmlns:a16="http://schemas.microsoft.com/office/drawing/2014/main" id="{C69B2BC3-8684-451B-BC09-CBD728B930DC}"/>
              </a:ext>
            </a:extLst>
          </p:cNvPr>
          <p:cNvSpPr txBox="1"/>
          <p:nvPr/>
        </p:nvSpPr>
        <p:spPr>
          <a:xfrm>
            <a:off x="357246" y="965689"/>
            <a:ext cx="10636048" cy="5262979"/>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t>To automatically control lights and fans based on real-time environmental conditions. </a:t>
            </a:r>
          </a:p>
          <a:p>
            <a:pPr marL="285750" indent="-285750" algn="just">
              <a:buFont typeface="Arial" panose="020B0604020202020204" pitchFamily="34" charset="0"/>
              <a:buChar char="•"/>
            </a:pPr>
            <a:r>
              <a:rPr lang="en-US" sz="2400" dirty="0"/>
              <a:t>To sense classroom conditions such as light intensity, temperature, and occupancy, the system sends signals to the microcontroller, which automatically switches the lights and fan ON or OFF to reduce unnecessary power consumption and maintain basic comfort</a:t>
            </a:r>
          </a:p>
          <a:p>
            <a:pPr marL="285750" indent="-285750" algn="just">
              <a:buFont typeface="Arial" panose="020B0604020202020204" pitchFamily="34" charset="0"/>
              <a:buChar char="•"/>
            </a:pPr>
            <a:r>
              <a:rPr lang="en-US" sz="2400" dirty="0"/>
              <a:t> To demonstrate a simple system where a single LED light (9– 12 W) and a fan (35–60 W) connected through an extension board which operate automatically only when needed. </a:t>
            </a:r>
          </a:p>
          <a:p>
            <a:pPr marL="285750" indent="-285750" algn="just">
              <a:buFont typeface="Arial" panose="020B0604020202020204" pitchFamily="34" charset="0"/>
              <a:buChar char="•"/>
            </a:pPr>
            <a:r>
              <a:rPr lang="en-US" sz="2400" dirty="0"/>
              <a:t>To display classroom conditions such as temperature (in Celsius), light intensity, motion detection, and the status of the fan and lights (ON/OFF), an </a:t>
            </a:r>
            <a:r>
              <a:rPr lang="en-US" sz="2400" b="1" dirty="0"/>
              <a:t>OLED</a:t>
            </a:r>
            <a:r>
              <a:rPr lang="en-US" sz="2400" dirty="0"/>
              <a:t> display is used.</a:t>
            </a:r>
          </a:p>
          <a:p>
            <a:pPr marL="285750" indent="-285750" algn="just">
              <a:buFont typeface="Arial" panose="020B0604020202020204" pitchFamily="34" charset="0"/>
              <a:buChar char="•"/>
            </a:pPr>
            <a:r>
              <a:rPr lang="en-US" sz="2400" dirty="0"/>
              <a:t>To provide two manual switch option for controlling the fan and lights when required.</a:t>
            </a:r>
          </a:p>
        </p:txBody>
      </p:sp>
      <p:sp>
        <p:nvSpPr>
          <p:cNvPr id="7" name="TextBox 6">
            <a:extLst>
              <a:ext uri="{FF2B5EF4-FFF2-40B4-BE49-F238E27FC236}">
                <a16:creationId xmlns:a16="http://schemas.microsoft.com/office/drawing/2014/main" id="{CD835F71-50D3-13A4-B4C9-6220FEE551CB}"/>
              </a:ext>
            </a:extLst>
          </p:cNvPr>
          <p:cNvSpPr txBox="1"/>
          <p:nvPr/>
        </p:nvSpPr>
        <p:spPr>
          <a:xfrm>
            <a:off x="11138068" y="176462"/>
            <a:ext cx="696686" cy="369332"/>
          </a:xfrm>
          <a:prstGeom prst="rect">
            <a:avLst/>
          </a:prstGeom>
          <a:noFill/>
        </p:spPr>
        <p:txBody>
          <a:bodyPr wrap="square">
            <a:spAutoFit/>
          </a:bodyPr>
          <a:lstStyle/>
          <a:p>
            <a:r>
              <a:rPr lang="en-US" b="1" dirty="0"/>
              <a:t>3</a:t>
            </a:r>
            <a:endParaRPr lang="en-IN" b="1" dirty="0"/>
          </a:p>
        </p:txBody>
      </p:sp>
      <p:sp>
        <p:nvSpPr>
          <p:cNvPr id="6" name="Slide Number Placeholder 5">
            <a:extLst>
              <a:ext uri="{FF2B5EF4-FFF2-40B4-BE49-F238E27FC236}">
                <a16:creationId xmlns:a16="http://schemas.microsoft.com/office/drawing/2014/main" id="{A1BD66C4-5B77-23FF-A013-CB8ED6131E59}"/>
              </a:ext>
            </a:extLst>
          </p:cNvPr>
          <p:cNvSpPr>
            <a:spLocks noGrp="1"/>
          </p:cNvSpPr>
          <p:nvPr>
            <p:ph type="sldNum" sz="quarter" idx="12"/>
          </p:nvPr>
        </p:nvSpPr>
        <p:spPr/>
        <p:txBody>
          <a:bodyPr/>
          <a:lstStyle/>
          <a:p>
            <a:fld id="{0E29D32D-1BC0-48D0-BB54-D1EE225F3EBD}" type="slidenum">
              <a:rPr lang="en-IN" smtClean="0"/>
              <a:t>6</a:t>
            </a:fld>
            <a:endParaRPr lang="en-IN" dirty="0"/>
          </a:p>
        </p:txBody>
      </p:sp>
    </p:spTree>
    <p:extLst>
      <p:ext uri="{BB962C8B-B14F-4D97-AF65-F5344CB8AC3E}">
        <p14:creationId xmlns:p14="http://schemas.microsoft.com/office/powerpoint/2010/main" val="989700646"/>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E2AD9-D04D-8107-70FD-B0BA50356232}"/>
              </a:ext>
            </a:extLst>
          </p:cNvPr>
          <p:cNvSpPr>
            <a:spLocks noGrp="1"/>
          </p:cNvSpPr>
          <p:nvPr>
            <p:ph type="title"/>
          </p:nvPr>
        </p:nvSpPr>
        <p:spPr>
          <a:xfrm>
            <a:off x="357673" y="200123"/>
            <a:ext cx="10515600" cy="1325563"/>
          </a:xfrm>
        </p:spPr>
        <p:txBody>
          <a:bodyPr>
            <a:normAutofit/>
          </a:bodyPr>
          <a:lstStyle/>
          <a:p>
            <a:r>
              <a:rPr lang="en-IN" sz="3600" b="1" u="sng" dirty="0"/>
              <a:t>LITERATURE SURVEY </a:t>
            </a:r>
          </a:p>
        </p:txBody>
      </p:sp>
      <p:pic>
        <p:nvPicPr>
          <p:cNvPr id="3" name="Content Placeholder 10">
            <a:extLst>
              <a:ext uri="{FF2B5EF4-FFF2-40B4-BE49-F238E27FC236}">
                <a16:creationId xmlns:a16="http://schemas.microsoft.com/office/drawing/2014/main" id="{2585AC3D-9F55-87C3-F523-C9DD34F9117F}"/>
              </a:ext>
            </a:extLst>
          </p:cNvPr>
          <p:cNvPicPr>
            <a:picLocks noChangeAspect="1"/>
          </p:cNvPicPr>
          <p:nvPr/>
        </p:nvPicPr>
        <p:blipFill>
          <a:blip r:embed="rId2"/>
          <a:stretch>
            <a:fillRect/>
          </a:stretch>
        </p:blipFill>
        <p:spPr>
          <a:xfrm>
            <a:off x="357673" y="1352522"/>
            <a:ext cx="11476653" cy="4812305"/>
          </a:xfrm>
          <a:prstGeom prst="rect">
            <a:avLst/>
          </a:prstGeom>
        </p:spPr>
      </p:pic>
      <p:sp>
        <p:nvSpPr>
          <p:cNvPr id="5" name="TextBox 4">
            <a:extLst>
              <a:ext uri="{FF2B5EF4-FFF2-40B4-BE49-F238E27FC236}">
                <a16:creationId xmlns:a16="http://schemas.microsoft.com/office/drawing/2014/main" id="{F40AF3EF-2CDD-A028-AA05-D7A201B9E257}"/>
              </a:ext>
            </a:extLst>
          </p:cNvPr>
          <p:cNvSpPr txBox="1"/>
          <p:nvPr/>
        </p:nvSpPr>
        <p:spPr>
          <a:xfrm>
            <a:off x="11146972" y="200123"/>
            <a:ext cx="598714" cy="369332"/>
          </a:xfrm>
          <a:prstGeom prst="rect">
            <a:avLst/>
          </a:prstGeom>
          <a:noFill/>
        </p:spPr>
        <p:txBody>
          <a:bodyPr wrap="square">
            <a:spAutoFit/>
          </a:bodyPr>
          <a:lstStyle/>
          <a:p>
            <a:r>
              <a:rPr lang="en-US" b="1" dirty="0"/>
              <a:t>4</a:t>
            </a:r>
            <a:endParaRPr lang="en-IN" b="1" dirty="0"/>
          </a:p>
        </p:txBody>
      </p:sp>
      <p:sp>
        <p:nvSpPr>
          <p:cNvPr id="7" name="Slide Number Placeholder 6">
            <a:extLst>
              <a:ext uri="{FF2B5EF4-FFF2-40B4-BE49-F238E27FC236}">
                <a16:creationId xmlns:a16="http://schemas.microsoft.com/office/drawing/2014/main" id="{EE0C18B5-6BA6-57FA-78A7-DA5FB3894C7E}"/>
              </a:ext>
            </a:extLst>
          </p:cNvPr>
          <p:cNvSpPr>
            <a:spLocks noGrp="1"/>
          </p:cNvSpPr>
          <p:nvPr>
            <p:ph type="sldNum" sz="quarter" idx="12"/>
          </p:nvPr>
        </p:nvSpPr>
        <p:spPr/>
        <p:txBody>
          <a:bodyPr/>
          <a:lstStyle/>
          <a:p>
            <a:fld id="{0E29D32D-1BC0-48D0-BB54-D1EE225F3EBD}" type="slidenum">
              <a:rPr lang="en-IN" smtClean="0"/>
              <a:t>7</a:t>
            </a:fld>
            <a:endParaRPr lang="en-IN" dirty="0"/>
          </a:p>
        </p:txBody>
      </p:sp>
    </p:spTree>
    <p:extLst>
      <p:ext uri="{BB962C8B-B14F-4D97-AF65-F5344CB8AC3E}">
        <p14:creationId xmlns:p14="http://schemas.microsoft.com/office/powerpoint/2010/main" val="2004901669"/>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6">
            <a:extLst>
              <a:ext uri="{FF2B5EF4-FFF2-40B4-BE49-F238E27FC236}">
                <a16:creationId xmlns:a16="http://schemas.microsoft.com/office/drawing/2014/main" id="{DF3861C3-F560-AA82-7779-038F06FD324A}"/>
              </a:ext>
            </a:extLst>
          </p:cNvPr>
          <p:cNvPicPr>
            <a:picLocks noChangeAspect="1"/>
          </p:cNvPicPr>
          <p:nvPr/>
        </p:nvPicPr>
        <p:blipFill>
          <a:blip r:embed="rId2"/>
          <a:stretch>
            <a:fillRect/>
          </a:stretch>
        </p:blipFill>
        <p:spPr>
          <a:xfrm>
            <a:off x="665583" y="743161"/>
            <a:ext cx="10860833" cy="5371678"/>
          </a:xfrm>
          <a:prstGeom prst="rect">
            <a:avLst/>
          </a:prstGeom>
        </p:spPr>
      </p:pic>
      <p:sp>
        <p:nvSpPr>
          <p:cNvPr id="4" name="TextBox 3">
            <a:extLst>
              <a:ext uri="{FF2B5EF4-FFF2-40B4-BE49-F238E27FC236}">
                <a16:creationId xmlns:a16="http://schemas.microsoft.com/office/drawing/2014/main" id="{A5ADB65F-5156-4F91-CE06-00AA54AC30D8}"/>
              </a:ext>
            </a:extLst>
          </p:cNvPr>
          <p:cNvSpPr txBox="1"/>
          <p:nvPr/>
        </p:nvSpPr>
        <p:spPr>
          <a:xfrm>
            <a:off x="11167187" y="297628"/>
            <a:ext cx="544286" cy="369332"/>
          </a:xfrm>
          <a:prstGeom prst="rect">
            <a:avLst/>
          </a:prstGeom>
          <a:noFill/>
        </p:spPr>
        <p:txBody>
          <a:bodyPr wrap="square">
            <a:spAutoFit/>
          </a:bodyPr>
          <a:lstStyle/>
          <a:p>
            <a:r>
              <a:rPr lang="en-US" b="1" dirty="0"/>
              <a:t>5</a:t>
            </a:r>
            <a:endParaRPr lang="en-IN" b="1" dirty="0"/>
          </a:p>
        </p:txBody>
      </p:sp>
      <p:sp>
        <p:nvSpPr>
          <p:cNvPr id="6" name="Slide Number Placeholder 5">
            <a:extLst>
              <a:ext uri="{FF2B5EF4-FFF2-40B4-BE49-F238E27FC236}">
                <a16:creationId xmlns:a16="http://schemas.microsoft.com/office/drawing/2014/main" id="{824BC38B-CA41-2AB1-3195-958B152FADA8}"/>
              </a:ext>
            </a:extLst>
          </p:cNvPr>
          <p:cNvSpPr>
            <a:spLocks noGrp="1"/>
          </p:cNvSpPr>
          <p:nvPr>
            <p:ph type="sldNum" sz="quarter" idx="12"/>
          </p:nvPr>
        </p:nvSpPr>
        <p:spPr/>
        <p:txBody>
          <a:bodyPr/>
          <a:lstStyle/>
          <a:p>
            <a:fld id="{0E29D32D-1BC0-48D0-BB54-D1EE225F3EBD}" type="slidenum">
              <a:rPr lang="en-IN" smtClean="0"/>
              <a:t>8</a:t>
            </a:fld>
            <a:endParaRPr lang="en-IN"/>
          </a:p>
        </p:txBody>
      </p:sp>
    </p:spTree>
    <p:extLst>
      <p:ext uri="{BB962C8B-B14F-4D97-AF65-F5344CB8AC3E}">
        <p14:creationId xmlns:p14="http://schemas.microsoft.com/office/powerpoint/2010/main" val="969449716"/>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C9FD4-5333-B08C-1540-21A5B0BF72F5}"/>
              </a:ext>
            </a:extLst>
          </p:cNvPr>
          <p:cNvSpPr>
            <a:spLocks noGrp="1"/>
          </p:cNvSpPr>
          <p:nvPr>
            <p:ph type="ctrTitle"/>
          </p:nvPr>
        </p:nvSpPr>
        <p:spPr>
          <a:xfrm>
            <a:off x="-1472623" y="354643"/>
            <a:ext cx="6676103" cy="794927"/>
          </a:xfrm>
        </p:spPr>
        <p:txBody>
          <a:bodyPr>
            <a:normAutofit/>
          </a:bodyPr>
          <a:lstStyle/>
          <a:p>
            <a:r>
              <a:rPr lang="en-US" sz="3600" b="1" u="sng" dirty="0"/>
              <a:t>COMPONENTS</a:t>
            </a:r>
            <a:endParaRPr lang="en-IN" sz="3600" b="1" u="sng" dirty="0"/>
          </a:p>
        </p:txBody>
      </p:sp>
      <p:sp>
        <p:nvSpPr>
          <p:cNvPr id="3" name="Subtitle 2">
            <a:extLst>
              <a:ext uri="{FF2B5EF4-FFF2-40B4-BE49-F238E27FC236}">
                <a16:creationId xmlns:a16="http://schemas.microsoft.com/office/drawing/2014/main" id="{17978985-0213-F146-8F3D-CEE05CE3E077}"/>
              </a:ext>
            </a:extLst>
          </p:cNvPr>
          <p:cNvSpPr>
            <a:spLocks noGrp="1"/>
          </p:cNvSpPr>
          <p:nvPr>
            <p:ph type="subTitle" idx="1"/>
          </p:nvPr>
        </p:nvSpPr>
        <p:spPr>
          <a:xfrm>
            <a:off x="678426" y="1592825"/>
            <a:ext cx="7975717" cy="2815457"/>
          </a:xfrm>
        </p:spPr>
        <p:txBody>
          <a:bodyPr>
            <a:noAutofit/>
          </a:bodyPr>
          <a:lstStyle/>
          <a:p>
            <a:pPr algn="l"/>
            <a:r>
              <a:rPr lang="en-US" b="1" dirty="0"/>
              <a:t>1.PIR SENSOR (HC SR-501) </a:t>
            </a:r>
          </a:p>
          <a:p>
            <a:pPr algn="just"/>
            <a:r>
              <a:rPr lang="en-US" dirty="0"/>
              <a:t>The PIR sensor detects human motion or occupancy in a room. It operates at 5–12V and outputs a HIGH signal when motion is detected</a:t>
            </a:r>
          </a:p>
          <a:p>
            <a:pPr algn="l"/>
            <a:r>
              <a:rPr lang="en-US" b="1" dirty="0"/>
              <a:t>2.TEMPERATURE SENSOR (LM 35) </a:t>
            </a:r>
          </a:p>
          <a:p>
            <a:pPr algn="just"/>
            <a:r>
              <a:rPr lang="en-US" dirty="0"/>
              <a:t>The LM35 is a precision temperature sensor that operates at 4–30V and can be used for temperature monitoring</a:t>
            </a:r>
          </a:p>
          <a:p>
            <a:pPr algn="l"/>
            <a:r>
              <a:rPr lang="en-US" b="1" dirty="0"/>
              <a:t>3.LDR MODULE (GL 5528) </a:t>
            </a:r>
          </a:p>
          <a:p>
            <a:pPr algn="just"/>
            <a:r>
              <a:rPr lang="en-US" dirty="0"/>
              <a:t>The LDR module detects ambient light intensity using an LM393 comparator for adjustable sensitivity. It provides digital and analog outputs, enabling automation of devices like streetlights based on brightness levels.</a:t>
            </a:r>
          </a:p>
        </p:txBody>
      </p:sp>
      <p:pic>
        <p:nvPicPr>
          <p:cNvPr id="4" name="Picture Placeholder 10">
            <a:extLst>
              <a:ext uri="{FF2B5EF4-FFF2-40B4-BE49-F238E27FC236}">
                <a16:creationId xmlns:a16="http://schemas.microsoft.com/office/drawing/2014/main" id="{90BB78B5-C2F4-36A7-B91C-0BDC5B1AC8C3}"/>
              </a:ext>
            </a:extLst>
          </p:cNvPr>
          <p:cNvPicPr>
            <a:picLocks noChangeAspect="1"/>
          </p:cNvPicPr>
          <p:nvPr/>
        </p:nvPicPr>
        <p:blipFill>
          <a:blip r:embed="rId2"/>
          <a:srcRect t="4194" b="4194"/>
          <a:stretch>
            <a:fillRect/>
          </a:stretch>
        </p:blipFill>
        <p:spPr>
          <a:xfrm>
            <a:off x="9185707" y="1369325"/>
            <a:ext cx="2327424" cy="1837755"/>
          </a:xfrm>
          <a:prstGeom prst="rect">
            <a:avLst/>
          </a:prstGeom>
        </p:spPr>
      </p:pic>
      <p:pic>
        <p:nvPicPr>
          <p:cNvPr id="5" name="Picture 4">
            <a:extLst>
              <a:ext uri="{FF2B5EF4-FFF2-40B4-BE49-F238E27FC236}">
                <a16:creationId xmlns:a16="http://schemas.microsoft.com/office/drawing/2014/main" id="{85187D28-399A-7123-1A2C-872793026CF2}"/>
              </a:ext>
            </a:extLst>
          </p:cNvPr>
          <p:cNvPicPr>
            <a:picLocks noChangeAspect="1"/>
          </p:cNvPicPr>
          <p:nvPr/>
        </p:nvPicPr>
        <p:blipFill>
          <a:blip r:embed="rId3"/>
          <a:stretch>
            <a:fillRect/>
          </a:stretch>
        </p:blipFill>
        <p:spPr>
          <a:xfrm flipH="1">
            <a:off x="9656591" y="3025502"/>
            <a:ext cx="1459361" cy="1430827"/>
          </a:xfrm>
          <a:prstGeom prst="rect">
            <a:avLst/>
          </a:prstGeom>
        </p:spPr>
      </p:pic>
      <p:sp>
        <p:nvSpPr>
          <p:cNvPr id="8" name="Rectangle 7">
            <a:extLst>
              <a:ext uri="{FF2B5EF4-FFF2-40B4-BE49-F238E27FC236}">
                <a16:creationId xmlns:a16="http://schemas.microsoft.com/office/drawing/2014/main" id="{BF4A8723-5106-EE64-E7C3-EEBC45B87E37}"/>
              </a:ext>
            </a:extLst>
          </p:cNvPr>
          <p:cNvSpPr/>
          <p:nvPr/>
        </p:nvSpPr>
        <p:spPr>
          <a:xfrm>
            <a:off x="576941" y="1396179"/>
            <a:ext cx="11157857" cy="172090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F677C189-B2FE-CEA3-A646-25BCFE84C925}"/>
              </a:ext>
            </a:extLst>
          </p:cNvPr>
          <p:cNvSpPr/>
          <p:nvPr/>
        </p:nvSpPr>
        <p:spPr>
          <a:xfrm>
            <a:off x="576943" y="3117085"/>
            <a:ext cx="11157857" cy="129119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CF0385F0-237B-C659-CFAD-F59502867C8D}"/>
              </a:ext>
            </a:extLst>
          </p:cNvPr>
          <p:cNvSpPr/>
          <p:nvPr/>
        </p:nvSpPr>
        <p:spPr>
          <a:xfrm>
            <a:off x="576941" y="4408283"/>
            <a:ext cx="11157857" cy="185189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982469B1-7818-728A-B30A-323F42B89655}"/>
              </a:ext>
            </a:extLst>
          </p:cNvPr>
          <p:cNvSpPr txBox="1"/>
          <p:nvPr/>
        </p:nvSpPr>
        <p:spPr>
          <a:xfrm>
            <a:off x="11360565" y="221831"/>
            <a:ext cx="748465" cy="369332"/>
          </a:xfrm>
          <a:prstGeom prst="rect">
            <a:avLst/>
          </a:prstGeom>
          <a:noFill/>
        </p:spPr>
        <p:txBody>
          <a:bodyPr wrap="square">
            <a:spAutoFit/>
          </a:bodyPr>
          <a:lstStyle/>
          <a:p>
            <a:r>
              <a:rPr lang="en-US" b="1" dirty="0"/>
              <a:t>6</a:t>
            </a:r>
            <a:endParaRPr lang="en-IN" b="1" dirty="0"/>
          </a:p>
        </p:txBody>
      </p:sp>
      <p:pic>
        <p:nvPicPr>
          <p:cNvPr id="9" name="Picture 8">
            <a:extLst>
              <a:ext uri="{FF2B5EF4-FFF2-40B4-BE49-F238E27FC236}">
                <a16:creationId xmlns:a16="http://schemas.microsoft.com/office/drawing/2014/main" id="{2B07E6B8-A491-FB75-81B1-5F3D992D3A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74164" y="4546324"/>
            <a:ext cx="1750510" cy="1630910"/>
          </a:xfrm>
          <a:prstGeom prst="rect">
            <a:avLst/>
          </a:prstGeom>
        </p:spPr>
      </p:pic>
      <p:sp>
        <p:nvSpPr>
          <p:cNvPr id="10" name="Slide Number Placeholder 9">
            <a:extLst>
              <a:ext uri="{FF2B5EF4-FFF2-40B4-BE49-F238E27FC236}">
                <a16:creationId xmlns:a16="http://schemas.microsoft.com/office/drawing/2014/main" id="{96CC2B10-B40F-3338-0380-9D720AFEA7E3}"/>
              </a:ext>
            </a:extLst>
          </p:cNvPr>
          <p:cNvSpPr>
            <a:spLocks noGrp="1"/>
          </p:cNvSpPr>
          <p:nvPr>
            <p:ph type="sldNum" sz="quarter" idx="12"/>
          </p:nvPr>
        </p:nvSpPr>
        <p:spPr/>
        <p:txBody>
          <a:bodyPr/>
          <a:lstStyle/>
          <a:p>
            <a:fld id="{0E29D32D-1BC0-48D0-BB54-D1EE225F3EBD}" type="slidenum">
              <a:rPr lang="en-IN" smtClean="0"/>
              <a:t>9</a:t>
            </a:fld>
            <a:endParaRPr lang="en-IN"/>
          </a:p>
        </p:txBody>
      </p:sp>
    </p:spTree>
    <p:extLst>
      <p:ext uri="{BB962C8B-B14F-4D97-AF65-F5344CB8AC3E}">
        <p14:creationId xmlns:p14="http://schemas.microsoft.com/office/powerpoint/2010/main" val="2277949745"/>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1528813-C882-CD54-3E11-DC6F1BE88559}"/>
              </a:ext>
            </a:extLst>
          </p:cNvPr>
          <p:cNvSpPr>
            <a:spLocks noGrp="1"/>
          </p:cNvSpPr>
          <p:nvPr>
            <p:ph type="subTitle" idx="1"/>
          </p:nvPr>
        </p:nvSpPr>
        <p:spPr>
          <a:xfrm>
            <a:off x="583348" y="551265"/>
            <a:ext cx="8198348" cy="1655762"/>
          </a:xfrm>
        </p:spPr>
        <p:txBody>
          <a:bodyPr>
            <a:noAutofit/>
          </a:bodyPr>
          <a:lstStyle/>
          <a:p>
            <a:pPr algn="l"/>
            <a:r>
              <a:rPr lang="en-US" b="1" dirty="0"/>
              <a:t>4.RELAY MODULE </a:t>
            </a:r>
          </a:p>
          <a:p>
            <a:pPr algn="just"/>
            <a:r>
              <a:rPr lang="en-US" dirty="0"/>
              <a:t>A relay module is an electrically operated switch that allows low-voltage signals to control high-voltage devices. It works with a 5V control signal and is used to safely turn on or off devices like fans and lights.</a:t>
            </a:r>
          </a:p>
          <a:p>
            <a:pPr algn="l"/>
            <a:r>
              <a:rPr lang="en-US" b="1" dirty="0"/>
              <a:t>5.OLED DISPLAY</a:t>
            </a:r>
          </a:p>
          <a:p>
            <a:pPr algn="just"/>
            <a:r>
              <a:rPr lang="en-US" dirty="0"/>
              <a:t>The OLED display is a low-power module with a resolution of 128×64 pixels. It operates at 3.3–5V and communicates using the I2C protocol. It is commonly used to show sensor readings and system status</a:t>
            </a:r>
          </a:p>
          <a:p>
            <a:pPr algn="l"/>
            <a:r>
              <a:rPr lang="en-US" b="1" dirty="0"/>
              <a:t>6.ESP32D MICROCONTROLLER</a:t>
            </a:r>
          </a:p>
          <a:p>
            <a:pPr algn="just"/>
            <a:r>
              <a:rPr lang="en-US" dirty="0"/>
              <a:t>The ESP32 is a powerful microcontroller with built-in Wi-Fi and Bluetooth for IoT applications. It operates at 3.0–3.6V and features a 240 MHz dual-core processor. It is widely used for control, monitoring, and communication in smart systems.</a:t>
            </a:r>
            <a:endParaRPr lang="en-IN" dirty="0"/>
          </a:p>
          <a:p>
            <a:endParaRPr lang="en-IN" dirty="0"/>
          </a:p>
        </p:txBody>
      </p:sp>
      <p:pic>
        <p:nvPicPr>
          <p:cNvPr id="4" name="Picture 3">
            <a:extLst>
              <a:ext uri="{FF2B5EF4-FFF2-40B4-BE49-F238E27FC236}">
                <a16:creationId xmlns:a16="http://schemas.microsoft.com/office/drawing/2014/main" id="{8935E7B2-B62F-8158-39D9-09DE02D9B613}"/>
              </a:ext>
            </a:extLst>
          </p:cNvPr>
          <p:cNvPicPr>
            <a:picLocks noChangeAspect="1"/>
          </p:cNvPicPr>
          <p:nvPr/>
        </p:nvPicPr>
        <p:blipFill>
          <a:blip r:embed="rId2"/>
          <a:srcRect/>
          <a:stretch/>
        </p:blipFill>
        <p:spPr>
          <a:xfrm>
            <a:off x="8395946" y="3809084"/>
            <a:ext cx="3884815" cy="3124201"/>
          </a:xfrm>
          <a:prstGeom prst="rect">
            <a:avLst/>
          </a:prstGeom>
        </p:spPr>
      </p:pic>
      <p:sp>
        <p:nvSpPr>
          <p:cNvPr id="6" name="Rectangle 5">
            <a:extLst>
              <a:ext uri="{FF2B5EF4-FFF2-40B4-BE49-F238E27FC236}">
                <a16:creationId xmlns:a16="http://schemas.microsoft.com/office/drawing/2014/main" id="{1E046ABC-A002-AF6D-8090-14D71000C34B}"/>
              </a:ext>
            </a:extLst>
          </p:cNvPr>
          <p:cNvSpPr/>
          <p:nvPr/>
        </p:nvSpPr>
        <p:spPr>
          <a:xfrm>
            <a:off x="561608" y="569698"/>
            <a:ext cx="11028592" cy="18201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3FFCEB3D-B3EF-FEE7-D0B7-84E6DCE2032B}"/>
              </a:ext>
            </a:extLst>
          </p:cNvPr>
          <p:cNvSpPr/>
          <p:nvPr/>
        </p:nvSpPr>
        <p:spPr>
          <a:xfrm>
            <a:off x="561608" y="2349561"/>
            <a:ext cx="11028591" cy="191588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67D393CD-8742-88A5-C68E-FA13E92A578D}"/>
              </a:ext>
            </a:extLst>
          </p:cNvPr>
          <p:cNvSpPr/>
          <p:nvPr/>
        </p:nvSpPr>
        <p:spPr>
          <a:xfrm>
            <a:off x="561608" y="4265447"/>
            <a:ext cx="11028591" cy="223157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Placeholder 6">
            <a:extLst>
              <a:ext uri="{FF2B5EF4-FFF2-40B4-BE49-F238E27FC236}">
                <a16:creationId xmlns:a16="http://schemas.microsoft.com/office/drawing/2014/main" id="{8355F328-8AF3-31EE-DDB1-146B57A79BA9}"/>
              </a:ext>
            </a:extLst>
          </p:cNvPr>
          <p:cNvPicPr>
            <a:picLocks noChangeAspect="1"/>
          </p:cNvPicPr>
          <p:nvPr/>
        </p:nvPicPr>
        <p:blipFill>
          <a:blip r:embed="rId3"/>
          <a:srcRect t="6055" b="6055"/>
          <a:stretch>
            <a:fillRect/>
          </a:stretch>
        </p:blipFill>
        <p:spPr>
          <a:xfrm>
            <a:off x="8539147" y="2305565"/>
            <a:ext cx="3275908" cy="2003879"/>
          </a:xfrm>
          <a:prstGeom prst="rect">
            <a:avLst/>
          </a:prstGeom>
        </p:spPr>
      </p:pic>
      <p:pic>
        <p:nvPicPr>
          <p:cNvPr id="22" name="Picture 21">
            <a:extLst>
              <a:ext uri="{FF2B5EF4-FFF2-40B4-BE49-F238E27FC236}">
                <a16:creationId xmlns:a16="http://schemas.microsoft.com/office/drawing/2014/main" id="{F29EF495-E6FF-5221-C1FF-1CC775F823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03435" y="605806"/>
            <a:ext cx="2466084" cy="1655762"/>
          </a:xfrm>
          <a:prstGeom prst="rect">
            <a:avLst/>
          </a:prstGeom>
        </p:spPr>
      </p:pic>
      <p:sp>
        <p:nvSpPr>
          <p:cNvPr id="24" name="TextBox 23">
            <a:extLst>
              <a:ext uri="{FF2B5EF4-FFF2-40B4-BE49-F238E27FC236}">
                <a16:creationId xmlns:a16="http://schemas.microsoft.com/office/drawing/2014/main" id="{29EEE640-05FA-5CAA-EE1E-279DFBECD9A6}"/>
              </a:ext>
            </a:extLst>
          </p:cNvPr>
          <p:cNvSpPr txBox="1"/>
          <p:nvPr/>
        </p:nvSpPr>
        <p:spPr>
          <a:xfrm>
            <a:off x="11139460" y="73355"/>
            <a:ext cx="675595" cy="369332"/>
          </a:xfrm>
          <a:prstGeom prst="rect">
            <a:avLst/>
          </a:prstGeom>
          <a:noFill/>
        </p:spPr>
        <p:txBody>
          <a:bodyPr wrap="square">
            <a:spAutoFit/>
          </a:bodyPr>
          <a:lstStyle/>
          <a:p>
            <a:r>
              <a:rPr lang="en-US" b="1" dirty="0"/>
              <a:t>7</a:t>
            </a:r>
            <a:endParaRPr lang="en-IN" b="1" dirty="0"/>
          </a:p>
        </p:txBody>
      </p:sp>
      <p:sp>
        <p:nvSpPr>
          <p:cNvPr id="10" name="Slide Number Placeholder 9">
            <a:extLst>
              <a:ext uri="{FF2B5EF4-FFF2-40B4-BE49-F238E27FC236}">
                <a16:creationId xmlns:a16="http://schemas.microsoft.com/office/drawing/2014/main" id="{FB0CB47D-C874-21A4-C888-20AEDCA51D88}"/>
              </a:ext>
            </a:extLst>
          </p:cNvPr>
          <p:cNvSpPr>
            <a:spLocks noGrp="1"/>
          </p:cNvSpPr>
          <p:nvPr>
            <p:ph type="sldNum" sz="quarter" idx="12"/>
          </p:nvPr>
        </p:nvSpPr>
        <p:spPr>
          <a:xfrm>
            <a:off x="8590504" y="6234854"/>
            <a:ext cx="2743200" cy="365125"/>
          </a:xfrm>
        </p:spPr>
        <p:txBody>
          <a:bodyPr/>
          <a:lstStyle/>
          <a:p>
            <a:fld id="{0E29D32D-1BC0-48D0-BB54-D1EE225F3EBD}" type="slidenum">
              <a:rPr lang="en-IN" smtClean="0"/>
              <a:t>10</a:t>
            </a:fld>
            <a:endParaRPr lang="en-IN"/>
          </a:p>
        </p:txBody>
      </p:sp>
    </p:spTree>
    <p:extLst>
      <p:ext uri="{BB962C8B-B14F-4D97-AF65-F5344CB8AC3E}">
        <p14:creationId xmlns:p14="http://schemas.microsoft.com/office/powerpoint/2010/main" val="163880007"/>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5EC0F-23ED-F4AB-CB46-0FD28D4B3EA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8C071E1-BE62-4D01-C0B5-6BCCEA52764B}"/>
              </a:ext>
            </a:extLst>
          </p:cNvPr>
          <p:cNvSpPr>
            <a:spLocks noGrp="1"/>
          </p:cNvSpPr>
          <p:nvPr>
            <p:ph type="subTitle" idx="1"/>
          </p:nvPr>
        </p:nvSpPr>
        <p:spPr>
          <a:xfrm>
            <a:off x="706166" y="748927"/>
            <a:ext cx="8318091" cy="1655762"/>
          </a:xfrm>
        </p:spPr>
        <p:txBody>
          <a:bodyPr>
            <a:noAutofit/>
          </a:bodyPr>
          <a:lstStyle/>
          <a:p>
            <a:pPr algn="just"/>
            <a:br>
              <a:rPr lang="en-US" dirty="0">
                <a:latin typeface="+mj-lt"/>
              </a:rPr>
            </a:br>
            <a:r>
              <a:rPr lang="en-US" dirty="0">
                <a:latin typeface="+mj-lt"/>
              </a:rPr>
              <a:t>A 5A fuse is a protective device that safeguards circuits against overcurrent by breaking the circuit if the current exceeds 5 amperes. It ensures the safety of connected components and prevents potential damage or hazards.</a:t>
            </a:r>
          </a:p>
          <a:p>
            <a:pPr algn="just"/>
            <a:br>
              <a:rPr lang="en-US" dirty="0">
                <a:latin typeface="+mj-lt"/>
              </a:rPr>
            </a:br>
            <a:r>
              <a:rPr lang="en-US" dirty="0">
                <a:latin typeface="+mj-lt"/>
              </a:rPr>
              <a:t>A switch is a manual device used to open or close a circuit, allowing control of electrical devices like lights and fans. It provides a simple way to turn the system ON or OFF safely.</a:t>
            </a:r>
            <a:endParaRPr lang="en-IN" dirty="0">
              <a:latin typeface="+mj-lt"/>
            </a:endParaRPr>
          </a:p>
        </p:txBody>
      </p:sp>
      <p:sp>
        <p:nvSpPr>
          <p:cNvPr id="2" name="Rectangle 1">
            <a:extLst>
              <a:ext uri="{FF2B5EF4-FFF2-40B4-BE49-F238E27FC236}">
                <a16:creationId xmlns:a16="http://schemas.microsoft.com/office/drawing/2014/main" id="{0F003EC9-603B-F156-EAF8-3675B9F8DB37}"/>
              </a:ext>
            </a:extLst>
          </p:cNvPr>
          <p:cNvSpPr/>
          <p:nvPr/>
        </p:nvSpPr>
        <p:spPr>
          <a:xfrm>
            <a:off x="685800" y="751114"/>
            <a:ext cx="10787743" cy="1828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B5C5FB4E-95C5-C6E6-41A5-2993F9EDCF01}"/>
              </a:ext>
            </a:extLst>
          </p:cNvPr>
          <p:cNvSpPr/>
          <p:nvPr/>
        </p:nvSpPr>
        <p:spPr>
          <a:xfrm>
            <a:off x="685800" y="2579914"/>
            <a:ext cx="10787743" cy="165576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16EB9821-28F4-9AB5-B424-6D3D1A0445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50375" y="1316334"/>
            <a:ext cx="1550334" cy="1088355"/>
          </a:xfrm>
          <a:prstGeom prst="rect">
            <a:avLst/>
          </a:prstGeom>
        </p:spPr>
      </p:pic>
      <p:pic>
        <p:nvPicPr>
          <p:cNvPr id="8" name="Picture 7">
            <a:extLst>
              <a:ext uri="{FF2B5EF4-FFF2-40B4-BE49-F238E27FC236}">
                <a16:creationId xmlns:a16="http://schemas.microsoft.com/office/drawing/2014/main" id="{8CCA0F3B-24F3-506D-9D52-3F47E42E50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6969" y="2654997"/>
            <a:ext cx="2012452" cy="1505595"/>
          </a:xfrm>
          <a:prstGeom prst="rect">
            <a:avLst/>
          </a:prstGeom>
        </p:spPr>
      </p:pic>
      <p:sp>
        <p:nvSpPr>
          <p:cNvPr id="10" name="TextBox 9">
            <a:extLst>
              <a:ext uri="{FF2B5EF4-FFF2-40B4-BE49-F238E27FC236}">
                <a16:creationId xmlns:a16="http://schemas.microsoft.com/office/drawing/2014/main" id="{1DF13E60-9C08-0B53-094D-E4FF61826D0E}"/>
              </a:ext>
            </a:extLst>
          </p:cNvPr>
          <p:cNvSpPr txBox="1"/>
          <p:nvPr/>
        </p:nvSpPr>
        <p:spPr>
          <a:xfrm>
            <a:off x="11254422" y="109504"/>
            <a:ext cx="632778" cy="369332"/>
          </a:xfrm>
          <a:prstGeom prst="rect">
            <a:avLst/>
          </a:prstGeom>
          <a:noFill/>
        </p:spPr>
        <p:txBody>
          <a:bodyPr wrap="square">
            <a:spAutoFit/>
          </a:bodyPr>
          <a:lstStyle/>
          <a:p>
            <a:r>
              <a:rPr lang="en-US" b="1" dirty="0"/>
              <a:t>8</a:t>
            </a:r>
            <a:endParaRPr lang="en-IN" b="1" dirty="0"/>
          </a:p>
        </p:txBody>
      </p:sp>
      <p:sp>
        <p:nvSpPr>
          <p:cNvPr id="5" name="TextBox 4">
            <a:extLst>
              <a:ext uri="{FF2B5EF4-FFF2-40B4-BE49-F238E27FC236}">
                <a16:creationId xmlns:a16="http://schemas.microsoft.com/office/drawing/2014/main" id="{A60BA826-BF61-C0AB-EEA9-86A228D5ACDC}"/>
              </a:ext>
            </a:extLst>
          </p:cNvPr>
          <p:cNvSpPr txBox="1"/>
          <p:nvPr/>
        </p:nvSpPr>
        <p:spPr>
          <a:xfrm>
            <a:off x="718457" y="748927"/>
            <a:ext cx="1532920" cy="461665"/>
          </a:xfrm>
          <a:prstGeom prst="rect">
            <a:avLst/>
          </a:prstGeom>
          <a:noFill/>
        </p:spPr>
        <p:txBody>
          <a:bodyPr wrap="none" rtlCol="0">
            <a:spAutoFit/>
          </a:bodyPr>
          <a:lstStyle/>
          <a:p>
            <a:r>
              <a:rPr lang="en-US" sz="2400" b="1" dirty="0">
                <a:latin typeface="+mj-lt"/>
              </a:rPr>
              <a:t>7.5 A Fuse</a:t>
            </a:r>
            <a:endParaRPr lang="en-IN" sz="2400" dirty="0">
              <a:latin typeface="+mj-lt"/>
            </a:endParaRPr>
          </a:p>
        </p:txBody>
      </p:sp>
      <p:sp>
        <p:nvSpPr>
          <p:cNvPr id="7" name="TextBox 6">
            <a:extLst>
              <a:ext uri="{FF2B5EF4-FFF2-40B4-BE49-F238E27FC236}">
                <a16:creationId xmlns:a16="http://schemas.microsoft.com/office/drawing/2014/main" id="{5908E5E0-98AA-1ABF-561E-6C98DACCA39C}"/>
              </a:ext>
            </a:extLst>
          </p:cNvPr>
          <p:cNvSpPr txBox="1"/>
          <p:nvPr/>
        </p:nvSpPr>
        <p:spPr>
          <a:xfrm>
            <a:off x="685800" y="2540072"/>
            <a:ext cx="1331903" cy="461665"/>
          </a:xfrm>
          <a:prstGeom prst="rect">
            <a:avLst/>
          </a:prstGeom>
          <a:noFill/>
        </p:spPr>
        <p:txBody>
          <a:bodyPr wrap="none" rtlCol="0">
            <a:spAutoFit/>
          </a:bodyPr>
          <a:lstStyle/>
          <a:p>
            <a:r>
              <a:rPr lang="en-US" sz="2400" b="1" dirty="0">
                <a:latin typeface="+mj-lt"/>
              </a:rPr>
              <a:t>8.Switch</a:t>
            </a:r>
            <a:endParaRPr lang="en-IN" sz="2400" dirty="0">
              <a:latin typeface="+mj-lt"/>
            </a:endParaRPr>
          </a:p>
        </p:txBody>
      </p:sp>
      <p:sp>
        <p:nvSpPr>
          <p:cNvPr id="12" name="Slide Number Placeholder 11">
            <a:extLst>
              <a:ext uri="{FF2B5EF4-FFF2-40B4-BE49-F238E27FC236}">
                <a16:creationId xmlns:a16="http://schemas.microsoft.com/office/drawing/2014/main" id="{91947113-304C-CBE6-BD51-041CDBD9CCA3}"/>
              </a:ext>
            </a:extLst>
          </p:cNvPr>
          <p:cNvSpPr>
            <a:spLocks noGrp="1"/>
          </p:cNvSpPr>
          <p:nvPr>
            <p:ph type="sldNum" sz="quarter" idx="12"/>
          </p:nvPr>
        </p:nvSpPr>
        <p:spPr/>
        <p:txBody>
          <a:bodyPr/>
          <a:lstStyle/>
          <a:p>
            <a:fld id="{0E29D32D-1BC0-48D0-BB54-D1EE225F3EBD}" type="slidenum">
              <a:rPr lang="en-IN" smtClean="0"/>
              <a:t>11</a:t>
            </a:fld>
            <a:endParaRPr lang="en-IN"/>
          </a:p>
        </p:txBody>
      </p:sp>
    </p:spTree>
    <p:extLst>
      <p:ext uri="{BB962C8B-B14F-4D97-AF65-F5344CB8AC3E}">
        <p14:creationId xmlns:p14="http://schemas.microsoft.com/office/powerpoint/2010/main" val="2736134535"/>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93CBE3-DBB2-7934-926B-7234BA911ABA}"/>
              </a:ext>
            </a:extLst>
          </p:cNvPr>
          <p:cNvSpPr txBox="1"/>
          <p:nvPr/>
        </p:nvSpPr>
        <p:spPr>
          <a:xfrm>
            <a:off x="394397" y="1766965"/>
            <a:ext cx="11472706" cy="3477875"/>
          </a:xfrm>
          <a:prstGeom prst="rect">
            <a:avLst/>
          </a:prstGeom>
          <a:noFill/>
        </p:spPr>
        <p:txBody>
          <a:bodyPr wrap="square" rtlCol="0" anchor="ctr">
            <a:spAutoFit/>
          </a:bodyPr>
          <a:lstStyle/>
          <a:p>
            <a:pPr algn="just"/>
            <a:r>
              <a:rPr lang="en-US" sz="2200" dirty="0"/>
              <a:t>• The system consists of </a:t>
            </a:r>
            <a:r>
              <a:rPr lang="en-US" sz="2200" b="1" dirty="0"/>
              <a:t>input sensors (PIR HC-SR501, LM35, and LDR GL5528) </a:t>
            </a:r>
            <a:r>
              <a:rPr lang="en-US" sz="2200" dirty="0"/>
              <a:t>connected</a:t>
            </a:r>
          </a:p>
          <a:p>
            <a:pPr algn="just"/>
            <a:r>
              <a:rPr lang="en-US" sz="2200" dirty="0"/>
              <a:t>   to the </a:t>
            </a:r>
            <a:r>
              <a:rPr lang="en-US" sz="2200" b="1" dirty="0"/>
              <a:t>ESP32 microcontroller</a:t>
            </a:r>
          </a:p>
          <a:p>
            <a:pPr algn="just"/>
            <a:r>
              <a:rPr lang="en-US" sz="2200" dirty="0"/>
              <a:t>• Sensor data is processed by the </a:t>
            </a:r>
            <a:r>
              <a:rPr lang="en-US" sz="2200" b="1" dirty="0"/>
              <a:t>ESP32</a:t>
            </a:r>
            <a:r>
              <a:rPr lang="en-US" sz="2200" dirty="0"/>
              <a:t>, which makes control decisions based on classroom</a:t>
            </a:r>
          </a:p>
          <a:p>
            <a:pPr algn="just"/>
            <a:r>
              <a:rPr lang="en-US" sz="2200" dirty="0"/>
              <a:t>   conditions</a:t>
            </a:r>
          </a:p>
          <a:p>
            <a:pPr algn="just"/>
            <a:r>
              <a:rPr lang="en-US" sz="2200" dirty="0"/>
              <a:t>• The </a:t>
            </a:r>
            <a:r>
              <a:rPr lang="en-US" sz="2200" b="1" dirty="0"/>
              <a:t>relay module</a:t>
            </a:r>
            <a:r>
              <a:rPr lang="en-US" sz="2200" dirty="0"/>
              <a:t> acts as an interface between the ESP32 and electrical  appliances like</a:t>
            </a:r>
          </a:p>
          <a:p>
            <a:pPr algn="just"/>
            <a:r>
              <a:rPr lang="en-US" sz="2200" dirty="0"/>
              <a:t>    </a:t>
            </a:r>
            <a:r>
              <a:rPr lang="en-US" sz="2200" b="1" dirty="0"/>
              <a:t>lights and fan</a:t>
            </a:r>
          </a:p>
          <a:p>
            <a:pPr algn="just"/>
            <a:r>
              <a:rPr lang="en-US" sz="2200" dirty="0"/>
              <a:t>• An </a:t>
            </a:r>
            <a:r>
              <a:rPr lang="en-US" sz="2200" b="1" dirty="0"/>
              <a:t>OLED display</a:t>
            </a:r>
            <a:r>
              <a:rPr lang="en-US" sz="2200" dirty="0"/>
              <a:t> is used to show real-time parameters such as </a:t>
            </a:r>
            <a:r>
              <a:rPr lang="en-US" sz="2200" dirty="0" err="1"/>
              <a:t>temperature,light</a:t>
            </a:r>
            <a:r>
              <a:rPr lang="en-US" sz="2200" dirty="0"/>
              <a:t> intensity</a:t>
            </a:r>
          </a:p>
          <a:p>
            <a:pPr algn="just"/>
            <a:r>
              <a:rPr lang="en-US" sz="2200" dirty="0"/>
              <a:t>  (ADC value), motion status, and appliance status</a:t>
            </a:r>
          </a:p>
          <a:p>
            <a:pPr algn="just"/>
            <a:r>
              <a:rPr lang="en-US" sz="2200" dirty="0"/>
              <a:t>•  Two </a:t>
            </a:r>
            <a:r>
              <a:rPr lang="en-US" sz="2200" b="1" dirty="0"/>
              <a:t>manual switch</a:t>
            </a:r>
            <a:r>
              <a:rPr lang="en-US" sz="2200" dirty="0"/>
              <a:t> is provided to allow users to control the appliances when required</a:t>
            </a:r>
            <a:endParaRPr lang="en-US" sz="2200" b="1" dirty="0"/>
          </a:p>
          <a:p>
            <a:endParaRPr lang="en-IN" sz="2200" dirty="0"/>
          </a:p>
        </p:txBody>
      </p:sp>
      <p:sp>
        <p:nvSpPr>
          <p:cNvPr id="5" name="TextBox 4">
            <a:extLst>
              <a:ext uri="{FF2B5EF4-FFF2-40B4-BE49-F238E27FC236}">
                <a16:creationId xmlns:a16="http://schemas.microsoft.com/office/drawing/2014/main" id="{86505EB6-94F7-C33B-4D3C-296956C3076D}"/>
              </a:ext>
            </a:extLst>
          </p:cNvPr>
          <p:cNvSpPr txBox="1"/>
          <p:nvPr/>
        </p:nvSpPr>
        <p:spPr>
          <a:xfrm>
            <a:off x="293915" y="556971"/>
            <a:ext cx="6094324" cy="646331"/>
          </a:xfrm>
          <a:prstGeom prst="rect">
            <a:avLst/>
          </a:prstGeom>
          <a:noFill/>
        </p:spPr>
        <p:txBody>
          <a:bodyPr wrap="square">
            <a:spAutoFit/>
          </a:bodyPr>
          <a:lstStyle/>
          <a:p>
            <a:r>
              <a:rPr lang="en-IN" sz="3600" b="1" u="sng" dirty="0">
                <a:latin typeface="+mj-lt"/>
              </a:rPr>
              <a:t>SYSTEM DESIGN</a:t>
            </a:r>
            <a:endParaRPr lang="en-IN" sz="3600" dirty="0">
              <a:latin typeface="+mj-lt"/>
            </a:endParaRPr>
          </a:p>
        </p:txBody>
      </p:sp>
      <p:sp>
        <p:nvSpPr>
          <p:cNvPr id="4" name="TextBox 3">
            <a:extLst>
              <a:ext uri="{FF2B5EF4-FFF2-40B4-BE49-F238E27FC236}">
                <a16:creationId xmlns:a16="http://schemas.microsoft.com/office/drawing/2014/main" id="{98A5646E-85E4-BF67-F7BE-8098E02364D7}"/>
              </a:ext>
            </a:extLst>
          </p:cNvPr>
          <p:cNvSpPr txBox="1"/>
          <p:nvPr/>
        </p:nvSpPr>
        <p:spPr>
          <a:xfrm>
            <a:off x="11159261" y="180459"/>
            <a:ext cx="566057" cy="369332"/>
          </a:xfrm>
          <a:prstGeom prst="rect">
            <a:avLst/>
          </a:prstGeom>
          <a:noFill/>
        </p:spPr>
        <p:txBody>
          <a:bodyPr wrap="square">
            <a:spAutoFit/>
          </a:bodyPr>
          <a:lstStyle/>
          <a:p>
            <a:r>
              <a:rPr lang="en-US" b="1" dirty="0"/>
              <a:t>9</a:t>
            </a:r>
            <a:endParaRPr lang="en-IN" b="1" dirty="0"/>
          </a:p>
        </p:txBody>
      </p:sp>
      <p:sp>
        <p:nvSpPr>
          <p:cNvPr id="7" name="Slide Number Placeholder 6">
            <a:extLst>
              <a:ext uri="{FF2B5EF4-FFF2-40B4-BE49-F238E27FC236}">
                <a16:creationId xmlns:a16="http://schemas.microsoft.com/office/drawing/2014/main" id="{8B067877-9A15-654E-B64B-8C728C569520}"/>
              </a:ext>
            </a:extLst>
          </p:cNvPr>
          <p:cNvSpPr>
            <a:spLocks noGrp="1"/>
          </p:cNvSpPr>
          <p:nvPr>
            <p:ph type="sldNum" sz="quarter" idx="12"/>
          </p:nvPr>
        </p:nvSpPr>
        <p:spPr/>
        <p:txBody>
          <a:bodyPr/>
          <a:lstStyle/>
          <a:p>
            <a:fld id="{0E29D32D-1BC0-48D0-BB54-D1EE225F3EBD}" type="slidenum">
              <a:rPr lang="en-IN" smtClean="0"/>
              <a:t>12</a:t>
            </a:fld>
            <a:endParaRPr lang="en-IN" dirty="0"/>
          </a:p>
        </p:txBody>
      </p:sp>
    </p:spTree>
    <p:extLst>
      <p:ext uri="{BB962C8B-B14F-4D97-AF65-F5344CB8AC3E}">
        <p14:creationId xmlns:p14="http://schemas.microsoft.com/office/powerpoint/2010/main" val="4012066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85B028E8-E5D7-792C-C0FE-27EEFC6E05E4}"/>
              </a:ext>
            </a:extLst>
          </p:cNvPr>
          <p:cNvSpPr txBox="1"/>
          <p:nvPr/>
        </p:nvSpPr>
        <p:spPr>
          <a:xfrm>
            <a:off x="11159261" y="180459"/>
            <a:ext cx="566057" cy="369332"/>
          </a:xfrm>
          <a:prstGeom prst="rect">
            <a:avLst/>
          </a:prstGeom>
          <a:noFill/>
        </p:spPr>
        <p:txBody>
          <a:bodyPr wrap="square">
            <a:spAutoFit/>
          </a:bodyPr>
          <a:lstStyle/>
          <a:p>
            <a:r>
              <a:rPr lang="en-US" b="1" dirty="0"/>
              <a:t>10</a:t>
            </a:r>
            <a:endParaRPr lang="en-IN" b="1" dirty="0"/>
          </a:p>
        </p:txBody>
      </p:sp>
      <p:sp>
        <p:nvSpPr>
          <p:cNvPr id="4" name="TextBox 3">
            <a:extLst>
              <a:ext uri="{FF2B5EF4-FFF2-40B4-BE49-F238E27FC236}">
                <a16:creationId xmlns:a16="http://schemas.microsoft.com/office/drawing/2014/main" id="{B9AA5DEC-4A52-F378-F077-66BEA5A9120D}"/>
              </a:ext>
            </a:extLst>
          </p:cNvPr>
          <p:cNvSpPr txBox="1"/>
          <p:nvPr/>
        </p:nvSpPr>
        <p:spPr>
          <a:xfrm>
            <a:off x="261258" y="549791"/>
            <a:ext cx="9956444" cy="2462213"/>
          </a:xfrm>
          <a:prstGeom prst="rect">
            <a:avLst/>
          </a:prstGeom>
          <a:noFill/>
        </p:spPr>
        <p:txBody>
          <a:bodyPr wrap="none" rtlCol="0">
            <a:spAutoFit/>
          </a:bodyPr>
          <a:lstStyle/>
          <a:p>
            <a:r>
              <a:rPr lang="en-US" sz="2400" b="1" dirty="0">
                <a:latin typeface="+mj-lt"/>
              </a:rPr>
              <a:t>ESP32 Development Board</a:t>
            </a:r>
          </a:p>
          <a:p>
            <a:endParaRPr lang="en-US" sz="2400" b="1" dirty="0">
              <a:latin typeface="+mj-lt"/>
            </a:endParaRPr>
          </a:p>
          <a:p>
            <a:r>
              <a:rPr lang="en-US" sz="2200" dirty="0">
                <a:latin typeface="+mj-lt"/>
              </a:rPr>
              <a:t>• Operating voltage = 3.3 V</a:t>
            </a:r>
          </a:p>
          <a:p>
            <a:r>
              <a:rPr lang="en-US" sz="2200" dirty="0">
                <a:latin typeface="+mj-lt"/>
              </a:rPr>
              <a:t>• Used as the main controller</a:t>
            </a:r>
          </a:p>
          <a:p>
            <a:r>
              <a:rPr lang="en-US" sz="2200" dirty="0">
                <a:latin typeface="+mj-lt"/>
              </a:rPr>
              <a:t>• Reads sensor data through GPIO and ADC pins</a:t>
            </a:r>
          </a:p>
          <a:p>
            <a:r>
              <a:rPr lang="en-US" sz="2200" dirty="0">
                <a:latin typeface="+mj-lt"/>
              </a:rPr>
              <a:t>• Controls relay module and OLED display using digital signals and I2C communication</a:t>
            </a:r>
          </a:p>
          <a:p>
            <a:endParaRPr lang="en-IN" dirty="0"/>
          </a:p>
        </p:txBody>
      </p:sp>
      <p:sp>
        <p:nvSpPr>
          <p:cNvPr id="5" name="TextBox 4">
            <a:extLst>
              <a:ext uri="{FF2B5EF4-FFF2-40B4-BE49-F238E27FC236}">
                <a16:creationId xmlns:a16="http://schemas.microsoft.com/office/drawing/2014/main" id="{3FD72F76-0E26-6BEC-B923-4C7896344C33}"/>
              </a:ext>
            </a:extLst>
          </p:cNvPr>
          <p:cNvSpPr txBox="1"/>
          <p:nvPr/>
        </p:nvSpPr>
        <p:spPr>
          <a:xfrm>
            <a:off x="261258" y="2726083"/>
            <a:ext cx="9254532" cy="3939540"/>
          </a:xfrm>
          <a:prstGeom prst="rect">
            <a:avLst/>
          </a:prstGeom>
          <a:noFill/>
        </p:spPr>
        <p:txBody>
          <a:bodyPr wrap="square" rtlCol="0">
            <a:spAutoFit/>
          </a:bodyPr>
          <a:lstStyle/>
          <a:p>
            <a:endParaRPr lang="en-US" sz="2400" b="1" dirty="0">
              <a:latin typeface="+mj-lt"/>
            </a:endParaRPr>
          </a:p>
          <a:p>
            <a:r>
              <a:rPr lang="en-US" sz="2400" b="1" dirty="0">
                <a:latin typeface="+mj-lt"/>
              </a:rPr>
              <a:t>PIR Sensor (HC-SR501)</a:t>
            </a:r>
          </a:p>
          <a:p>
            <a:endParaRPr lang="en-US" sz="2400" b="1" dirty="0">
              <a:latin typeface="+mj-lt"/>
            </a:endParaRPr>
          </a:p>
          <a:p>
            <a:r>
              <a:rPr lang="en-US" sz="2200" dirty="0">
                <a:latin typeface="+mj-lt"/>
              </a:rPr>
              <a:t>• Operating voltage = 5 V</a:t>
            </a:r>
          </a:p>
          <a:p>
            <a:r>
              <a:rPr lang="en-US" sz="2200" dirty="0">
                <a:latin typeface="+mj-lt"/>
              </a:rPr>
              <a:t>• Output type = Digital</a:t>
            </a:r>
          </a:p>
          <a:p>
            <a:r>
              <a:rPr lang="en-US" sz="2200" dirty="0">
                <a:latin typeface="+mj-lt"/>
              </a:rPr>
              <a:t>• Output condition:</a:t>
            </a:r>
          </a:p>
          <a:p>
            <a:r>
              <a:rPr lang="en-US" sz="2200" dirty="0">
                <a:latin typeface="+mj-lt"/>
              </a:rPr>
              <a:t>• Motion detected → HIGH</a:t>
            </a:r>
          </a:p>
          <a:p>
            <a:r>
              <a:rPr lang="en-US" sz="2200" dirty="0">
                <a:latin typeface="+mj-lt"/>
              </a:rPr>
              <a:t>• No motion → LOW</a:t>
            </a:r>
          </a:p>
          <a:p>
            <a:r>
              <a:rPr lang="en-US" sz="2200" dirty="0">
                <a:latin typeface="+mj-lt"/>
              </a:rPr>
              <a:t>• Used to activate system operation based on human motion detection</a:t>
            </a:r>
          </a:p>
          <a:p>
            <a:r>
              <a:rPr lang="en-US" sz="2400" dirty="0"/>
              <a:t>• </a:t>
            </a:r>
            <a:r>
              <a:rPr lang="en-US" sz="2200" dirty="0"/>
              <a:t>Detection distance: </a:t>
            </a:r>
            <a:r>
              <a:rPr lang="en-US" sz="2200" b="1" dirty="0"/>
              <a:t>3 to 7 meters</a:t>
            </a:r>
          </a:p>
          <a:p>
            <a:r>
              <a:rPr lang="en-US" sz="2200" dirty="0"/>
              <a:t>• Detection angle: </a:t>
            </a:r>
            <a:r>
              <a:rPr lang="en-US" sz="2200" b="1" dirty="0"/>
              <a:t>~110° to 140°</a:t>
            </a:r>
            <a:endParaRPr lang="en-IN" sz="2200" dirty="0">
              <a:latin typeface="+mj-lt"/>
            </a:endParaRPr>
          </a:p>
        </p:txBody>
      </p:sp>
      <p:sp>
        <p:nvSpPr>
          <p:cNvPr id="6" name="Slide Number Placeholder 5">
            <a:extLst>
              <a:ext uri="{FF2B5EF4-FFF2-40B4-BE49-F238E27FC236}">
                <a16:creationId xmlns:a16="http://schemas.microsoft.com/office/drawing/2014/main" id="{960550CE-19C1-0547-DCD1-171AEBA82E2F}"/>
              </a:ext>
            </a:extLst>
          </p:cNvPr>
          <p:cNvSpPr>
            <a:spLocks noGrp="1"/>
          </p:cNvSpPr>
          <p:nvPr>
            <p:ph type="sldNum" sz="quarter" idx="12"/>
          </p:nvPr>
        </p:nvSpPr>
        <p:spPr/>
        <p:txBody>
          <a:bodyPr/>
          <a:lstStyle/>
          <a:p>
            <a:fld id="{0E29D32D-1BC0-48D0-BB54-D1EE225F3EBD}" type="slidenum">
              <a:rPr lang="en-IN" smtClean="0"/>
              <a:t>13</a:t>
            </a:fld>
            <a:endParaRPr lang="en-IN" dirty="0"/>
          </a:p>
        </p:txBody>
      </p:sp>
    </p:spTree>
    <p:extLst>
      <p:ext uri="{BB962C8B-B14F-4D97-AF65-F5344CB8AC3E}">
        <p14:creationId xmlns:p14="http://schemas.microsoft.com/office/powerpoint/2010/main" val="973616488"/>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8F08A54-66A9-7360-145A-71EE44802B71}"/>
                  </a:ext>
                </a:extLst>
              </p:cNvPr>
              <p:cNvSpPr txBox="1"/>
              <p:nvPr/>
            </p:nvSpPr>
            <p:spPr>
              <a:xfrm>
                <a:off x="340636" y="483449"/>
                <a:ext cx="11506371" cy="6145272"/>
              </a:xfrm>
              <a:prstGeom prst="rect">
                <a:avLst/>
              </a:prstGeom>
              <a:noFill/>
            </p:spPr>
            <p:txBody>
              <a:bodyPr wrap="square" rtlCol="0">
                <a:spAutoFit/>
              </a:bodyPr>
              <a:lstStyle/>
              <a:p>
                <a:pPr algn="just"/>
                <a:r>
                  <a:rPr lang="en-IN" sz="2200" b="1" dirty="0">
                    <a:latin typeface="+mj-lt"/>
                  </a:rPr>
                  <a:t>LDR Sensor (GL5528)</a:t>
                </a:r>
              </a:p>
              <a:p>
                <a:pPr algn="just"/>
                <a:endParaRPr lang="en-IN" sz="2200" b="1" dirty="0">
                  <a:latin typeface="+mj-lt"/>
                </a:endParaRPr>
              </a:p>
              <a:p>
                <a:pPr algn="just"/>
                <a:r>
                  <a:rPr lang="en-US" sz="2200" dirty="0">
                    <a:latin typeface="+mj-lt"/>
                  </a:rPr>
                  <a:t>• </a:t>
                </a:r>
                <a:r>
                  <a:rPr lang="en-IN" sz="2200" dirty="0">
                    <a:latin typeface="+mj-lt"/>
                  </a:rPr>
                  <a:t>Works using voltage divider principle:</a:t>
                </a:r>
              </a:p>
              <a:p>
                <a:pPr algn="just"/>
                <a:r>
                  <a:rPr lang="pt-BR" sz="2200" dirty="0">
                    <a:latin typeface="+mj-lt"/>
                  </a:rPr>
                  <a:t>	</a:t>
                </a:r>
                <a:r>
                  <a:rPr lang="en-IN" sz="2200" dirty="0">
                    <a:latin typeface="+mj-lt"/>
                  </a:rPr>
                  <a:t> </a:t>
                </a:r>
                <a:r>
                  <a:rPr lang="pt-BR" sz="2200" dirty="0">
                    <a:latin typeface="+mj-lt"/>
                  </a:rPr>
                  <a:t>Vout​=Vin​×R/(R+​R​LDR)</a:t>
                </a:r>
                <a:endParaRPr lang="en-IN" sz="2200" dirty="0">
                  <a:latin typeface="+mj-lt"/>
                </a:endParaRPr>
              </a:p>
              <a:p>
                <a:pPr algn="just"/>
                <a:r>
                  <a:rPr lang="en-IN" sz="2200" dirty="0">
                    <a:latin typeface="+mj-lt"/>
                  </a:rPr>
                  <a:t>• Vin = 3.3 V</a:t>
                </a:r>
              </a:p>
              <a:p>
                <a:pPr algn="just"/>
                <a:r>
                  <a:rPr lang="en-IN" sz="2200" dirty="0">
                    <a:latin typeface="+mj-lt"/>
                  </a:rPr>
                  <a:t>• Output read using ADC pin of ESP32</a:t>
                </a:r>
              </a:p>
              <a:p>
                <a:pPr algn="just"/>
                <a:r>
                  <a:rPr lang="en-IN" sz="2200" dirty="0">
                    <a:latin typeface="+mj-lt"/>
                  </a:rPr>
                  <a:t>• Threshold selected experimentally for automatic light control</a:t>
                </a:r>
              </a:p>
              <a:p>
                <a:pPr algn="just"/>
                <a:r>
                  <a:rPr lang="en-US" sz="2200" dirty="0">
                    <a:latin typeface="+mj-lt"/>
                  </a:rPr>
                  <a:t>• </a:t>
                </a:r>
                <a:r>
                  <a:rPr lang="en-IN" sz="2200" dirty="0">
                    <a:latin typeface="+mj-lt"/>
                  </a:rPr>
                  <a:t>Condition:</a:t>
                </a:r>
              </a:p>
              <a:p>
                <a:pPr algn="just"/>
                <a:r>
                  <a:rPr lang="en-IN" sz="2200" dirty="0">
                    <a:latin typeface="+mj-lt"/>
                  </a:rPr>
                  <a:t>		Low light → Light ON</a:t>
                </a:r>
              </a:p>
              <a:p>
                <a:pPr algn="just"/>
                <a:r>
                  <a:rPr lang="en-IN" sz="2200" dirty="0">
                    <a:latin typeface="+mj-lt"/>
                  </a:rPr>
                  <a:t>		High light → Light OFF</a:t>
                </a:r>
              </a:p>
              <a:p>
                <a:pPr algn="just"/>
                <a:r>
                  <a:rPr lang="en-US" sz="2200" dirty="0">
                    <a:latin typeface="+mj-lt"/>
                  </a:rPr>
                  <a:t>• The analog voltage is converted into digital value using ESP32 ADC(12-bit resolution: 0 – 4095)</a:t>
                </a:r>
                <a:endParaRPr lang="en-IN" sz="2200" dirty="0">
                  <a:latin typeface="+mj-lt"/>
                </a:endParaRPr>
              </a:p>
              <a:p>
                <a:pPr algn="just"/>
                <a:r>
                  <a:rPr lang="en-US" sz="2200" dirty="0">
                    <a:latin typeface="+mj-lt"/>
                  </a:rPr>
                  <a:t>• Threshold is selected experimentally based on room condition</a:t>
                </a:r>
              </a:p>
              <a:p>
                <a:r>
                  <a:rPr lang="en-US" sz="2200" dirty="0"/>
                  <a:t>• </a:t>
                </a:r>
                <a:r>
                  <a:rPr lang="en-IN" sz="2200" dirty="0">
                    <a:latin typeface="+mj-lt"/>
                  </a:rPr>
                  <a:t>ADC threshold = 1600 </a:t>
                </a:r>
              </a:p>
              <a:p>
                <a:r>
                  <a:rPr lang="en-US" sz="2200" dirty="0"/>
                  <a:t>• </a:t>
                </a:r>
                <a:r>
                  <a:rPr lang="en-IN" sz="2200" dirty="0">
                    <a:latin typeface="+mj-lt"/>
                  </a:rPr>
                  <a:t>ADC resolution = 12-bit = 4095 </a:t>
                </a:r>
              </a:p>
              <a:p>
                <a:r>
                  <a:rPr lang="en-US" sz="2200" dirty="0"/>
                  <a:t>• </a:t>
                </a:r>
                <a:r>
                  <a:rPr lang="en-IN" sz="2200" dirty="0">
                    <a:latin typeface="+mj-lt"/>
                  </a:rPr>
                  <a:t>Using ADC formula:</a:t>
                </a:r>
              </a:p>
              <a:p>
                <a:pPr/>
                <a14:m>
                  <m:oMathPara xmlns:m="http://schemas.openxmlformats.org/officeDocument/2006/math">
                    <m:oMath>
                      <m:sSub>
                        <m:sSubPr>
                          <m:ctrlPr>
                            <a:rPr lang="ar-AE" sz="2200" i="1">
                              <a:latin typeface="Cambria Math" panose="02040503050406030204" pitchFamily="18" charset="0"/>
                            </a:rPr>
                          </m:ctrlPr>
                        </m:sSubPr>
                        <m:e>
                          <m:r>
                            <a:rPr lang="ar-AE" sz="2200" i="1">
                              <a:latin typeface="Cambria Math" panose="02040503050406030204" pitchFamily="18" charset="0"/>
                            </a:rPr>
                            <m:t>𝑉</m:t>
                          </m:r>
                        </m:e>
                        <m:sub>
                          <m:r>
                            <a:rPr lang="ar-AE" sz="2200" i="1">
                              <a:latin typeface="Cambria Math" panose="02040503050406030204" pitchFamily="18" charset="0"/>
                            </a:rPr>
                            <m:t>𝑜𝑢𝑡</m:t>
                          </m:r>
                        </m:sub>
                      </m:sSub>
                      <m:r>
                        <a:rPr lang="ar-AE" sz="2200">
                          <a:latin typeface="Cambria Math" panose="02040503050406030204" pitchFamily="18" charset="0"/>
                        </a:rPr>
                        <m:t>=</m:t>
                      </m:r>
                      <m:f>
                        <m:fPr>
                          <m:ctrlPr>
                            <a:rPr lang="ar-AE" sz="2200" i="1">
                              <a:latin typeface="Cambria Math" panose="02040503050406030204" pitchFamily="18" charset="0"/>
                            </a:rPr>
                          </m:ctrlPr>
                        </m:fPr>
                        <m:num>
                          <m:r>
                            <a:rPr lang="ar-AE" sz="2200" i="1">
                              <a:latin typeface="Cambria Math" panose="02040503050406030204" pitchFamily="18" charset="0"/>
                            </a:rPr>
                            <m:t>𝐴𝐷𝐶</m:t>
                          </m:r>
                        </m:num>
                        <m:den>
                          <m:r>
                            <a:rPr lang="ar-AE" sz="2200">
                              <a:latin typeface="Cambria Math" panose="02040503050406030204" pitchFamily="18" charset="0"/>
                            </a:rPr>
                            <m:t>4095</m:t>
                          </m:r>
                        </m:den>
                      </m:f>
                      <m:r>
                        <a:rPr lang="ar-AE" sz="2200">
                          <a:latin typeface="Cambria Math" panose="02040503050406030204" pitchFamily="18" charset="0"/>
                        </a:rPr>
                        <m:t>×3.3</m:t>
                      </m:r>
                    </m:oMath>
                  </m:oMathPara>
                </a14:m>
                <a:endParaRPr lang="ar-AE" sz="2200" dirty="0">
                  <a:latin typeface="+mj-lt"/>
                </a:endParaRPr>
              </a:p>
              <a:p>
                <a:pPr algn="just"/>
                <a:endParaRPr lang="en-IN" sz="2200" dirty="0">
                  <a:latin typeface="+mj-lt"/>
                </a:endParaRPr>
              </a:p>
            </p:txBody>
          </p:sp>
        </mc:Choice>
        <mc:Fallback xmlns="">
          <p:sp>
            <p:nvSpPr>
              <p:cNvPr id="3" name="TextBox 2">
                <a:extLst>
                  <a:ext uri="{FF2B5EF4-FFF2-40B4-BE49-F238E27FC236}">
                    <a16:creationId xmlns:a16="http://schemas.microsoft.com/office/drawing/2014/main" id="{E8F08A54-66A9-7360-145A-71EE44802B71}"/>
                  </a:ext>
                </a:extLst>
              </p:cNvPr>
              <p:cNvSpPr txBox="1">
                <a:spLocks noRot="1" noChangeAspect="1" noMove="1" noResize="1" noEditPoints="1" noAdjustHandles="1" noChangeArrowheads="1" noChangeShapeType="1" noTextEdit="1"/>
              </p:cNvSpPr>
              <p:nvPr/>
            </p:nvSpPr>
            <p:spPr>
              <a:xfrm>
                <a:off x="340636" y="483449"/>
                <a:ext cx="11506371" cy="6145272"/>
              </a:xfrm>
              <a:prstGeom prst="rect">
                <a:avLst/>
              </a:prstGeom>
              <a:blipFill>
                <a:blip r:embed="rId2"/>
                <a:stretch>
                  <a:fillRect l="-689" t="-595"/>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E2982AB0-ADC8-2709-B147-6C5690C68696}"/>
              </a:ext>
            </a:extLst>
          </p:cNvPr>
          <p:cNvSpPr txBox="1"/>
          <p:nvPr/>
        </p:nvSpPr>
        <p:spPr>
          <a:xfrm>
            <a:off x="11159261" y="180459"/>
            <a:ext cx="566057" cy="369332"/>
          </a:xfrm>
          <a:prstGeom prst="rect">
            <a:avLst/>
          </a:prstGeom>
          <a:noFill/>
        </p:spPr>
        <p:txBody>
          <a:bodyPr wrap="square">
            <a:spAutoFit/>
          </a:bodyPr>
          <a:lstStyle/>
          <a:p>
            <a:r>
              <a:rPr lang="en-US" b="1" dirty="0"/>
              <a:t>11</a:t>
            </a:r>
            <a:endParaRPr lang="en-IN" b="1" dirty="0"/>
          </a:p>
        </p:txBody>
      </p:sp>
      <p:sp>
        <p:nvSpPr>
          <p:cNvPr id="6" name="Slide Number Placeholder 5">
            <a:extLst>
              <a:ext uri="{FF2B5EF4-FFF2-40B4-BE49-F238E27FC236}">
                <a16:creationId xmlns:a16="http://schemas.microsoft.com/office/drawing/2014/main" id="{F5BA5DC9-D49F-4C51-C496-392BF5C80FC2}"/>
              </a:ext>
            </a:extLst>
          </p:cNvPr>
          <p:cNvSpPr>
            <a:spLocks noGrp="1"/>
          </p:cNvSpPr>
          <p:nvPr>
            <p:ph type="sldNum" sz="quarter" idx="12"/>
          </p:nvPr>
        </p:nvSpPr>
        <p:spPr/>
        <p:txBody>
          <a:bodyPr/>
          <a:lstStyle/>
          <a:p>
            <a:fld id="{0E29D32D-1BC0-48D0-BB54-D1EE225F3EBD}" type="slidenum">
              <a:rPr lang="en-IN" smtClean="0"/>
              <a:t>14</a:t>
            </a:fld>
            <a:endParaRPr lang="en-IN" dirty="0"/>
          </a:p>
        </p:txBody>
      </p:sp>
    </p:spTree>
    <p:extLst>
      <p:ext uri="{BB962C8B-B14F-4D97-AF65-F5344CB8AC3E}">
        <p14:creationId xmlns:p14="http://schemas.microsoft.com/office/powerpoint/2010/main" val="31315389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12D7D2-A4AB-EC27-1CBB-7AAA9C2DAFAF}"/>
              </a:ext>
            </a:extLst>
          </p:cNvPr>
          <p:cNvSpPr>
            <a:spLocks noGrp="1"/>
          </p:cNvSpPr>
          <p:nvPr>
            <p:ph type="sldNum" sz="quarter" idx="12"/>
          </p:nvPr>
        </p:nvSpPr>
        <p:spPr/>
        <p:txBody>
          <a:bodyPr/>
          <a:lstStyle/>
          <a:p>
            <a:fld id="{0E29D32D-1BC0-48D0-BB54-D1EE225F3EBD}" type="slidenum">
              <a:rPr lang="en-IN" smtClean="0"/>
              <a:t>15</a:t>
            </a:fld>
            <a:endParaRPr lang="en-IN"/>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603A8C5-8B1C-B59A-04FA-4EC5EFF30247}"/>
                  </a:ext>
                </a:extLst>
              </p:cNvPr>
              <p:cNvSpPr txBox="1"/>
              <p:nvPr/>
            </p:nvSpPr>
            <p:spPr>
              <a:xfrm>
                <a:off x="560994" y="395498"/>
                <a:ext cx="9947870" cy="6194196"/>
              </a:xfrm>
              <a:prstGeom prst="rect">
                <a:avLst/>
              </a:prstGeom>
              <a:noFill/>
            </p:spPr>
            <p:txBody>
              <a:bodyPr wrap="square" rtlCol="0">
                <a:spAutoFit/>
              </a:bodyPr>
              <a:lstStyle/>
              <a:p>
                <a:r>
                  <a:rPr lang="en-US" sz="2200" dirty="0"/>
                  <a:t>• </a:t>
                </a:r>
                <a:r>
                  <a:rPr lang="en-IN" sz="2200" dirty="0"/>
                  <a:t>Voltage divider equation:</a:t>
                </a:r>
              </a:p>
              <a:p>
                <a:pPr/>
                <a14:m>
                  <m:oMathPara xmlns:m="http://schemas.openxmlformats.org/officeDocument/2006/math">
                    <m:oMath>
                      <m:sSub>
                        <m:sSubPr>
                          <m:ctrlPr>
                            <a:rPr lang="ar-AE" sz="2200" i="1">
                              <a:latin typeface="Cambria Math" panose="02040503050406030204" pitchFamily="18" charset="0"/>
                            </a:rPr>
                          </m:ctrlPr>
                        </m:sSubPr>
                        <m:e>
                          <m:r>
                            <a:rPr lang="ar-AE" sz="2200" i="1">
                              <a:latin typeface="Cambria Math" panose="02040503050406030204" pitchFamily="18" charset="0"/>
                            </a:rPr>
                            <m:t>𝑅</m:t>
                          </m:r>
                        </m:e>
                        <m:sub>
                          <m:r>
                            <a:rPr lang="ar-AE" sz="2200" i="1">
                              <a:latin typeface="Cambria Math" panose="02040503050406030204" pitchFamily="18" charset="0"/>
                            </a:rPr>
                            <m:t>𝐿𝐷𝑅</m:t>
                          </m:r>
                        </m:sub>
                      </m:sSub>
                      <m:r>
                        <a:rPr lang="ar-AE" sz="2200">
                          <a:latin typeface="Cambria Math" panose="02040503050406030204" pitchFamily="18" charset="0"/>
                        </a:rPr>
                        <m:t>=</m:t>
                      </m:r>
                      <m:r>
                        <a:rPr lang="ar-AE" sz="2200" i="1">
                          <a:latin typeface="Cambria Math" panose="02040503050406030204" pitchFamily="18" charset="0"/>
                        </a:rPr>
                        <m:t>𝑅</m:t>
                      </m:r>
                      <m:d>
                        <m:dPr>
                          <m:ctrlPr>
                            <a:rPr lang="ar-AE" sz="2200" i="1">
                              <a:latin typeface="Cambria Math" panose="02040503050406030204" pitchFamily="18" charset="0"/>
                            </a:rPr>
                          </m:ctrlPr>
                        </m:dPr>
                        <m:e>
                          <m:f>
                            <m:fPr>
                              <m:ctrlPr>
                                <a:rPr lang="ar-AE" sz="2200" i="1">
                                  <a:latin typeface="Cambria Math" panose="02040503050406030204" pitchFamily="18" charset="0"/>
                                </a:rPr>
                              </m:ctrlPr>
                            </m:fPr>
                            <m:num>
                              <m:sSub>
                                <m:sSubPr>
                                  <m:ctrlPr>
                                    <a:rPr lang="ar-AE" sz="2200" i="1">
                                      <a:latin typeface="Cambria Math" panose="02040503050406030204" pitchFamily="18" charset="0"/>
                                    </a:rPr>
                                  </m:ctrlPr>
                                </m:sSubPr>
                                <m:e>
                                  <m:r>
                                    <a:rPr lang="ar-AE" sz="2200" i="1">
                                      <a:latin typeface="Cambria Math" panose="02040503050406030204" pitchFamily="18" charset="0"/>
                                    </a:rPr>
                                    <m:t>𝑉</m:t>
                                  </m:r>
                                </m:e>
                                <m:sub>
                                  <m:r>
                                    <a:rPr lang="ar-AE" sz="2200" i="1">
                                      <a:latin typeface="Cambria Math" panose="02040503050406030204" pitchFamily="18" charset="0"/>
                                    </a:rPr>
                                    <m:t>𝑖𝑛</m:t>
                                  </m:r>
                                </m:sub>
                              </m:sSub>
                            </m:num>
                            <m:den>
                              <m:sSub>
                                <m:sSubPr>
                                  <m:ctrlPr>
                                    <a:rPr lang="ar-AE" sz="2200" i="1">
                                      <a:latin typeface="Cambria Math" panose="02040503050406030204" pitchFamily="18" charset="0"/>
                                    </a:rPr>
                                  </m:ctrlPr>
                                </m:sSubPr>
                                <m:e>
                                  <m:r>
                                    <a:rPr lang="ar-AE" sz="2200" i="1">
                                      <a:latin typeface="Cambria Math" panose="02040503050406030204" pitchFamily="18" charset="0"/>
                                    </a:rPr>
                                    <m:t>𝑉</m:t>
                                  </m:r>
                                </m:e>
                                <m:sub>
                                  <m:r>
                                    <a:rPr lang="ar-AE" sz="2200" i="1">
                                      <a:latin typeface="Cambria Math" panose="02040503050406030204" pitchFamily="18" charset="0"/>
                                    </a:rPr>
                                    <m:t>𝑜𝑢𝑡</m:t>
                                  </m:r>
                                </m:sub>
                              </m:sSub>
                            </m:den>
                          </m:f>
                          <m:r>
                            <a:rPr lang="ar-AE" sz="2200">
                              <a:latin typeface="Cambria Math" panose="02040503050406030204" pitchFamily="18" charset="0"/>
                            </a:rPr>
                            <m:t>−1</m:t>
                          </m:r>
                        </m:e>
                      </m:d>
                    </m:oMath>
                  </m:oMathPara>
                </a14:m>
                <a:endParaRPr lang="ar-AE" sz="2200" dirty="0"/>
              </a:p>
              <a:p>
                <a:r>
                  <a:rPr lang="en-IN" sz="2200" dirty="0"/>
                  <a:t>   Where:</a:t>
                </a:r>
              </a:p>
              <a:p>
                <a:r>
                  <a:rPr lang="en-IN" sz="2200" dirty="0"/>
                  <a:t>        Fixed resistor </a:t>
                </a:r>
                <a14:m>
                  <m:oMath xmlns:m="http://schemas.openxmlformats.org/officeDocument/2006/math">
                    <m:r>
                      <a:rPr lang="en-IN" sz="2200" i="1">
                        <a:latin typeface="Cambria Math" panose="02040503050406030204" pitchFamily="18" charset="0"/>
                      </a:rPr>
                      <m:t>𝑅</m:t>
                    </m:r>
                    <m:r>
                      <a:rPr lang="en-IN" sz="2200">
                        <a:latin typeface="Cambria Math" panose="02040503050406030204" pitchFamily="18" charset="0"/>
                      </a:rPr>
                      <m:t>=10</m:t>
                    </m:r>
                    <m:r>
                      <a:rPr lang="en-IN" sz="2200" i="1">
                        <a:latin typeface="Cambria Math" panose="02040503050406030204" pitchFamily="18" charset="0"/>
                      </a:rPr>
                      <m:t>𝑘</m:t>
                    </m:r>
                    <m:r>
                      <m:rPr>
                        <m:sty m:val="p"/>
                      </m:rPr>
                      <a:rPr lang="el-GR" sz="2200">
                        <a:latin typeface="Cambria Math" panose="02040503050406030204" pitchFamily="18" charset="0"/>
                      </a:rPr>
                      <m:t>Ω</m:t>
                    </m:r>
                  </m:oMath>
                </a14:m>
                <a:endParaRPr lang="el-GR" sz="2200" dirty="0"/>
              </a:p>
              <a:p>
                <a:pPr/>
                <a14:m>
                  <m:oMathPara xmlns:m="http://schemas.openxmlformats.org/officeDocument/2006/math">
                    <m:oMath>
                      <m:sSub>
                        <m:sSubPr>
                          <m:ctrlPr>
                            <a:rPr lang="ar-AE" sz="2200" i="1">
                              <a:latin typeface="Cambria Math" panose="02040503050406030204" pitchFamily="18" charset="0"/>
                            </a:rPr>
                          </m:ctrlPr>
                        </m:sSubPr>
                        <m:e>
                          <m:r>
                            <a:rPr lang="ar-AE" sz="2200" i="1">
                              <a:latin typeface="Cambria Math" panose="02040503050406030204" pitchFamily="18" charset="0"/>
                            </a:rPr>
                            <m:t>𝑉</m:t>
                          </m:r>
                        </m:e>
                        <m:sub>
                          <m:r>
                            <a:rPr lang="ar-AE" sz="2200" i="1">
                              <a:latin typeface="Cambria Math" panose="02040503050406030204" pitchFamily="18" charset="0"/>
                            </a:rPr>
                            <m:t>𝑖𝑛</m:t>
                          </m:r>
                        </m:sub>
                      </m:sSub>
                      <m:r>
                        <a:rPr lang="ar-AE" sz="2200">
                          <a:latin typeface="Cambria Math" panose="02040503050406030204" pitchFamily="18" charset="0"/>
                        </a:rPr>
                        <m:t>=3.3</m:t>
                      </m:r>
                      <m:r>
                        <a:rPr lang="ar-AE" sz="2200" i="1">
                          <a:latin typeface="Cambria Math" panose="02040503050406030204" pitchFamily="18" charset="0"/>
                        </a:rPr>
                        <m:t>𝑉</m:t>
                      </m:r>
                    </m:oMath>
                  </m:oMathPara>
                </a14:m>
                <a:endParaRPr lang="ar-AE" sz="2200" dirty="0"/>
              </a:p>
              <a:p>
                <a:pPr/>
                <a14:m>
                  <m:oMathPara xmlns:m="http://schemas.openxmlformats.org/officeDocument/2006/math">
                    <m:oMath>
                      <m:sSub>
                        <m:sSubPr>
                          <m:ctrlPr>
                            <a:rPr lang="ar-AE" sz="2200" i="1">
                              <a:latin typeface="Cambria Math" panose="02040503050406030204" pitchFamily="18" charset="0"/>
                            </a:rPr>
                          </m:ctrlPr>
                        </m:sSubPr>
                        <m:e>
                          <m:r>
                            <a:rPr lang="ar-AE" sz="2200" i="1">
                              <a:latin typeface="Cambria Math" panose="02040503050406030204" pitchFamily="18" charset="0"/>
                            </a:rPr>
                            <m:t>𝑉</m:t>
                          </m:r>
                        </m:e>
                        <m:sub>
                          <m:r>
                            <a:rPr lang="ar-AE" sz="2200" i="1">
                              <a:latin typeface="Cambria Math" panose="02040503050406030204" pitchFamily="18" charset="0"/>
                            </a:rPr>
                            <m:t>𝑜𝑢𝑡</m:t>
                          </m:r>
                        </m:sub>
                      </m:sSub>
                      <m:r>
                        <a:rPr lang="ar-AE" sz="2200">
                          <a:latin typeface="Cambria Math" panose="02040503050406030204" pitchFamily="18" charset="0"/>
                        </a:rPr>
                        <m:t>=1.29</m:t>
                      </m:r>
                      <m:r>
                        <a:rPr lang="ar-AE" sz="2200" i="1">
                          <a:latin typeface="Cambria Math" panose="02040503050406030204" pitchFamily="18" charset="0"/>
                        </a:rPr>
                        <m:t>𝑉</m:t>
                      </m:r>
                    </m:oMath>
                  </m:oMathPara>
                </a14:m>
                <a:endParaRPr lang="en-IN" sz="2200" i="1" dirty="0"/>
              </a:p>
              <a:p>
                <a:endParaRPr lang="pt-BR" sz="2200" i="1" dirty="0">
                  <a:latin typeface="Cambria Math" panose="02040503050406030204" pitchFamily="18" charset="0"/>
                </a:endParaRPr>
              </a:p>
              <a:p>
                <a:pPr/>
                <a14:m>
                  <m:oMathPara xmlns:m="http://schemas.openxmlformats.org/officeDocument/2006/math">
                    <m:oMath>
                      <m:r>
                        <a:rPr lang="pt-BR" sz="2200" i="1" smtClean="0">
                          <a:latin typeface="Cambria Math" panose="02040503050406030204" pitchFamily="18" charset="0"/>
                        </a:rPr>
                        <m:t>𝐿𝑢𝑥</m:t>
                      </m:r>
                      <m:r>
                        <a:rPr lang="pt-BR" sz="2200" i="1" smtClean="0">
                          <a:latin typeface="Cambria Math" panose="02040503050406030204" pitchFamily="18" charset="0"/>
                        </a:rPr>
                        <m:t>=</m:t>
                      </m:r>
                      <m:sSup>
                        <m:sSupPr>
                          <m:ctrlPr>
                            <a:rPr lang="pt-BR" sz="2200" i="1">
                              <a:latin typeface="Cambria Math" panose="02040503050406030204" pitchFamily="18" charset="0"/>
                            </a:rPr>
                          </m:ctrlPr>
                        </m:sSupPr>
                        <m:e>
                          <m:d>
                            <m:dPr>
                              <m:ctrlPr>
                                <a:rPr lang="pt-BR" sz="2200" i="1">
                                  <a:latin typeface="Cambria Math" panose="02040503050406030204" pitchFamily="18" charset="0"/>
                                </a:rPr>
                              </m:ctrlPr>
                            </m:dPr>
                            <m:e>
                              <m:f>
                                <m:fPr>
                                  <m:ctrlPr>
                                    <a:rPr lang="pt-BR" sz="2200" i="1">
                                      <a:latin typeface="Cambria Math" panose="02040503050406030204" pitchFamily="18" charset="0"/>
                                    </a:rPr>
                                  </m:ctrlPr>
                                </m:fPr>
                                <m:num>
                                  <m:r>
                                    <a:rPr lang="pt-BR" sz="2200" i="1">
                                      <a:latin typeface="Cambria Math" panose="02040503050406030204" pitchFamily="18" charset="0"/>
                                    </a:rPr>
                                    <m:t>500</m:t>
                                  </m:r>
                                </m:num>
                                <m:den>
                                  <m:sSub>
                                    <m:sSubPr>
                                      <m:ctrlPr>
                                        <a:rPr lang="pt-BR" sz="2200" i="1">
                                          <a:latin typeface="Cambria Math" panose="02040503050406030204" pitchFamily="18" charset="0"/>
                                        </a:rPr>
                                      </m:ctrlPr>
                                    </m:sSubPr>
                                    <m:e>
                                      <m:r>
                                        <a:rPr lang="pt-BR" sz="2200" i="1">
                                          <a:latin typeface="Cambria Math" panose="02040503050406030204" pitchFamily="18" charset="0"/>
                                        </a:rPr>
                                        <m:t>𝑅</m:t>
                                      </m:r>
                                    </m:e>
                                    <m:sub>
                                      <m:d>
                                        <m:dPr>
                                          <m:begChr m:val="{"/>
                                          <m:endChr m:val="}"/>
                                          <m:ctrlPr>
                                            <a:rPr lang="pt-BR" sz="2200" i="1">
                                              <a:latin typeface="Cambria Math" panose="02040503050406030204" pitchFamily="18" charset="0"/>
                                            </a:rPr>
                                          </m:ctrlPr>
                                        </m:dPr>
                                        <m:e>
                                          <m:r>
                                            <a:rPr lang="pt-BR" sz="2200" i="1">
                                              <a:latin typeface="Cambria Math" panose="02040503050406030204" pitchFamily="18" charset="0"/>
                                            </a:rPr>
                                            <m:t>𝐿𝐷𝑅</m:t>
                                          </m:r>
                                        </m:e>
                                      </m:d>
                                    </m:sub>
                                  </m:sSub>
                                </m:den>
                              </m:f>
                            </m:e>
                          </m:d>
                        </m:e>
                        <m:sup>
                          <m:d>
                            <m:dPr>
                              <m:begChr m:val="{"/>
                              <m:endChr m:val="}"/>
                              <m:ctrlPr>
                                <a:rPr lang="pt-BR" sz="2200" i="1">
                                  <a:latin typeface="Cambria Math" panose="02040503050406030204" pitchFamily="18" charset="0"/>
                                </a:rPr>
                              </m:ctrlPr>
                            </m:dPr>
                            <m:e>
                              <m:r>
                                <a:rPr lang="pt-BR" sz="2200" i="1">
                                  <a:latin typeface="Cambria Math" panose="02040503050406030204" pitchFamily="18" charset="0"/>
                                </a:rPr>
                                <m:t>1.4</m:t>
                              </m:r>
                            </m:e>
                          </m:d>
                        </m:sup>
                      </m:sSup>
                    </m:oMath>
                  </m:oMathPara>
                </a14:m>
                <a:endParaRPr lang="ar-AE" sz="2200" dirty="0"/>
              </a:p>
              <a:p>
                <a:endParaRPr lang="en-IN" sz="2200" dirty="0"/>
              </a:p>
              <a:p>
                <a:r>
                  <a:rPr lang="en-IN" sz="2200" dirty="0"/>
                  <a:t>        Substitute:</a:t>
                </a:r>
              </a:p>
              <a:p>
                <a:pPr/>
                <a14:m>
                  <m:oMathPara xmlns:m="http://schemas.openxmlformats.org/officeDocument/2006/math">
                    <m:oMath>
                      <m:sSub>
                        <m:sSubPr>
                          <m:ctrlPr>
                            <a:rPr lang="ar-AE" sz="2200" i="1">
                              <a:latin typeface="Cambria Math" panose="02040503050406030204" pitchFamily="18" charset="0"/>
                            </a:rPr>
                          </m:ctrlPr>
                        </m:sSubPr>
                        <m:e>
                          <m:r>
                            <a:rPr lang="ar-AE" sz="2200" i="1">
                              <a:latin typeface="Cambria Math" panose="02040503050406030204" pitchFamily="18" charset="0"/>
                            </a:rPr>
                            <m:t>𝑅</m:t>
                          </m:r>
                        </m:e>
                        <m:sub>
                          <m:r>
                            <a:rPr lang="ar-AE" sz="2200" i="1">
                              <a:latin typeface="Cambria Math" panose="02040503050406030204" pitchFamily="18" charset="0"/>
                            </a:rPr>
                            <m:t>𝐿𝐷𝑅</m:t>
                          </m:r>
                        </m:sub>
                      </m:sSub>
                      <m:r>
                        <a:rPr lang="ar-AE" sz="2200">
                          <a:latin typeface="Cambria Math" panose="02040503050406030204" pitchFamily="18" charset="0"/>
                        </a:rPr>
                        <m:t>=10</m:t>
                      </m:r>
                      <m:r>
                        <a:rPr lang="ar-AE" sz="2200" i="1">
                          <a:latin typeface="Cambria Math" panose="02040503050406030204" pitchFamily="18" charset="0"/>
                        </a:rPr>
                        <m:t>𝑘</m:t>
                      </m:r>
                      <m:d>
                        <m:dPr>
                          <m:ctrlPr>
                            <a:rPr lang="ar-AE" sz="2200" i="1">
                              <a:latin typeface="Cambria Math" panose="02040503050406030204" pitchFamily="18" charset="0"/>
                            </a:rPr>
                          </m:ctrlPr>
                        </m:dPr>
                        <m:e>
                          <m:f>
                            <m:fPr>
                              <m:ctrlPr>
                                <a:rPr lang="ar-AE" sz="2200">
                                  <a:latin typeface="Cambria Math" panose="02040503050406030204" pitchFamily="18" charset="0"/>
                                </a:rPr>
                              </m:ctrlPr>
                            </m:fPr>
                            <m:num>
                              <m:r>
                                <a:rPr lang="ar-AE" sz="2200">
                                  <a:latin typeface="Cambria Math" panose="02040503050406030204" pitchFamily="18" charset="0"/>
                                </a:rPr>
                                <m:t>3.3</m:t>
                              </m:r>
                            </m:num>
                            <m:den>
                              <m:r>
                                <a:rPr lang="ar-AE" sz="2200">
                                  <a:latin typeface="Cambria Math" panose="02040503050406030204" pitchFamily="18" charset="0"/>
                                </a:rPr>
                                <m:t>1.29</m:t>
                              </m:r>
                            </m:den>
                          </m:f>
                          <m:r>
                            <a:rPr lang="ar-AE" sz="2200">
                              <a:latin typeface="Cambria Math" panose="02040503050406030204" pitchFamily="18" charset="0"/>
                            </a:rPr>
                            <m:t>−1</m:t>
                          </m:r>
                        </m:e>
                      </m:d>
                    </m:oMath>
                  </m:oMathPara>
                </a14:m>
                <a:endParaRPr lang="ar-AE" sz="2200" dirty="0"/>
              </a:p>
              <a:p>
                <a:pPr/>
                <a14:m>
                  <m:oMathPara xmlns:m="http://schemas.openxmlformats.org/officeDocument/2006/math">
                    <m:oMath>
                      <m:sSub>
                        <m:sSubPr>
                          <m:ctrlPr>
                            <a:rPr lang="ar-AE" sz="2200" i="1">
                              <a:latin typeface="Cambria Math" panose="02040503050406030204" pitchFamily="18" charset="0"/>
                            </a:rPr>
                          </m:ctrlPr>
                        </m:sSubPr>
                        <m:e>
                          <m:r>
                            <a:rPr lang="ar-AE" sz="2200" i="1">
                              <a:latin typeface="Cambria Math" panose="02040503050406030204" pitchFamily="18" charset="0"/>
                            </a:rPr>
                            <m:t>𝑅</m:t>
                          </m:r>
                        </m:e>
                        <m:sub>
                          <m:r>
                            <a:rPr lang="ar-AE" sz="2200" i="1">
                              <a:latin typeface="Cambria Math" panose="02040503050406030204" pitchFamily="18" charset="0"/>
                            </a:rPr>
                            <m:t>𝐿𝐷𝑅</m:t>
                          </m:r>
                        </m:sub>
                      </m:sSub>
                      <m:r>
                        <a:rPr lang="ar-AE" sz="2200">
                          <a:latin typeface="Cambria Math" panose="02040503050406030204" pitchFamily="18" charset="0"/>
                        </a:rPr>
                        <m:t>=10</m:t>
                      </m:r>
                      <m:r>
                        <a:rPr lang="ar-AE" sz="2200" i="1">
                          <a:latin typeface="Cambria Math" panose="02040503050406030204" pitchFamily="18" charset="0"/>
                        </a:rPr>
                        <m:t>𝑘</m:t>
                      </m:r>
                      <m:d>
                        <m:dPr>
                          <m:ctrlPr>
                            <a:rPr lang="ar-AE" sz="2200">
                              <a:latin typeface="Cambria Math" panose="02040503050406030204" pitchFamily="18" charset="0"/>
                            </a:rPr>
                          </m:ctrlPr>
                        </m:dPr>
                        <m:e>
                          <m:r>
                            <a:rPr lang="ar-AE" sz="2200">
                              <a:latin typeface="Cambria Math" panose="02040503050406030204" pitchFamily="18" charset="0"/>
                            </a:rPr>
                            <m:t>2.56−1</m:t>
                          </m:r>
                        </m:e>
                      </m:d>
                    </m:oMath>
                  </m:oMathPara>
                </a14:m>
                <a:endParaRPr lang="ar-AE" sz="2200" dirty="0"/>
              </a:p>
              <a:p>
                <a:pPr/>
                <a14:m>
                  <m:oMathPara xmlns:m="http://schemas.openxmlformats.org/officeDocument/2006/math">
                    <m:oMath>
                      <m:sSub>
                        <m:sSubPr>
                          <m:ctrlPr>
                            <a:rPr lang="ar-AE" sz="2200" i="1">
                              <a:latin typeface="Cambria Math" panose="02040503050406030204" pitchFamily="18" charset="0"/>
                            </a:rPr>
                          </m:ctrlPr>
                        </m:sSubPr>
                        <m:e>
                          <m:r>
                            <a:rPr lang="ar-AE" sz="2200" i="1">
                              <a:latin typeface="Cambria Math" panose="02040503050406030204" pitchFamily="18" charset="0"/>
                            </a:rPr>
                            <m:t>𝑅</m:t>
                          </m:r>
                        </m:e>
                        <m:sub>
                          <m:r>
                            <a:rPr lang="ar-AE" sz="2200" i="1">
                              <a:latin typeface="Cambria Math" panose="02040503050406030204" pitchFamily="18" charset="0"/>
                            </a:rPr>
                            <m:t>𝐿𝐷𝑅</m:t>
                          </m:r>
                        </m:sub>
                      </m:sSub>
                      <m:r>
                        <a:rPr lang="ar-AE" sz="2200">
                          <a:latin typeface="Cambria Math" panose="02040503050406030204" pitchFamily="18" charset="0"/>
                        </a:rPr>
                        <m:t>≈15.6</m:t>
                      </m:r>
                      <m:r>
                        <a:rPr lang="ar-AE" sz="2200" i="1">
                          <a:latin typeface="Cambria Math" panose="02040503050406030204" pitchFamily="18" charset="0"/>
                        </a:rPr>
                        <m:t>𝑘</m:t>
                      </m:r>
                      <m:r>
                        <m:rPr>
                          <m:sty m:val="p"/>
                        </m:rPr>
                        <a:rPr lang="el-GR" sz="2200">
                          <a:latin typeface="Cambria Math" panose="02040503050406030204" pitchFamily="18" charset="0"/>
                        </a:rPr>
                        <m:t>Ω</m:t>
                      </m:r>
                    </m:oMath>
                  </m:oMathPara>
                </a14:m>
                <a:endParaRPr lang="en-IN" sz="2200" dirty="0"/>
              </a:p>
              <a:p>
                <a:endParaRPr lang="en-IN" sz="2200" dirty="0"/>
              </a:p>
            </p:txBody>
          </p:sp>
        </mc:Choice>
        <mc:Fallback xmlns="">
          <p:sp>
            <p:nvSpPr>
              <p:cNvPr id="3" name="TextBox 2">
                <a:extLst>
                  <a:ext uri="{FF2B5EF4-FFF2-40B4-BE49-F238E27FC236}">
                    <a16:creationId xmlns:a16="http://schemas.microsoft.com/office/drawing/2014/main" id="{5603A8C5-8B1C-B59A-04FA-4EC5EFF30247}"/>
                  </a:ext>
                </a:extLst>
              </p:cNvPr>
              <p:cNvSpPr txBox="1">
                <a:spLocks noRot="1" noChangeAspect="1" noMove="1" noResize="1" noEditPoints="1" noAdjustHandles="1" noChangeArrowheads="1" noChangeShapeType="1" noTextEdit="1"/>
              </p:cNvSpPr>
              <p:nvPr/>
            </p:nvSpPr>
            <p:spPr>
              <a:xfrm>
                <a:off x="560994" y="395498"/>
                <a:ext cx="9947870" cy="6194196"/>
              </a:xfrm>
              <a:prstGeom prst="rect">
                <a:avLst/>
              </a:prstGeom>
              <a:blipFill>
                <a:blip r:embed="rId2"/>
                <a:stretch>
                  <a:fillRect l="-797" t="-689"/>
                </a:stretch>
              </a:blipFill>
            </p:spPr>
            <p:txBody>
              <a:bodyPr/>
              <a:lstStyle/>
              <a:p>
                <a:r>
                  <a:rPr lang="en-IN">
                    <a:noFill/>
                  </a:rPr>
                  <a:t> </a:t>
                </a:r>
              </a:p>
            </p:txBody>
          </p:sp>
        </mc:Fallback>
      </mc:AlternateContent>
      <p:sp>
        <p:nvSpPr>
          <p:cNvPr id="7" name="TextBox 6">
            <a:extLst>
              <a:ext uri="{FF2B5EF4-FFF2-40B4-BE49-F238E27FC236}">
                <a16:creationId xmlns:a16="http://schemas.microsoft.com/office/drawing/2014/main" id="{0D7215D8-14A1-2A0D-4E4A-09FD10F0187C}"/>
              </a:ext>
            </a:extLst>
          </p:cNvPr>
          <p:cNvSpPr txBox="1"/>
          <p:nvPr/>
        </p:nvSpPr>
        <p:spPr>
          <a:xfrm>
            <a:off x="11101145" y="210832"/>
            <a:ext cx="6094324" cy="369332"/>
          </a:xfrm>
          <a:prstGeom prst="rect">
            <a:avLst/>
          </a:prstGeom>
          <a:noFill/>
        </p:spPr>
        <p:txBody>
          <a:bodyPr wrap="square">
            <a:spAutoFit/>
          </a:bodyPr>
          <a:lstStyle/>
          <a:p>
            <a:r>
              <a:rPr lang="en-US" b="1" dirty="0"/>
              <a:t>12</a:t>
            </a:r>
            <a:endParaRPr lang="en-IN" b="1" dirty="0"/>
          </a:p>
        </p:txBody>
      </p:sp>
    </p:spTree>
    <p:extLst>
      <p:ext uri="{BB962C8B-B14F-4D97-AF65-F5344CB8AC3E}">
        <p14:creationId xmlns:p14="http://schemas.microsoft.com/office/powerpoint/2010/main" val="17569205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D5260F-B2BA-0FEC-E8D0-3D00BC00C40D}"/>
              </a:ext>
            </a:extLst>
          </p:cNvPr>
          <p:cNvSpPr>
            <a:spLocks noGrp="1"/>
          </p:cNvSpPr>
          <p:nvPr>
            <p:ph type="sldNum" sz="quarter" idx="12"/>
          </p:nvPr>
        </p:nvSpPr>
        <p:spPr/>
        <p:txBody>
          <a:bodyPr/>
          <a:lstStyle/>
          <a:p>
            <a:fld id="{0E29D32D-1BC0-48D0-BB54-D1EE225F3EBD}" type="slidenum">
              <a:rPr lang="en-IN" smtClean="0"/>
              <a:t>16</a:t>
            </a:fld>
            <a:endParaRPr lang="en-IN"/>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6722628-C2FD-CE8A-13EA-287AB2046A28}"/>
                  </a:ext>
                </a:extLst>
              </p:cNvPr>
              <p:cNvSpPr txBox="1"/>
              <p:nvPr/>
            </p:nvSpPr>
            <p:spPr>
              <a:xfrm>
                <a:off x="355685" y="202818"/>
                <a:ext cx="9674051" cy="6336094"/>
              </a:xfrm>
              <a:prstGeom prst="rect">
                <a:avLst/>
              </a:prstGeom>
              <a:noFill/>
            </p:spPr>
            <p:txBody>
              <a:bodyPr wrap="square">
                <a:spAutoFit/>
              </a:bodyPr>
              <a:lstStyle/>
              <a:p>
                <a:r>
                  <a:rPr lang="en-IN" sz="2200" dirty="0"/>
                  <a:t>Where:</a:t>
                </a:r>
              </a:p>
              <a:p>
                <a14:m>
                  <m:oMath xmlns:m="http://schemas.openxmlformats.org/officeDocument/2006/math">
                    <m:r>
                      <a:rPr lang="en-IN" sz="2200" b="0" i="1" smtClean="0">
                        <a:latin typeface="Cambria Math" panose="02040503050406030204" pitchFamily="18" charset="0"/>
                      </a:rPr>
                      <m:t> </m:t>
                    </m:r>
                    <m:r>
                      <a:rPr lang="en-IN" sz="2200" i="1">
                        <a:latin typeface="Cambria Math" panose="02040503050406030204" pitchFamily="18" charset="0"/>
                      </a:rPr>
                      <m:t>𝐿𝑢𝑥</m:t>
                    </m:r>
                  </m:oMath>
                </a14:m>
                <a:r>
                  <a:rPr lang="en-IN" sz="2200" dirty="0"/>
                  <a:t>= illumination in lux </a:t>
                </a:r>
              </a:p>
              <a:p>
                <a14:m>
                  <m:oMath xmlns:m="http://schemas.openxmlformats.org/officeDocument/2006/math">
                    <m:sSub>
                      <m:sSubPr>
                        <m:ctrlPr>
                          <a:rPr lang="en-IN" sz="2200" b="0" i="1" smtClean="0">
                            <a:latin typeface="Cambria Math" panose="02040503050406030204" pitchFamily="18" charset="0"/>
                          </a:rPr>
                        </m:ctrlPr>
                      </m:sSubPr>
                      <m:e>
                        <m:r>
                          <a:rPr lang="en-IN" sz="2200" b="0" i="1" smtClean="0">
                            <a:latin typeface="Cambria Math" panose="02040503050406030204" pitchFamily="18" charset="0"/>
                          </a:rPr>
                          <m:t> </m:t>
                        </m:r>
                        <m:r>
                          <a:rPr lang="ar-AE" sz="2200" i="1">
                            <a:latin typeface="Cambria Math" panose="02040503050406030204" pitchFamily="18" charset="0"/>
                          </a:rPr>
                          <m:t>𝑅</m:t>
                        </m:r>
                      </m:e>
                      <m:sub>
                        <m:r>
                          <a:rPr lang="ar-AE" sz="2200" i="1">
                            <a:latin typeface="Cambria Math" panose="02040503050406030204" pitchFamily="18" charset="0"/>
                          </a:rPr>
                          <m:t>𝐿𝐷𝑅</m:t>
                        </m:r>
                      </m:sub>
                    </m:sSub>
                  </m:oMath>
                </a14:m>
                <a:r>
                  <a:rPr lang="ar-AE" sz="2200" dirty="0"/>
                  <a:t>= </a:t>
                </a:r>
                <a:r>
                  <a:rPr lang="en-IN" sz="2200" dirty="0"/>
                  <a:t>LDR resistance in k</a:t>
                </a:r>
                <a:r>
                  <a:rPr lang="el-GR" sz="2200" dirty="0"/>
                  <a:t>Ω </a:t>
                </a:r>
              </a:p>
              <a:p>
                <a:r>
                  <a:rPr lang="en-IN" sz="2200" dirty="0"/>
                  <a:t> If the resistance is:</a:t>
                </a:r>
              </a:p>
              <a:p>
                <a:pPr/>
                <a14:m>
                  <m:oMathPara xmlns:m="http://schemas.openxmlformats.org/officeDocument/2006/math">
                    <m:oMath>
                      <m:sSub>
                        <m:sSubPr>
                          <m:ctrlPr>
                            <a:rPr lang="ar-AE" sz="2200" i="1">
                              <a:latin typeface="Cambria Math" panose="02040503050406030204" pitchFamily="18" charset="0"/>
                            </a:rPr>
                          </m:ctrlPr>
                        </m:sSubPr>
                        <m:e>
                          <m:r>
                            <a:rPr lang="ar-AE" sz="2200" i="1">
                              <a:latin typeface="Cambria Math" panose="02040503050406030204" pitchFamily="18" charset="0"/>
                            </a:rPr>
                            <m:t>𝑅</m:t>
                          </m:r>
                        </m:e>
                        <m:sub>
                          <m:r>
                            <a:rPr lang="ar-AE" sz="2200" i="1">
                              <a:latin typeface="Cambria Math" panose="02040503050406030204" pitchFamily="18" charset="0"/>
                            </a:rPr>
                            <m:t>𝐿𝐷𝑅</m:t>
                          </m:r>
                        </m:sub>
                      </m:sSub>
                      <m:r>
                        <a:rPr lang="ar-AE" sz="2200">
                          <a:latin typeface="Cambria Math" panose="02040503050406030204" pitchFamily="18" charset="0"/>
                        </a:rPr>
                        <m:t>=15.6</m:t>
                      </m:r>
                      <m:r>
                        <a:rPr lang="ar-AE" sz="2200" i="1">
                          <a:latin typeface="Cambria Math" panose="02040503050406030204" pitchFamily="18" charset="0"/>
                        </a:rPr>
                        <m:t>𝑘</m:t>
                      </m:r>
                      <m:r>
                        <m:rPr>
                          <m:sty m:val="p"/>
                        </m:rPr>
                        <a:rPr lang="el-GR" sz="2200">
                          <a:latin typeface="Cambria Math" panose="02040503050406030204" pitchFamily="18" charset="0"/>
                        </a:rPr>
                        <m:t>Ω</m:t>
                      </m:r>
                    </m:oMath>
                  </m:oMathPara>
                </a14:m>
                <a:endParaRPr lang="el-GR" sz="2200" dirty="0"/>
              </a:p>
              <a:p>
                <a:r>
                  <a:rPr lang="en-IN" sz="2200" dirty="0"/>
                  <a:t>Then,</a:t>
                </a:r>
              </a:p>
              <a:p>
                <a:pPr/>
                <a14:m>
                  <m:oMathPara xmlns:m="http://schemas.openxmlformats.org/officeDocument/2006/math">
                    <m:oMath>
                      <m:r>
                        <a:rPr lang="en-IN" sz="2200" i="1">
                          <a:latin typeface="Cambria Math" panose="02040503050406030204" pitchFamily="18" charset="0"/>
                        </a:rPr>
                        <m:t>𝐿𝑢𝑥</m:t>
                      </m:r>
                      <m:r>
                        <a:rPr lang="en-IN" sz="2200">
                          <a:latin typeface="Cambria Math" panose="02040503050406030204" pitchFamily="18" charset="0"/>
                        </a:rPr>
                        <m:t>=</m:t>
                      </m:r>
                      <m:sSup>
                        <m:sSupPr>
                          <m:ctrlPr>
                            <a:rPr lang="ar-AE" sz="2200" i="1">
                              <a:latin typeface="Cambria Math" panose="02040503050406030204" pitchFamily="18" charset="0"/>
                            </a:rPr>
                          </m:ctrlPr>
                        </m:sSupPr>
                        <m:e>
                          <m:d>
                            <m:dPr>
                              <m:ctrlPr>
                                <a:rPr lang="ar-AE" sz="2200" i="1">
                                  <a:latin typeface="Cambria Math" panose="02040503050406030204" pitchFamily="18" charset="0"/>
                                </a:rPr>
                              </m:ctrlPr>
                            </m:dPr>
                            <m:e>
                              <m:f>
                                <m:fPr>
                                  <m:ctrlPr>
                                    <a:rPr lang="ar-AE" sz="2200">
                                      <a:latin typeface="Cambria Math" panose="02040503050406030204" pitchFamily="18" charset="0"/>
                                    </a:rPr>
                                  </m:ctrlPr>
                                </m:fPr>
                                <m:num>
                                  <m:r>
                                    <a:rPr lang="ar-AE" sz="2200">
                                      <a:latin typeface="Cambria Math" panose="02040503050406030204" pitchFamily="18" charset="0"/>
                                    </a:rPr>
                                    <m:t>500</m:t>
                                  </m:r>
                                </m:num>
                                <m:den>
                                  <m:r>
                                    <a:rPr lang="ar-AE" sz="2200">
                                      <a:latin typeface="Cambria Math" panose="02040503050406030204" pitchFamily="18" charset="0"/>
                                    </a:rPr>
                                    <m:t>15.6</m:t>
                                  </m:r>
                                </m:den>
                              </m:f>
                            </m:e>
                          </m:d>
                        </m:e>
                        <m:sup>
                          <m:r>
                            <a:rPr lang="ar-AE" sz="2200">
                              <a:latin typeface="Cambria Math" panose="02040503050406030204" pitchFamily="18" charset="0"/>
                            </a:rPr>
                            <m:t>1.4</m:t>
                          </m:r>
                        </m:sup>
                      </m:sSup>
                    </m:oMath>
                  </m:oMathPara>
                </a14:m>
                <a:endParaRPr lang="ar-AE" sz="2200" dirty="0"/>
              </a:p>
              <a:p>
                <a:pPr/>
                <a14:m>
                  <m:oMathPara xmlns:m="http://schemas.openxmlformats.org/officeDocument/2006/math">
                    <m:oMath>
                      <m:r>
                        <a:rPr lang="ar-AE" sz="2200" i="1">
                          <a:latin typeface="Cambria Math" panose="02040503050406030204" pitchFamily="18" charset="0"/>
                        </a:rPr>
                        <m:t>𝐿𝑢𝑥</m:t>
                      </m:r>
                      <m:r>
                        <a:rPr lang="ar-AE" sz="2200">
                          <a:latin typeface="Cambria Math" panose="02040503050406030204" pitchFamily="18" charset="0"/>
                        </a:rPr>
                        <m:t>=</m:t>
                      </m:r>
                      <m:sSup>
                        <m:sSupPr>
                          <m:ctrlPr>
                            <a:rPr lang="ar-AE" sz="2200" i="1">
                              <a:latin typeface="Cambria Math" panose="02040503050406030204" pitchFamily="18" charset="0"/>
                            </a:rPr>
                          </m:ctrlPr>
                        </m:sSupPr>
                        <m:e>
                          <m:d>
                            <m:dPr>
                              <m:ctrlPr>
                                <a:rPr lang="ar-AE" sz="2200">
                                  <a:latin typeface="Cambria Math" panose="02040503050406030204" pitchFamily="18" charset="0"/>
                                </a:rPr>
                              </m:ctrlPr>
                            </m:dPr>
                            <m:e>
                              <m:r>
                                <a:rPr lang="ar-AE" sz="2200">
                                  <a:latin typeface="Cambria Math" panose="02040503050406030204" pitchFamily="18" charset="0"/>
                                </a:rPr>
                                <m:t>32.05</m:t>
                              </m:r>
                            </m:e>
                          </m:d>
                        </m:e>
                        <m:sup>
                          <m:r>
                            <a:rPr lang="ar-AE" sz="2200">
                              <a:latin typeface="Cambria Math" panose="02040503050406030204" pitchFamily="18" charset="0"/>
                            </a:rPr>
                            <m:t>1.4</m:t>
                          </m:r>
                        </m:sup>
                      </m:sSup>
                    </m:oMath>
                  </m:oMathPara>
                </a14:m>
                <a:endParaRPr lang="ar-AE" sz="2200" dirty="0"/>
              </a:p>
              <a:p>
                <a:pPr/>
                <a14:m>
                  <m:oMathPara xmlns:m="http://schemas.openxmlformats.org/officeDocument/2006/math">
                    <m:oMath>
                      <m:r>
                        <a:rPr lang="ar-AE" sz="2200" i="1">
                          <a:latin typeface="Cambria Math" panose="02040503050406030204" pitchFamily="18" charset="0"/>
                        </a:rPr>
                        <m:t>𝐿𝑢𝑥</m:t>
                      </m:r>
                      <m:r>
                        <a:rPr lang="ar-AE" sz="2200">
                          <a:latin typeface="Cambria Math" panose="02040503050406030204" pitchFamily="18" charset="0"/>
                        </a:rPr>
                        <m:t>≈128</m:t>
                      </m:r>
                      <m:r>
                        <m:rPr>
                          <m:nor/>
                        </m:rPr>
                        <a:rPr lang="ar-AE" sz="2200" i="0"/>
                        <m:t> </m:t>
                      </m:r>
                      <m:r>
                        <a:rPr lang="ar-AE" sz="2200" i="1">
                          <a:latin typeface="Cambria Math" panose="02040503050406030204" pitchFamily="18" charset="0"/>
                        </a:rPr>
                        <m:t>𝑙𝑢𝑥</m:t>
                      </m:r>
                    </m:oMath>
                  </m:oMathPara>
                </a14:m>
                <a:endParaRPr lang="ar-AE" sz="2200" dirty="0"/>
              </a:p>
              <a:p>
                <a:r>
                  <a:rPr lang="en-IN" sz="2200" dirty="0"/>
                  <a:t>Considering practical sensor variation and experimental calibration, it is approximated as:</a:t>
                </a:r>
              </a:p>
              <a:p>
                <a:pPr/>
                <a14:m>
                  <m:oMathPara xmlns:m="http://schemas.openxmlformats.org/officeDocument/2006/math">
                    <m:oMath>
                      <m:r>
                        <a:rPr lang="en-IN" sz="2200" i="1">
                          <a:latin typeface="Cambria Math" panose="02040503050406030204" pitchFamily="18" charset="0"/>
                        </a:rPr>
                        <m:t>𝐿𝑢𝑥</m:t>
                      </m:r>
                      <m:r>
                        <a:rPr lang="en-IN" sz="2200">
                          <a:latin typeface="Cambria Math" panose="02040503050406030204" pitchFamily="18" charset="0"/>
                        </a:rPr>
                        <m:t>≈130</m:t>
                      </m:r>
                      <m:r>
                        <m:rPr>
                          <m:nor/>
                        </m:rPr>
                        <a:rPr lang="en-IN" sz="2200" i="0"/>
                        <m:t>–</m:t>
                      </m:r>
                      <m:r>
                        <a:rPr lang="en-IN" sz="2200">
                          <a:latin typeface="Cambria Math" panose="02040503050406030204" pitchFamily="18" charset="0"/>
                        </a:rPr>
                        <m:t>200</m:t>
                      </m:r>
                      <m:r>
                        <m:rPr>
                          <m:nor/>
                        </m:rPr>
                        <a:rPr lang="en-IN" sz="2200" i="0"/>
                        <m:t> </m:t>
                      </m:r>
                      <m:r>
                        <a:rPr lang="en-IN" sz="2200" i="1">
                          <a:latin typeface="Cambria Math" panose="02040503050406030204" pitchFamily="18" charset="0"/>
                        </a:rPr>
                        <m:t>𝑙𝑢𝑥</m:t>
                      </m:r>
                    </m:oMath>
                  </m:oMathPara>
                </a14:m>
                <a:endParaRPr lang="en-IN" sz="2200" dirty="0"/>
              </a:p>
              <a:p>
                <a:r>
                  <a:rPr lang="en-IN" sz="2200" dirty="0"/>
                  <a:t>for the selected threshold value.</a:t>
                </a:r>
              </a:p>
              <a:p>
                <a:endParaRPr lang="en-IN" sz="2200" dirty="0"/>
              </a:p>
              <a:p>
                <a:r>
                  <a:rPr lang="en-IN" sz="2200" dirty="0"/>
                  <a:t>Substituting values:</a:t>
                </a:r>
              </a:p>
              <a:p>
                <a:pPr algn="just"/>
                <a:r>
                  <a:rPr lang="en-US" sz="2200" dirty="0"/>
                  <a:t> • For this system:</a:t>
                </a:r>
              </a:p>
              <a:p>
                <a:pPr algn="just"/>
                <a:r>
                  <a:rPr lang="en-US" sz="2200" dirty="0"/>
                  <a:t> • Threshold ≈ 1600 (≈ 200 lux)</a:t>
                </a:r>
                <a:endParaRPr lang="en-IN" sz="2200" dirty="0"/>
              </a:p>
            </p:txBody>
          </p:sp>
        </mc:Choice>
        <mc:Fallback xmlns="">
          <p:sp>
            <p:nvSpPr>
              <p:cNvPr id="4" name="TextBox 3">
                <a:extLst>
                  <a:ext uri="{FF2B5EF4-FFF2-40B4-BE49-F238E27FC236}">
                    <a16:creationId xmlns:a16="http://schemas.microsoft.com/office/drawing/2014/main" id="{B6722628-C2FD-CE8A-13EA-287AB2046A28}"/>
                  </a:ext>
                </a:extLst>
              </p:cNvPr>
              <p:cNvSpPr txBox="1">
                <a:spLocks noRot="1" noChangeAspect="1" noMove="1" noResize="1" noEditPoints="1" noAdjustHandles="1" noChangeArrowheads="1" noChangeShapeType="1" noTextEdit="1"/>
              </p:cNvSpPr>
              <p:nvPr/>
            </p:nvSpPr>
            <p:spPr>
              <a:xfrm>
                <a:off x="355685" y="202818"/>
                <a:ext cx="9674051" cy="6336094"/>
              </a:xfrm>
              <a:prstGeom prst="rect">
                <a:avLst/>
              </a:prstGeom>
              <a:blipFill>
                <a:blip r:embed="rId2"/>
                <a:stretch>
                  <a:fillRect l="-819" t="-577" b="-1058"/>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E4D06250-EC1F-4356-AAA5-B8167D43182C}"/>
              </a:ext>
            </a:extLst>
          </p:cNvPr>
          <p:cNvSpPr txBox="1"/>
          <p:nvPr/>
        </p:nvSpPr>
        <p:spPr>
          <a:xfrm>
            <a:off x="11085201" y="202818"/>
            <a:ext cx="751114" cy="369332"/>
          </a:xfrm>
          <a:prstGeom prst="rect">
            <a:avLst/>
          </a:prstGeom>
          <a:noFill/>
        </p:spPr>
        <p:txBody>
          <a:bodyPr wrap="square">
            <a:spAutoFit/>
          </a:bodyPr>
          <a:lstStyle/>
          <a:p>
            <a:r>
              <a:rPr lang="en-US" b="1" dirty="0"/>
              <a:t>13</a:t>
            </a:r>
          </a:p>
        </p:txBody>
      </p:sp>
    </p:spTree>
    <p:extLst>
      <p:ext uri="{BB962C8B-B14F-4D97-AF65-F5344CB8AC3E}">
        <p14:creationId xmlns:p14="http://schemas.microsoft.com/office/powerpoint/2010/main" val="3582144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DE983FD-BEFC-6581-71D3-DA5837BE3FCC}"/>
                  </a:ext>
                </a:extLst>
              </p:cNvPr>
              <p:cNvSpPr txBox="1"/>
              <p:nvPr/>
            </p:nvSpPr>
            <p:spPr>
              <a:xfrm>
                <a:off x="330586" y="549791"/>
                <a:ext cx="10828675" cy="6001643"/>
              </a:xfrm>
              <a:prstGeom prst="rect">
                <a:avLst/>
              </a:prstGeom>
              <a:noFill/>
            </p:spPr>
            <p:txBody>
              <a:bodyPr wrap="square">
                <a:spAutoFit/>
              </a:bodyPr>
              <a:lstStyle/>
              <a:p>
                <a:r>
                  <a:rPr lang="en-US" sz="2200" b="1" dirty="0">
                    <a:latin typeface="+mj-lt"/>
                  </a:rPr>
                  <a:t>LM35 Temperature Sensor</a:t>
                </a:r>
              </a:p>
              <a:p>
                <a:endParaRPr lang="en-US" sz="2200" b="1" dirty="0">
                  <a:latin typeface="+mj-lt"/>
                </a:endParaRPr>
              </a:p>
              <a:p>
                <a:r>
                  <a:rPr lang="en-US" sz="2200" dirty="0"/>
                  <a:t>• Temperature range: </a:t>
                </a:r>
                <a:r>
                  <a:rPr lang="en-US" sz="2200" b="1" dirty="0"/>
                  <a:t>−55°C to +150°C</a:t>
                </a:r>
              </a:p>
              <a:p>
                <a:r>
                  <a:rPr lang="en-US" sz="2200" dirty="0"/>
                  <a:t>• </a:t>
                </a:r>
                <a:r>
                  <a:rPr lang="en-IN" sz="2200" dirty="0"/>
                  <a:t>Supply voltage: </a:t>
                </a:r>
                <a:r>
                  <a:rPr lang="en-IN" sz="2200" b="1" dirty="0"/>
                  <a:t>4V – 30V</a:t>
                </a:r>
              </a:p>
              <a:p>
                <a:r>
                  <a:rPr lang="en-US" sz="2200" dirty="0"/>
                  <a:t>• </a:t>
                </a:r>
                <a:r>
                  <a:rPr lang="en-IN" sz="2200" dirty="0"/>
                  <a:t>Output type: </a:t>
                </a:r>
                <a:r>
                  <a:rPr lang="en-IN" sz="2200" b="1" dirty="0"/>
                  <a:t>Analog voltage</a:t>
                </a:r>
              </a:p>
              <a:p>
                <a:r>
                  <a:rPr lang="en-IN" sz="2400" dirty="0"/>
                  <a:t>ADC resolution = 12-bit (0–4095)</a:t>
                </a:r>
                <a:endParaRPr lang="en-US" sz="2200" b="1" dirty="0"/>
              </a:p>
              <a:p>
                <a:r>
                  <a:rPr lang="en-US" sz="2200" dirty="0"/>
                  <a:t>• </a:t>
                </a:r>
                <a:r>
                  <a:rPr lang="en-US" sz="2200" dirty="0">
                    <a:latin typeface="+mj-lt"/>
                  </a:rPr>
                  <a:t>Output relation:</a:t>
                </a:r>
                <a:endParaRPr lang="en-IN" sz="2200" dirty="0"/>
              </a:p>
              <a:p>
                <a:pPr/>
                <a14:m>
                  <m:oMathPara xmlns:m="http://schemas.openxmlformats.org/officeDocument/2006/math">
                    <m:oMath>
                      <m:sSub>
                        <m:sSubPr>
                          <m:ctrlPr>
                            <a:rPr lang="ar-AE" sz="2200" i="1">
                              <a:latin typeface="Cambria Math" panose="02040503050406030204" pitchFamily="18" charset="0"/>
                            </a:rPr>
                          </m:ctrlPr>
                        </m:sSubPr>
                        <m:e>
                          <m:r>
                            <a:rPr lang="ar-AE" sz="2200" i="1">
                              <a:latin typeface="Cambria Math" panose="02040503050406030204" pitchFamily="18" charset="0"/>
                            </a:rPr>
                            <m:t>𝑉</m:t>
                          </m:r>
                        </m:e>
                        <m:sub>
                          <m:r>
                            <a:rPr lang="ar-AE" sz="2200" i="1">
                              <a:latin typeface="Cambria Math" panose="02040503050406030204" pitchFamily="18" charset="0"/>
                            </a:rPr>
                            <m:t>𝑜𝑢𝑡</m:t>
                          </m:r>
                        </m:sub>
                      </m:sSub>
                      <m:r>
                        <a:rPr lang="ar-AE" sz="2200">
                          <a:latin typeface="Cambria Math" panose="02040503050406030204" pitchFamily="18" charset="0"/>
                        </a:rPr>
                        <m:t>=10</m:t>
                      </m:r>
                      <m:r>
                        <a:rPr lang="ar-AE" sz="2200" i="1">
                          <a:latin typeface="Cambria Math" panose="02040503050406030204" pitchFamily="18" charset="0"/>
                        </a:rPr>
                        <m:t>𝑚𝑉</m:t>
                      </m:r>
                      <m:r>
                        <a:rPr lang="ar-AE" sz="2200">
                          <a:latin typeface="Cambria Math" panose="02040503050406030204" pitchFamily="18" charset="0"/>
                        </a:rPr>
                        <m:t>×</m:t>
                      </m:r>
                      <m:r>
                        <a:rPr lang="ar-AE" sz="2200" i="1">
                          <a:latin typeface="Cambria Math" panose="02040503050406030204" pitchFamily="18" charset="0"/>
                        </a:rPr>
                        <m:t>𝑇</m:t>
                      </m:r>
                    </m:oMath>
                  </m:oMathPara>
                </a14:m>
                <a:endParaRPr lang="en-IN" sz="2200" dirty="0"/>
              </a:p>
              <a:p>
                <a:r>
                  <a:rPr lang="en-US" sz="2200" dirty="0"/>
                  <a:t>• </a:t>
                </a:r>
                <a:r>
                  <a:rPr lang="en-IN" sz="2200" dirty="0"/>
                  <a:t>Output relation in volts:</a:t>
                </a:r>
              </a:p>
              <a:p>
                <a:r>
                  <a:rPr lang="en-IN" sz="2200" dirty="0"/>
                  <a:t>	</a:t>
                </a:r>
                <a:r>
                  <a:rPr lang="en-IN" sz="2400" dirty="0" err="1"/>
                  <a:t>Vout</a:t>
                </a:r>
                <a:r>
                  <a:rPr lang="en-IN" sz="2400" dirty="0"/>
                  <a:t>​=0.01×T</a:t>
                </a:r>
                <a:r>
                  <a:rPr lang="en-US" sz="2200" dirty="0"/>
                  <a:t>      </a:t>
                </a:r>
              </a:p>
              <a:p>
                <a:r>
                  <a:rPr lang="en-IN" sz="2400" dirty="0"/>
                  <a:t>Where:</a:t>
                </a:r>
              </a:p>
              <a:p>
                <a14:m>
                  <m:oMath xmlns:m="http://schemas.openxmlformats.org/officeDocument/2006/math">
                    <m:r>
                      <a:rPr lang="en-IN" i="1">
                        <a:latin typeface="Cambria Math" panose="02040503050406030204" pitchFamily="18" charset="0"/>
                      </a:rPr>
                      <m:t>𝑇</m:t>
                    </m:r>
                  </m:oMath>
                </a14:m>
                <a:r>
                  <a:rPr lang="en-IN" sz="2400" dirty="0"/>
                  <a:t>= temperature in °C </a:t>
                </a:r>
              </a:p>
              <a:p>
                <a:r>
                  <a:rPr lang="en-IN" sz="2400" dirty="0"/>
                  <a:t>For threshold temperature:</a:t>
                </a:r>
              </a:p>
              <a:p>
                <a:pPr/>
                <a14:m>
                  <m:oMathPara xmlns:m="http://schemas.openxmlformats.org/officeDocument/2006/math">
                    <m:oMath>
                      <m:r>
                        <a:rPr lang="en-IN" sz="2200" i="1">
                          <a:latin typeface="Cambria Math" panose="02040503050406030204" pitchFamily="18" charset="0"/>
                        </a:rPr>
                        <m:t>𝑇</m:t>
                      </m:r>
                      <m:r>
                        <a:rPr lang="en-IN" sz="2200">
                          <a:latin typeface="Cambria Math" panose="02040503050406030204" pitchFamily="18" charset="0"/>
                        </a:rPr>
                        <m:t>=</m:t>
                      </m:r>
                      <m:sSup>
                        <m:sSupPr>
                          <m:ctrlPr>
                            <a:rPr lang="en-IN" sz="2200" b="0" i="0" smtClean="0">
                              <a:latin typeface="Cambria Math" panose="02040503050406030204" pitchFamily="18" charset="0"/>
                            </a:rPr>
                          </m:ctrlPr>
                        </m:sSupPr>
                        <m:e>
                          <m:r>
                            <a:rPr lang="en-IN" sz="2200" b="0" i="0" smtClean="0">
                              <a:latin typeface="Cambria Math" panose="02040503050406030204" pitchFamily="18" charset="0"/>
                            </a:rPr>
                            <m:t>24</m:t>
                          </m:r>
                        </m:e>
                        <m:sup>
                          <m:r>
                            <a:rPr lang="ar-AE" sz="2200">
                              <a:latin typeface="Cambria Math" panose="02040503050406030204" pitchFamily="18" charset="0"/>
                            </a:rPr>
                            <m:t>∘</m:t>
                          </m:r>
                        </m:sup>
                      </m:sSup>
                      <m:r>
                        <a:rPr lang="ar-AE" sz="2200" i="1">
                          <a:latin typeface="Cambria Math" panose="02040503050406030204" pitchFamily="18" charset="0"/>
                        </a:rPr>
                        <m:t>𝐶</m:t>
                      </m:r>
                    </m:oMath>
                  </m:oMathPara>
                </a14:m>
                <a:endParaRPr lang="ar-AE" sz="2200" dirty="0"/>
              </a:p>
              <a:p>
                <a:pPr/>
                <a14:m>
                  <m:oMathPara xmlns:m="http://schemas.openxmlformats.org/officeDocument/2006/math">
                    <m:oMath>
                      <m:sSub>
                        <m:sSubPr>
                          <m:ctrlPr>
                            <a:rPr lang="ar-AE" sz="2200" i="1">
                              <a:latin typeface="Cambria Math" panose="02040503050406030204" pitchFamily="18" charset="0"/>
                            </a:rPr>
                          </m:ctrlPr>
                        </m:sSubPr>
                        <m:e>
                          <m:r>
                            <a:rPr lang="ar-AE" sz="2200" i="1">
                              <a:latin typeface="Cambria Math" panose="02040503050406030204" pitchFamily="18" charset="0"/>
                            </a:rPr>
                            <m:t>𝑉</m:t>
                          </m:r>
                        </m:e>
                        <m:sub>
                          <m:r>
                            <a:rPr lang="ar-AE" sz="2200" i="1">
                              <a:latin typeface="Cambria Math" panose="02040503050406030204" pitchFamily="18" charset="0"/>
                            </a:rPr>
                            <m:t>𝑜𝑢𝑡</m:t>
                          </m:r>
                        </m:sub>
                      </m:sSub>
                      <m:r>
                        <a:rPr lang="ar-AE" sz="2200">
                          <a:latin typeface="Cambria Math" panose="02040503050406030204" pitchFamily="18" charset="0"/>
                        </a:rPr>
                        <m:t>=10</m:t>
                      </m:r>
                      <m:r>
                        <a:rPr lang="ar-AE" sz="2200" i="1">
                          <a:latin typeface="Cambria Math" panose="02040503050406030204" pitchFamily="18" charset="0"/>
                        </a:rPr>
                        <m:t>𝑚𝑉</m:t>
                      </m:r>
                      <m:r>
                        <a:rPr lang="ar-AE" sz="2200">
                          <a:latin typeface="Cambria Math" panose="02040503050406030204" pitchFamily="18" charset="0"/>
                        </a:rPr>
                        <m:t>×</m:t>
                      </m:r>
                      <m:r>
                        <a:rPr lang="en-IN" sz="2200" b="0" i="0" smtClean="0">
                          <a:latin typeface="Cambria Math" panose="02040503050406030204" pitchFamily="18" charset="0"/>
                        </a:rPr>
                        <m:t>24</m:t>
                      </m:r>
                    </m:oMath>
                  </m:oMathPara>
                </a14:m>
                <a:endParaRPr lang="ar-AE" sz="2200" dirty="0"/>
              </a:p>
              <a:p>
                <a:pPr/>
                <a14:m>
                  <m:oMathPara xmlns:m="http://schemas.openxmlformats.org/officeDocument/2006/math">
                    <m:oMath>
                      <m:sSub>
                        <m:sSubPr>
                          <m:ctrlPr>
                            <a:rPr lang="ar-AE" sz="2200" i="1">
                              <a:latin typeface="Cambria Math" panose="02040503050406030204" pitchFamily="18" charset="0"/>
                            </a:rPr>
                          </m:ctrlPr>
                        </m:sSubPr>
                        <m:e>
                          <m:r>
                            <a:rPr lang="ar-AE" sz="2200" i="1">
                              <a:latin typeface="Cambria Math" panose="02040503050406030204" pitchFamily="18" charset="0"/>
                            </a:rPr>
                            <m:t>𝑉</m:t>
                          </m:r>
                        </m:e>
                        <m:sub>
                          <m:r>
                            <a:rPr lang="ar-AE" sz="2200" i="1">
                              <a:latin typeface="Cambria Math" panose="02040503050406030204" pitchFamily="18" charset="0"/>
                            </a:rPr>
                            <m:t>𝑜𝑢𝑡</m:t>
                          </m:r>
                        </m:sub>
                      </m:sSub>
                      <m:r>
                        <a:rPr lang="ar-AE" sz="2200">
                          <a:latin typeface="Cambria Math" panose="02040503050406030204" pitchFamily="18" charset="0"/>
                        </a:rPr>
                        <m:t>=</m:t>
                      </m:r>
                      <m:r>
                        <a:rPr lang="en-IN" sz="2200" b="0" i="0" smtClean="0">
                          <a:latin typeface="Cambria Math" panose="02040503050406030204" pitchFamily="18" charset="0"/>
                        </a:rPr>
                        <m:t>24</m:t>
                      </m:r>
                      <m:r>
                        <a:rPr lang="ar-AE" sz="2200">
                          <a:latin typeface="Cambria Math" panose="02040503050406030204" pitchFamily="18" charset="0"/>
                        </a:rPr>
                        <m:t>0</m:t>
                      </m:r>
                      <m:r>
                        <a:rPr lang="ar-AE" sz="2200" i="1">
                          <a:latin typeface="Cambria Math" panose="02040503050406030204" pitchFamily="18" charset="0"/>
                        </a:rPr>
                        <m:t>𝑚𝑉</m:t>
                      </m:r>
                      <m:r>
                        <a:rPr lang="ar-AE" sz="2200">
                          <a:latin typeface="Cambria Math" panose="02040503050406030204" pitchFamily="18" charset="0"/>
                        </a:rPr>
                        <m:t>=0.</m:t>
                      </m:r>
                      <m:r>
                        <a:rPr lang="en-IN" sz="2200" b="0" i="1" smtClean="0">
                          <a:latin typeface="Cambria Math" panose="02040503050406030204" pitchFamily="18" charset="0"/>
                        </a:rPr>
                        <m:t>24</m:t>
                      </m:r>
                      <m:r>
                        <a:rPr lang="ar-AE" sz="2200" i="1">
                          <a:latin typeface="Cambria Math" panose="02040503050406030204" pitchFamily="18" charset="0"/>
                        </a:rPr>
                        <m:t>𝑉</m:t>
                      </m:r>
                    </m:oMath>
                  </m:oMathPara>
                </a14:m>
                <a:endParaRPr lang="ar-AE" sz="2200" dirty="0"/>
              </a:p>
              <a:p>
                <a:endParaRPr lang="en-IN" sz="2200" dirty="0"/>
              </a:p>
            </p:txBody>
          </p:sp>
        </mc:Choice>
        <mc:Fallback xmlns="">
          <p:sp>
            <p:nvSpPr>
              <p:cNvPr id="9" name="TextBox 8">
                <a:extLst>
                  <a:ext uri="{FF2B5EF4-FFF2-40B4-BE49-F238E27FC236}">
                    <a16:creationId xmlns:a16="http://schemas.microsoft.com/office/drawing/2014/main" id="{6DE983FD-BEFC-6581-71D3-DA5837BE3FCC}"/>
                  </a:ext>
                </a:extLst>
              </p:cNvPr>
              <p:cNvSpPr txBox="1">
                <a:spLocks noRot="1" noChangeAspect="1" noMove="1" noResize="1" noEditPoints="1" noAdjustHandles="1" noChangeArrowheads="1" noChangeShapeType="1" noTextEdit="1"/>
              </p:cNvSpPr>
              <p:nvPr/>
            </p:nvSpPr>
            <p:spPr>
              <a:xfrm>
                <a:off x="330586" y="549791"/>
                <a:ext cx="10828675" cy="6001643"/>
              </a:xfrm>
              <a:prstGeom prst="rect">
                <a:avLst/>
              </a:prstGeom>
              <a:blipFill>
                <a:blip r:embed="rId2"/>
                <a:stretch>
                  <a:fillRect l="-844" t="-711"/>
                </a:stretch>
              </a:blipFill>
            </p:spPr>
            <p:txBody>
              <a:bodyPr/>
              <a:lstStyle/>
              <a:p>
                <a:r>
                  <a:rPr lang="en-IN">
                    <a:noFill/>
                  </a:rPr>
                  <a:t> </a:t>
                </a:r>
              </a:p>
            </p:txBody>
          </p:sp>
        </mc:Fallback>
      </mc:AlternateContent>
      <p:sp>
        <p:nvSpPr>
          <p:cNvPr id="3" name="TextBox 2">
            <a:extLst>
              <a:ext uri="{FF2B5EF4-FFF2-40B4-BE49-F238E27FC236}">
                <a16:creationId xmlns:a16="http://schemas.microsoft.com/office/drawing/2014/main" id="{BED40719-D28D-2907-3E45-5FBD5CBA2265}"/>
              </a:ext>
            </a:extLst>
          </p:cNvPr>
          <p:cNvSpPr txBox="1"/>
          <p:nvPr/>
        </p:nvSpPr>
        <p:spPr>
          <a:xfrm>
            <a:off x="11159261" y="180459"/>
            <a:ext cx="566057" cy="369332"/>
          </a:xfrm>
          <a:prstGeom prst="rect">
            <a:avLst/>
          </a:prstGeom>
          <a:noFill/>
        </p:spPr>
        <p:txBody>
          <a:bodyPr wrap="square">
            <a:spAutoFit/>
          </a:bodyPr>
          <a:lstStyle/>
          <a:p>
            <a:r>
              <a:rPr lang="en-US" b="1" dirty="0"/>
              <a:t>14</a:t>
            </a:r>
            <a:endParaRPr lang="en-IN" b="1" dirty="0"/>
          </a:p>
        </p:txBody>
      </p:sp>
      <p:sp>
        <p:nvSpPr>
          <p:cNvPr id="5" name="Slide Number Placeholder 4">
            <a:extLst>
              <a:ext uri="{FF2B5EF4-FFF2-40B4-BE49-F238E27FC236}">
                <a16:creationId xmlns:a16="http://schemas.microsoft.com/office/drawing/2014/main" id="{2C5B50C9-C6D3-1AAD-6F41-7156DA062490}"/>
              </a:ext>
            </a:extLst>
          </p:cNvPr>
          <p:cNvSpPr>
            <a:spLocks noGrp="1"/>
          </p:cNvSpPr>
          <p:nvPr>
            <p:ph type="sldNum" sz="quarter" idx="12"/>
          </p:nvPr>
        </p:nvSpPr>
        <p:spPr/>
        <p:txBody>
          <a:bodyPr/>
          <a:lstStyle/>
          <a:p>
            <a:fld id="{0E29D32D-1BC0-48D0-BB54-D1EE225F3EBD}" type="slidenum">
              <a:rPr lang="en-IN" smtClean="0"/>
              <a:t>17</a:t>
            </a:fld>
            <a:endParaRPr lang="en-IN" dirty="0"/>
          </a:p>
        </p:txBody>
      </p:sp>
    </p:spTree>
    <p:extLst>
      <p:ext uri="{BB962C8B-B14F-4D97-AF65-F5344CB8AC3E}">
        <p14:creationId xmlns:p14="http://schemas.microsoft.com/office/powerpoint/2010/main" val="16959925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4112FA-40FA-C67F-514B-881D55666CDE}"/>
              </a:ext>
            </a:extLst>
          </p:cNvPr>
          <p:cNvSpPr>
            <a:spLocks noGrp="1"/>
          </p:cNvSpPr>
          <p:nvPr>
            <p:ph type="sldNum" sz="quarter" idx="12"/>
          </p:nvPr>
        </p:nvSpPr>
        <p:spPr/>
        <p:txBody>
          <a:bodyPr/>
          <a:lstStyle/>
          <a:p>
            <a:fld id="{0E29D32D-1BC0-48D0-BB54-D1EE225F3EBD}" type="slidenum">
              <a:rPr lang="en-IN" smtClean="0"/>
              <a:t>18</a:t>
            </a:fld>
            <a:endParaRPr lang="en-IN"/>
          </a:p>
        </p:txBody>
      </p:sp>
      <p:sp>
        <p:nvSpPr>
          <p:cNvPr id="4" name="TextBox 3">
            <a:extLst>
              <a:ext uri="{FF2B5EF4-FFF2-40B4-BE49-F238E27FC236}">
                <a16:creationId xmlns:a16="http://schemas.microsoft.com/office/drawing/2014/main" id="{864F8B26-59F6-4FA1-71E2-CC7BD4DAFA87}"/>
              </a:ext>
            </a:extLst>
          </p:cNvPr>
          <p:cNvSpPr txBox="1"/>
          <p:nvPr/>
        </p:nvSpPr>
        <p:spPr>
          <a:xfrm>
            <a:off x="323222" y="4516831"/>
            <a:ext cx="11030578" cy="1785104"/>
          </a:xfrm>
          <a:prstGeom prst="rect">
            <a:avLst/>
          </a:prstGeom>
          <a:noFill/>
        </p:spPr>
        <p:txBody>
          <a:bodyPr wrap="square">
            <a:spAutoFit/>
          </a:bodyPr>
          <a:lstStyle/>
          <a:p>
            <a:r>
              <a:rPr lang="en-US" sz="2200" b="1" dirty="0">
                <a:latin typeface="+mj-lt"/>
              </a:rPr>
              <a:t>Fan</a:t>
            </a:r>
          </a:p>
          <a:p>
            <a:endParaRPr lang="en-US" sz="2200" b="1" dirty="0">
              <a:latin typeface="+mj-lt"/>
            </a:endParaRPr>
          </a:p>
          <a:p>
            <a:r>
              <a:rPr lang="en-US" sz="2200" dirty="0">
                <a:latin typeface="+mj-lt"/>
              </a:rPr>
              <a:t>• Supply voltage = 230V AC</a:t>
            </a:r>
          </a:p>
          <a:p>
            <a:r>
              <a:rPr lang="en-US" sz="2200" dirty="0">
                <a:latin typeface="+mj-lt"/>
              </a:rPr>
              <a:t>• Power rating ≈ 60 W</a:t>
            </a:r>
          </a:p>
          <a:p>
            <a:r>
              <a:rPr lang="en-US" sz="2200" dirty="0">
                <a:latin typeface="+mj-lt"/>
              </a:rPr>
              <a:t>• Controlled automatically using relay based on temperature and motion detection</a:t>
            </a:r>
            <a:endParaRPr lang="en-IN" sz="2200" dirty="0">
              <a:latin typeface="+mj-lt"/>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6E964F0-7A61-EAB7-3306-F8B414EC0065}"/>
                  </a:ext>
                </a:extLst>
              </p:cNvPr>
              <p:cNvSpPr txBox="1"/>
              <p:nvPr/>
            </p:nvSpPr>
            <p:spPr>
              <a:xfrm>
                <a:off x="314011" y="556065"/>
                <a:ext cx="9201778" cy="3054939"/>
              </a:xfrm>
              <a:prstGeom prst="rect">
                <a:avLst/>
              </a:prstGeom>
              <a:noFill/>
            </p:spPr>
            <p:txBody>
              <a:bodyPr wrap="square">
                <a:spAutoFit/>
              </a:bodyPr>
              <a:lstStyle/>
              <a:p>
                <a:r>
                  <a:rPr lang="en-US" sz="2200" dirty="0">
                    <a:latin typeface="+mj-lt"/>
                  </a:rPr>
                  <a:t> </a:t>
                </a:r>
                <a:r>
                  <a:rPr lang="en-IN" sz="2200" dirty="0"/>
                  <a:t>ESP32 ADC formula:</a:t>
                </a:r>
              </a:p>
              <a:p>
                <a:pPr/>
                <a14:m>
                  <m:oMathPara xmlns:m="http://schemas.openxmlformats.org/officeDocument/2006/math">
                    <m:oMath>
                      <m:r>
                        <a:rPr lang="en-IN" sz="2200" i="1">
                          <a:latin typeface="Cambria Math" panose="02040503050406030204" pitchFamily="18" charset="0"/>
                        </a:rPr>
                        <m:t>𝐴𝐷𝐶</m:t>
                      </m:r>
                      <m:r>
                        <a:rPr lang="en-IN" sz="2200">
                          <a:latin typeface="Cambria Math" panose="02040503050406030204" pitchFamily="18" charset="0"/>
                        </a:rPr>
                        <m:t>=</m:t>
                      </m:r>
                      <m:f>
                        <m:fPr>
                          <m:ctrlPr>
                            <a:rPr lang="ar-AE" sz="2200" i="1">
                              <a:latin typeface="Cambria Math" panose="02040503050406030204" pitchFamily="18" charset="0"/>
                            </a:rPr>
                          </m:ctrlPr>
                        </m:fPr>
                        <m:num>
                          <m:sSub>
                            <m:sSubPr>
                              <m:ctrlPr>
                                <a:rPr lang="ar-AE" sz="2200" i="1">
                                  <a:latin typeface="Cambria Math" panose="02040503050406030204" pitchFamily="18" charset="0"/>
                                </a:rPr>
                              </m:ctrlPr>
                            </m:sSubPr>
                            <m:e>
                              <m:r>
                                <a:rPr lang="ar-AE" sz="2200" i="1">
                                  <a:latin typeface="Cambria Math" panose="02040503050406030204" pitchFamily="18" charset="0"/>
                                </a:rPr>
                                <m:t>𝑉</m:t>
                              </m:r>
                            </m:e>
                            <m:sub>
                              <m:r>
                                <a:rPr lang="ar-AE" sz="2200" i="1">
                                  <a:latin typeface="Cambria Math" panose="02040503050406030204" pitchFamily="18" charset="0"/>
                                </a:rPr>
                                <m:t>𝑜𝑢𝑡</m:t>
                              </m:r>
                            </m:sub>
                          </m:sSub>
                        </m:num>
                        <m:den>
                          <m:r>
                            <a:rPr lang="ar-AE" sz="2200">
                              <a:latin typeface="Cambria Math" panose="02040503050406030204" pitchFamily="18" charset="0"/>
                            </a:rPr>
                            <m:t>3.3</m:t>
                          </m:r>
                        </m:den>
                      </m:f>
                      <m:r>
                        <a:rPr lang="ar-AE" sz="2200">
                          <a:latin typeface="Cambria Math" panose="02040503050406030204" pitchFamily="18" charset="0"/>
                        </a:rPr>
                        <m:t>×4095</m:t>
                      </m:r>
                    </m:oMath>
                  </m:oMathPara>
                </a14:m>
                <a:endParaRPr lang="ar-AE" sz="2200" dirty="0"/>
              </a:p>
              <a:p>
                <a:r>
                  <a:rPr lang="en-IN" sz="2200" dirty="0"/>
                  <a:t>Substitute </a:t>
                </a:r>
                <a14:m>
                  <m:oMath xmlns:m="http://schemas.openxmlformats.org/officeDocument/2006/math">
                    <m:sSub>
                      <m:sSubPr>
                        <m:ctrlPr>
                          <a:rPr lang="ar-AE" sz="2200" i="1">
                            <a:latin typeface="Cambria Math" panose="02040503050406030204" pitchFamily="18" charset="0"/>
                          </a:rPr>
                        </m:ctrlPr>
                      </m:sSubPr>
                      <m:e>
                        <m:r>
                          <a:rPr lang="ar-AE" sz="2200" i="1">
                            <a:latin typeface="Cambria Math" panose="02040503050406030204" pitchFamily="18" charset="0"/>
                          </a:rPr>
                          <m:t>𝑉</m:t>
                        </m:r>
                      </m:e>
                      <m:sub>
                        <m:r>
                          <a:rPr lang="ar-AE" sz="2200" i="1">
                            <a:latin typeface="Cambria Math" panose="02040503050406030204" pitchFamily="18" charset="0"/>
                          </a:rPr>
                          <m:t>𝑜𝑢𝑡</m:t>
                        </m:r>
                      </m:sub>
                    </m:sSub>
                    <m:r>
                      <a:rPr lang="ar-AE" sz="2200">
                        <a:latin typeface="Cambria Math" panose="02040503050406030204" pitchFamily="18" charset="0"/>
                      </a:rPr>
                      <m:t>=0.3</m:t>
                    </m:r>
                    <m:r>
                      <a:rPr lang="ar-AE" sz="2200" i="1">
                        <a:latin typeface="Cambria Math" panose="02040503050406030204" pitchFamily="18" charset="0"/>
                      </a:rPr>
                      <m:t>𝑉</m:t>
                    </m:r>
                  </m:oMath>
                </a14:m>
                <a:r>
                  <a:rPr lang="ar-AE" sz="2200" dirty="0"/>
                  <a:t>:</a:t>
                </a:r>
              </a:p>
              <a:p>
                <a:pPr/>
                <a14:m>
                  <m:oMathPara xmlns:m="http://schemas.openxmlformats.org/officeDocument/2006/math">
                    <m:oMath>
                      <m:r>
                        <a:rPr lang="ar-AE" sz="2200" i="1">
                          <a:latin typeface="Cambria Math" panose="02040503050406030204" pitchFamily="18" charset="0"/>
                        </a:rPr>
                        <m:t>𝐴𝐷𝐶</m:t>
                      </m:r>
                      <m:r>
                        <a:rPr lang="ar-AE" sz="2200">
                          <a:latin typeface="Cambria Math" panose="02040503050406030204" pitchFamily="18" charset="0"/>
                        </a:rPr>
                        <m:t>=</m:t>
                      </m:r>
                      <m:f>
                        <m:fPr>
                          <m:ctrlPr>
                            <a:rPr lang="ar-AE" sz="2200">
                              <a:latin typeface="Cambria Math" panose="02040503050406030204" pitchFamily="18" charset="0"/>
                            </a:rPr>
                          </m:ctrlPr>
                        </m:fPr>
                        <m:num>
                          <m:r>
                            <a:rPr lang="ar-AE" sz="2200">
                              <a:latin typeface="Cambria Math" panose="02040503050406030204" pitchFamily="18" charset="0"/>
                            </a:rPr>
                            <m:t>0.</m:t>
                          </m:r>
                          <m:r>
                            <a:rPr lang="en-IN" sz="2200" b="0" i="1" smtClean="0">
                              <a:latin typeface="Cambria Math" panose="02040503050406030204" pitchFamily="18" charset="0"/>
                            </a:rPr>
                            <m:t>24</m:t>
                          </m:r>
                        </m:num>
                        <m:den>
                          <m:r>
                            <a:rPr lang="ar-AE" sz="2200">
                              <a:latin typeface="Cambria Math" panose="02040503050406030204" pitchFamily="18" charset="0"/>
                            </a:rPr>
                            <m:t>3.3</m:t>
                          </m:r>
                        </m:den>
                      </m:f>
                      <m:r>
                        <a:rPr lang="ar-AE" sz="2200">
                          <a:latin typeface="Cambria Math" panose="02040503050406030204" pitchFamily="18" charset="0"/>
                        </a:rPr>
                        <m:t>×4095</m:t>
                      </m:r>
                    </m:oMath>
                  </m:oMathPara>
                </a14:m>
                <a:endParaRPr lang="ar-AE" sz="2200" dirty="0"/>
              </a:p>
              <a:p>
                <a:pPr/>
                <a14:m>
                  <m:oMathPara xmlns:m="http://schemas.openxmlformats.org/officeDocument/2006/math">
                    <m:oMath>
                      <m:r>
                        <a:rPr lang="ar-AE" sz="2200" i="1">
                          <a:latin typeface="Cambria Math" panose="02040503050406030204" pitchFamily="18" charset="0"/>
                        </a:rPr>
                        <m:t>𝐴𝐷𝐶</m:t>
                      </m:r>
                      <m:r>
                        <a:rPr lang="ar-AE" sz="2200">
                          <a:latin typeface="Cambria Math" panose="02040503050406030204" pitchFamily="18" charset="0"/>
                        </a:rPr>
                        <m:t>≈</m:t>
                      </m:r>
                      <m:r>
                        <a:rPr lang="en-IN" sz="2200" b="0" i="0" smtClean="0">
                          <a:latin typeface="Cambria Math" panose="02040503050406030204" pitchFamily="18" charset="0"/>
                        </a:rPr>
                        <m:t>298</m:t>
                      </m:r>
                    </m:oMath>
                  </m:oMathPara>
                </a14:m>
                <a:endParaRPr lang="ar-AE" sz="2200" dirty="0"/>
              </a:p>
              <a:p>
                <a:r>
                  <a:rPr lang="en-US" sz="2200" dirty="0">
                    <a:latin typeface="+mj-lt"/>
                  </a:rPr>
                  <a:t>Condition:</a:t>
                </a:r>
              </a:p>
              <a:p>
                <a:r>
                  <a:rPr lang="en-US" sz="2200" dirty="0">
                    <a:latin typeface="+mj-lt"/>
                  </a:rPr>
                  <a:t>	Temperature ≥ 24°C → Fan ON</a:t>
                </a:r>
                <a:endParaRPr lang="en-IN" sz="2200" dirty="0"/>
              </a:p>
            </p:txBody>
          </p:sp>
        </mc:Choice>
        <mc:Fallback xmlns="">
          <p:sp>
            <p:nvSpPr>
              <p:cNvPr id="6" name="TextBox 5">
                <a:extLst>
                  <a:ext uri="{FF2B5EF4-FFF2-40B4-BE49-F238E27FC236}">
                    <a16:creationId xmlns:a16="http://schemas.microsoft.com/office/drawing/2014/main" id="{96E964F0-7A61-EAB7-3306-F8B414EC0065}"/>
                  </a:ext>
                </a:extLst>
              </p:cNvPr>
              <p:cNvSpPr txBox="1">
                <a:spLocks noRot="1" noChangeAspect="1" noMove="1" noResize="1" noEditPoints="1" noAdjustHandles="1" noChangeArrowheads="1" noChangeShapeType="1" noTextEdit="1"/>
              </p:cNvSpPr>
              <p:nvPr/>
            </p:nvSpPr>
            <p:spPr>
              <a:xfrm>
                <a:off x="314011" y="556065"/>
                <a:ext cx="9201778" cy="3054939"/>
              </a:xfrm>
              <a:prstGeom prst="rect">
                <a:avLst/>
              </a:prstGeom>
              <a:blipFill>
                <a:blip r:embed="rId2"/>
                <a:stretch>
                  <a:fillRect l="-861" t="-1397" b="-3393"/>
                </a:stretch>
              </a:blipFill>
            </p:spPr>
            <p:txBody>
              <a:bodyPr/>
              <a:lstStyle/>
              <a:p>
                <a:r>
                  <a:rPr lang="en-IN">
                    <a:noFill/>
                  </a:rPr>
                  <a:t> </a:t>
                </a:r>
              </a:p>
            </p:txBody>
          </p:sp>
        </mc:Fallback>
      </mc:AlternateContent>
      <p:sp>
        <p:nvSpPr>
          <p:cNvPr id="7" name="TextBox 6">
            <a:extLst>
              <a:ext uri="{FF2B5EF4-FFF2-40B4-BE49-F238E27FC236}">
                <a16:creationId xmlns:a16="http://schemas.microsoft.com/office/drawing/2014/main" id="{E1147AA8-F6D6-1D96-7448-3DF22612C9C6}"/>
              </a:ext>
            </a:extLst>
          </p:cNvPr>
          <p:cNvSpPr txBox="1"/>
          <p:nvPr/>
        </p:nvSpPr>
        <p:spPr>
          <a:xfrm>
            <a:off x="11126875" y="242206"/>
            <a:ext cx="751114" cy="369332"/>
          </a:xfrm>
          <a:prstGeom prst="rect">
            <a:avLst/>
          </a:prstGeom>
          <a:noFill/>
        </p:spPr>
        <p:txBody>
          <a:bodyPr wrap="square">
            <a:spAutoFit/>
          </a:bodyPr>
          <a:lstStyle/>
          <a:p>
            <a:r>
              <a:rPr lang="en-US" b="1" dirty="0"/>
              <a:t>15</a:t>
            </a:r>
          </a:p>
        </p:txBody>
      </p:sp>
    </p:spTree>
    <p:extLst>
      <p:ext uri="{BB962C8B-B14F-4D97-AF65-F5344CB8AC3E}">
        <p14:creationId xmlns:p14="http://schemas.microsoft.com/office/powerpoint/2010/main" val="11316712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4F52E6-0EE2-A66B-8177-D9B78A12D38C}"/>
              </a:ext>
            </a:extLst>
          </p:cNvPr>
          <p:cNvSpPr txBox="1"/>
          <p:nvPr/>
        </p:nvSpPr>
        <p:spPr>
          <a:xfrm>
            <a:off x="394398" y="2478341"/>
            <a:ext cx="8822454" cy="4247317"/>
          </a:xfrm>
          <a:prstGeom prst="rect">
            <a:avLst/>
          </a:prstGeom>
          <a:noFill/>
        </p:spPr>
        <p:txBody>
          <a:bodyPr wrap="square" rtlCol="0">
            <a:spAutoFit/>
          </a:bodyPr>
          <a:lstStyle/>
          <a:p>
            <a:r>
              <a:rPr lang="en-IN" sz="2400" b="1" dirty="0">
                <a:latin typeface="+mj-lt"/>
              </a:rPr>
              <a:t>Relay Module (5V)</a:t>
            </a:r>
          </a:p>
          <a:p>
            <a:endParaRPr lang="en-IN" sz="2400" b="1" dirty="0">
              <a:latin typeface="+mj-lt"/>
            </a:endParaRPr>
          </a:p>
          <a:p>
            <a:r>
              <a:rPr lang="en-IN" sz="2200" dirty="0">
                <a:latin typeface="+mj-lt"/>
              </a:rPr>
              <a:t>Used to control 230V AC appliances</a:t>
            </a:r>
          </a:p>
          <a:p>
            <a:r>
              <a:rPr lang="en-IN" sz="2200" dirty="0">
                <a:latin typeface="+mj-lt"/>
              </a:rPr>
              <a:t>      </a:t>
            </a:r>
            <a:r>
              <a:rPr lang="en-IN" sz="2200" dirty="0"/>
              <a:t>• </a:t>
            </a:r>
            <a:r>
              <a:rPr lang="en-IN" sz="2200" dirty="0">
                <a:latin typeface="+mj-lt"/>
              </a:rPr>
              <a:t>Load calculation:</a:t>
            </a:r>
          </a:p>
          <a:p>
            <a:r>
              <a:rPr lang="en-IN" sz="2200" dirty="0">
                <a:latin typeface="+mj-lt"/>
              </a:rPr>
              <a:t>	Fan power ≈ 60 W</a:t>
            </a:r>
          </a:p>
          <a:p>
            <a:r>
              <a:rPr lang="en-IN" sz="2200" dirty="0">
                <a:latin typeface="+mj-lt"/>
              </a:rPr>
              <a:t>		</a:t>
            </a:r>
            <a:r>
              <a:rPr lang="en-IN" sz="2400" dirty="0"/>
              <a:t>I=V/P​=60​/230≈0.26 A</a:t>
            </a:r>
            <a:endParaRPr lang="en-IN" sz="2200" dirty="0">
              <a:latin typeface="+mj-lt"/>
            </a:endParaRPr>
          </a:p>
          <a:p>
            <a:r>
              <a:rPr lang="en-IN" sz="2200" dirty="0">
                <a:latin typeface="+mj-lt"/>
              </a:rPr>
              <a:t>	Light power ≈ 9 W</a:t>
            </a:r>
          </a:p>
          <a:p>
            <a:r>
              <a:rPr lang="en-IN" sz="2200" dirty="0">
                <a:latin typeface="+mj-lt"/>
              </a:rPr>
              <a:t>		I = V/P=9/230= 0.04A</a:t>
            </a:r>
          </a:p>
          <a:p>
            <a:r>
              <a:rPr lang="en-IN" sz="2200" dirty="0">
                <a:latin typeface="+mj-lt"/>
              </a:rPr>
              <a:t>       </a:t>
            </a:r>
            <a:r>
              <a:rPr lang="en-IN" sz="2200" dirty="0"/>
              <a:t>• </a:t>
            </a:r>
            <a:r>
              <a:rPr lang="en-IN" sz="2200" dirty="0">
                <a:latin typeface="+mj-lt"/>
              </a:rPr>
              <a:t>Total current:</a:t>
            </a:r>
          </a:p>
          <a:p>
            <a:r>
              <a:rPr lang="en-IN" sz="2200" dirty="0">
                <a:latin typeface="+mj-lt"/>
              </a:rPr>
              <a:t>	0.26 + 0.04 = 0.30A</a:t>
            </a:r>
          </a:p>
          <a:p>
            <a:r>
              <a:rPr lang="en-IN" sz="2200" dirty="0">
                <a:latin typeface="+mj-lt"/>
              </a:rPr>
              <a:t>       </a:t>
            </a:r>
            <a:r>
              <a:rPr lang="en-IN" sz="2200" dirty="0"/>
              <a:t>• </a:t>
            </a:r>
            <a:r>
              <a:rPr lang="en-IN" sz="2200" dirty="0">
                <a:latin typeface="+mj-lt"/>
              </a:rPr>
              <a:t>Relay rating:</a:t>
            </a:r>
          </a:p>
          <a:p>
            <a:r>
              <a:rPr lang="en-IN" sz="2200" dirty="0">
                <a:latin typeface="+mj-lt"/>
              </a:rPr>
              <a:t>	5A / 230V AC </a:t>
            </a:r>
          </a:p>
        </p:txBody>
      </p:sp>
      <p:sp>
        <p:nvSpPr>
          <p:cNvPr id="6" name="TextBox 5">
            <a:extLst>
              <a:ext uri="{FF2B5EF4-FFF2-40B4-BE49-F238E27FC236}">
                <a16:creationId xmlns:a16="http://schemas.microsoft.com/office/drawing/2014/main" id="{DDEA1171-C645-FCFF-6B88-6E0ED3DEC80B}"/>
              </a:ext>
            </a:extLst>
          </p:cNvPr>
          <p:cNvSpPr txBox="1"/>
          <p:nvPr/>
        </p:nvSpPr>
        <p:spPr>
          <a:xfrm>
            <a:off x="394398" y="532452"/>
            <a:ext cx="10819562" cy="1785104"/>
          </a:xfrm>
          <a:prstGeom prst="rect">
            <a:avLst/>
          </a:prstGeom>
          <a:noFill/>
        </p:spPr>
        <p:txBody>
          <a:bodyPr wrap="square">
            <a:spAutoFit/>
          </a:bodyPr>
          <a:lstStyle/>
          <a:p>
            <a:r>
              <a:rPr lang="en-US" sz="2200" b="1" dirty="0">
                <a:latin typeface="+mj-lt"/>
              </a:rPr>
              <a:t>Light</a:t>
            </a:r>
          </a:p>
          <a:p>
            <a:endParaRPr lang="en-US" sz="2200" b="1" dirty="0">
              <a:latin typeface="+mj-lt"/>
            </a:endParaRPr>
          </a:p>
          <a:p>
            <a:r>
              <a:rPr lang="en-US" sz="2200" dirty="0">
                <a:latin typeface="+mj-lt"/>
              </a:rPr>
              <a:t>• Supply voltage = 230V AC</a:t>
            </a:r>
          </a:p>
          <a:p>
            <a:r>
              <a:rPr lang="en-US" sz="2200" dirty="0">
                <a:latin typeface="+mj-lt"/>
              </a:rPr>
              <a:t>• Power rating ≈ 9 W LED bulb</a:t>
            </a:r>
          </a:p>
          <a:p>
            <a:r>
              <a:rPr lang="en-US" sz="2200" dirty="0">
                <a:latin typeface="+mj-lt"/>
              </a:rPr>
              <a:t>• Controlled automatically based on motion detection and light intensity</a:t>
            </a:r>
            <a:endParaRPr lang="en-IN" sz="2200" dirty="0">
              <a:latin typeface="+mj-lt"/>
            </a:endParaRPr>
          </a:p>
        </p:txBody>
      </p:sp>
      <p:sp>
        <p:nvSpPr>
          <p:cNvPr id="4" name="TextBox 3">
            <a:extLst>
              <a:ext uri="{FF2B5EF4-FFF2-40B4-BE49-F238E27FC236}">
                <a16:creationId xmlns:a16="http://schemas.microsoft.com/office/drawing/2014/main" id="{55BDFE24-F403-27B5-F2BF-F800B6D94B16}"/>
              </a:ext>
            </a:extLst>
          </p:cNvPr>
          <p:cNvSpPr txBox="1"/>
          <p:nvPr/>
        </p:nvSpPr>
        <p:spPr>
          <a:xfrm>
            <a:off x="11159261" y="180459"/>
            <a:ext cx="566057" cy="369332"/>
          </a:xfrm>
          <a:prstGeom prst="rect">
            <a:avLst/>
          </a:prstGeom>
          <a:noFill/>
        </p:spPr>
        <p:txBody>
          <a:bodyPr wrap="square">
            <a:spAutoFit/>
          </a:bodyPr>
          <a:lstStyle/>
          <a:p>
            <a:r>
              <a:rPr lang="en-US" b="1" dirty="0"/>
              <a:t>16</a:t>
            </a:r>
            <a:endParaRPr lang="en-IN" b="1" dirty="0"/>
          </a:p>
        </p:txBody>
      </p:sp>
      <p:sp>
        <p:nvSpPr>
          <p:cNvPr id="7" name="Slide Number Placeholder 6">
            <a:extLst>
              <a:ext uri="{FF2B5EF4-FFF2-40B4-BE49-F238E27FC236}">
                <a16:creationId xmlns:a16="http://schemas.microsoft.com/office/drawing/2014/main" id="{8779B1C8-A386-D648-A25A-73838CF51588}"/>
              </a:ext>
            </a:extLst>
          </p:cNvPr>
          <p:cNvSpPr>
            <a:spLocks noGrp="1"/>
          </p:cNvSpPr>
          <p:nvPr>
            <p:ph type="sldNum" sz="quarter" idx="12"/>
          </p:nvPr>
        </p:nvSpPr>
        <p:spPr/>
        <p:txBody>
          <a:bodyPr/>
          <a:lstStyle/>
          <a:p>
            <a:fld id="{0E29D32D-1BC0-48D0-BB54-D1EE225F3EBD}" type="slidenum">
              <a:rPr lang="en-IN" smtClean="0"/>
              <a:t>19</a:t>
            </a:fld>
            <a:endParaRPr lang="en-IN" dirty="0"/>
          </a:p>
        </p:txBody>
      </p:sp>
    </p:spTree>
    <p:extLst>
      <p:ext uri="{BB962C8B-B14F-4D97-AF65-F5344CB8AC3E}">
        <p14:creationId xmlns:p14="http://schemas.microsoft.com/office/powerpoint/2010/main" val="5152269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76D1F93-0A84-2E44-6CED-F7A1891AC041}"/>
              </a:ext>
            </a:extLst>
          </p:cNvPr>
          <p:cNvSpPr txBox="1"/>
          <p:nvPr/>
        </p:nvSpPr>
        <p:spPr>
          <a:xfrm>
            <a:off x="321547" y="430007"/>
            <a:ext cx="6241773" cy="2154436"/>
          </a:xfrm>
          <a:prstGeom prst="rect">
            <a:avLst/>
          </a:prstGeom>
          <a:noFill/>
        </p:spPr>
        <p:txBody>
          <a:bodyPr wrap="none" rtlCol="0">
            <a:spAutoFit/>
          </a:bodyPr>
          <a:lstStyle/>
          <a:p>
            <a:r>
              <a:rPr lang="en-US" sz="2400" b="1" dirty="0">
                <a:latin typeface="+mj-lt"/>
              </a:rPr>
              <a:t>Fuse (5A)</a:t>
            </a:r>
          </a:p>
          <a:p>
            <a:r>
              <a:rPr lang="en-US" sz="2200" dirty="0">
                <a:latin typeface="+mj-lt"/>
              </a:rPr>
              <a:t>    Fuse selection rule:</a:t>
            </a:r>
          </a:p>
          <a:p>
            <a:r>
              <a:rPr lang="en-US" sz="2200" dirty="0">
                <a:latin typeface="+mj-lt"/>
              </a:rPr>
              <a:t>	Fuse\ rating ≈ 2 × Load\ current</a:t>
            </a:r>
          </a:p>
          <a:p>
            <a:r>
              <a:rPr lang="en-US" sz="2200" dirty="0">
                <a:latin typeface="+mj-lt"/>
              </a:rPr>
              <a:t>	Load current ≈ 0.30A</a:t>
            </a:r>
          </a:p>
          <a:p>
            <a:r>
              <a:rPr lang="en-US" sz="2200" dirty="0">
                <a:latin typeface="+mj-lt"/>
              </a:rPr>
              <a:t>	Selected fuse = 5A</a:t>
            </a:r>
          </a:p>
          <a:p>
            <a:r>
              <a:rPr lang="en-US" sz="2200" dirty="0">
                <a:latin typeface="+mj-lt"/>
              </a:rPr>
              <a:t>    Provides safety against overcurrent and short circuit</a:t>
            </a:r>
            <a:endParaRPr lang="en-IN" sz="2200" dirty="0">
              <a:latin typeface="+mj-lt"/>
            </a:endParaRPr>
          </a:p>
        </p:txBody>
      </p:sp>
      <p:sp>
        <p:nvSpPr>
          <p:cNvPr id="7" name="TextBox 6">
            <a:extLst>
              <a:ext uri="{FF2B5EF4-FFF2-40B4-BE49-F238E27FC236}">
                <a16:creationId xmlns:a16="http://schemas.microsoft.com/office/drawing/2014/main" id="{4AFDC73D-1A5C-AF97-3BA8-86B860796203}"/>
              </a:ext>
            </a:extLst>
          </p:cNvPr>
          <p:cNvSpPr txBox="1"/>
          <p:nvPr/>
        </p:nvSpPr>
        <p:spPr>
          <a:xfrm>
            <a:off x="321547" y="2859613"/>
            <a:ext cx="6076087" cy="1138773"/>
          </a:xfrm>
          <a:prstGeom prst="rect">
            <a:avLst/>
          </a:prstGeom>
          <a:noFill/>
        </p:spPr>
        <p:txBody>
          <a:bodyPr wrap="none" rtlCol="0">
            <a:spAutoFit/>
          </a:bodyPr>
          <a:lstStyle/>
          <a:p>
            <a:r>
              <a:rPr lang="en-US" sz="2400" b="1" dirty="0">
                <a:latin typeface="+mj-lt"/>
              </a:rPr>
              <a:t>Switch</a:t>
            </a:r>
          </a:p>
          <a:p>
            <a:r>
              <a:rPr lang="en-US" sz="2200" dirty="0">
                <a:latin typeface="+mj-lt"/>
              </a:rPr>
              <a:t>• Used for manual control and safety isolation</a:t>
            </a:r>
          </a:p>
          <a:p>
            <a:r>
              <a:rPr lang="en-US" sz="2200" dirty="0">
                <a:latin typeface="+mj-lt"/>
              </a:rPr>
              <a:t>• Allows user to operate system manually if required</a:t>
            </a:r>
            <a:endParaRPr lang="en-IN" sz="2200" dirty="0">
              <a:latin typeface="+mj-lt"/>
            </a:endParaRPr>
          </a:p>
        </p:txBody>
      </p:sp>
      <p:sp>
        <p:nvSpPr>
          <p:cNvPr id="3" name="TextBox 2">
            <a:extLst>
              <a:ext uri="{FF2B5EF4-FFF2-40B4-BE49-F238E27FC236}">
                <a16:creationId xmlns:a16="http://schemas.microsoft.com/office/drawing/2014/main" id="{81ECF377-EA41-4FF5-B85E-B3F40618E0D5}"/>
              </a:ext>
            </a:extLst>
          </p:cNvPr>
          <p:cNvSpPr txBox="1"/>
          <p:nvPr/>
        </p:nvSpPr>
        <p:spPr>
          <a:xfrm>
            <a:off x="11159261" y="180459"/>
            <a:ext cx="566057" cy="369332"/>
          </a:xfrm>
          <a:prstGeom prst="rect">
            <a:avLst/>
          </a:prstGeom>
          <a:noFill/>
        </p:spPr>
        <p:txBody>
          <a:bodyPr wrap="square">
            <a:spAutoFit/>
          </a:bodyPr>
          <a:lstStyle/>
          <a:p>
            <a:r>
              <a:rPr lang="en-US" b="1" dirty="0"/>
              <a:t>17</a:t>
            </a:r>
            <a:endParaRPr lang="en-IN" b="1" dirty="0"/>
          </a:p>
        </p:txBody>
      </p:sp>
      <p:sp>
        <p:nvSpPr>
          <p:cNvPr id="4" name="TextBox 3">
            <a:extLst>
              <a:ext uri="{FF2B5EF4-FFF2-40B4-BE49-F238E27FC236}">
                <a16:creationId xmlns:a16="http://schemas.microsoft.com/office/drawing/2014/main" id="{AC74652B-DD72-CFF1-CC7B-B9320CE22746}"/>
              </a:ext>
            </a:extLst>
          </p:cNvPr>
          <p:cNvSpPr txBox="1"/>
          <p:nvPr/>
        </p:nvSpPr>
        <p:spPr>
          <a:xfrm>
            <a:off x="321547" y="4151623"/>
            <a:ext cx="8604856" cy="3046988"/>
          </a:xfrm>
          <a:prstGeom prst="rect">
            <a:avLst/>
          </a:prstGeom>
          <a:noFill/>
        </p:spPr>
        <p:txBody>
          <a:bodyPr wrap="none" rtlCol="0">
            <a:spAutoFit/>
          </a:bodyPr>
          <a:lstStyle/>
          <a:p>
            <a:r>
              <a:rPr lang="en-US" sz="2400" b="1" dirty="0">
                <a:latin typeface="+mj-lt"/>
              </a:rPr>
              <a:t>OLED Display</a:t>
            </a:r>
          </a:p>
          <a:p>
            <a:r>
              <a:rPr lang="en-US" sz="2200" dirty="0"/>
              <a:t>• Operating voltage = 3.3V–5V</a:t>
            </a:r>
          </a:p>
          <a:p>
            <a:r>
              <a:rPr lang="en-US" sz="2200" dirty="0"/>
              <a:t>• Communication protocol = I2C</a:t>
            </a:r>
          </a:p>
          <a:p>
            <a:r>
              <a:rPr lang="en-US" sz="2200" dirty="0"/>
              <a:t>• Pins used:</a:t>
            </a:r>
          </a:p>
          <a:p>
            <a:r>
              <a:rPr lang="en-US" sz="2200" dirty="0"/>
              <a:t>	SDA</a:t>
            </a:r>
          </a:p>
          <a:p>
            <a:r>
              <a:rPr lang="en-US" sz="2200" dirty="0"/>
              <a:t>	SCL</a:t>
            </a:r>
          </a:p>
          <a:p>
            <a:r>
              <a:rPr lang="en-US" sz="2200" dirty="0"/>
              <a:t>• Displays system status like motion detection and temperature value</a:t>
            </a:r>
          </a:p>
          <a:p>
            <a:endParaRPr lang="en-IN" dirty="0"/>
          </a:p>
          <a:p>
            <a:endParaRPr lang="en-IN" dirty="0"/>
          </a:p>
        </p:txBody>
      </p:sp>
      <p:sp>
        <p:nvSpPr>
          <p:cNvPr id="8" name="Slide Number Placeholder 7">
            <a:extLst>
              <a:ext uri="{FF2B5EF4-FFF2-40B4-BE49-F238E27FC236}">
                <a16:creationId xmlns:a16="http://schemas.microsoft.com/office/drawing/2014/main" id="{503389F3-ECEE-8E7E-2964-6F56E3D9AE44}"/>
              </a:ext>
            </a:extLst>
          </p:cNvPr>
          <p:cNvSpPr>
            <a:spLocks noGrp="1"/>
          </p:cNvSpPr>
          <p:nvPr>
            <p:ph type="sldNum" sz="quarter" idx="12"/>
          </p:nvPr>
        </p:nvSpPr>
        <p:spPr/>
        <p:txBody>
          <a:bodyPr/>
          <a:lstStyle/>
          <a:p>
            <a:fld id="{0E29D32D-1BC0-48D0-BB54-D1EE225F3EBD}" type="slidenum">
              <a:rPr lang="en-IN" smtClean="0"/>
              <a:t>20</a:t>
            </a:fld>
            <a:endParaRPr lang="en-IN" dirty="0"/>
          </a:p>
        </p:txBody>
      </p:sp>
    </p:spTree>
    <p:extLst>
      <p:ext uri="{BB962C8B-B14F-4D97-AF65-F5344CB8AC3E}">
        <p14:creationId xmlns:p14="http://schemas.microsoft.com/office/powerpoint/2010/main" val="1218281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D5006-56F2-99FE-D5EE-3D42983AD1F8}"/>
              </a:ext>
            </a:extLst>
          </p:cNvPr>
          <p:cNvSpPr>
            <a:spLocks noGrp="1"/>
          </p:cNvSpPr>
          <p:nvPr>
            <p:ph type="title"/>
          </p:nvPr>
        </p:nvSpPr>
        <p:spPr>
          <a:xfrm>
            <a:off x="346587" y="136525"/>
            <a:ext cx="10515600" cy="1325563"/>
          </a:xfrm>
        </p:spPr>
        <p:txBody>
          <a:bodyPr>
            <a:normAutofit/>
          </a:bodyPr>
          <a:lstStyle/>
          <a:p>
            <a:r>
              <a:rPr lang="en-IN" sz="3600" b="1" u="sng" dirty="0"/>
              <a:t>BLOCK DIAGRAM</a:t>
            </a:r>
          </a:p>
        </p:txBody>
      </p:sp>
      <p:sp>
        <p:nvSpPr>
          <p:cNvPr id="14" name="TextBox 13">
            <a:extLst>
              <a:ext uri="{FF2B5EF4-FFF2-40B4-BE49-F238E27FC236}">
                <a16:creationId xmlns:a16="http://schemas.microsoft.com/office/drawing/2014/main" id="{03460B2D-6C54-93AF-E90B-C36F60C727A2}"/>
              </a:ext>
            </a:extLst>
          </p:cNvPr>
          <p:cNvSpPr txBox="1"/>
          <p:nvPr/>
        </p:nvSpPr>
        <p:spPr>
          <a:xfrm>
            <a:off x="11235813" y="229932"/>
            <a:ext cx="609600" cy="369332"/>
          </a:xfrm>
          <a:prstGeom prst="rect">
            <a:avLst/>
          </a:prstGeom>
          <a:noFill/>
        </p:spPr>
        <p:txBody>
          <a:bodyPr wrap="square">
            <a:spAutoFit/>
          </a:bodyPr>
          <a:lstStyle/>
          <a:p>
            <a:r>
              <a:rPr lang="en-US" b="1" dirty="0"/>
              <a:t>18</a:t>
            </a:r>
            <a:endParaRPr lang="en-IN" b="1" dirty="0"/>
          </a:p>
        </p:txBody>
      </p:sp>
      <p:sp>
        <p:nvSpPr>
          <p:cNvPr id="5" name="Slide Number Placeholder 4">
            <a:extLst>
              <a:ext uri="{FF2B5EF4-FFF2-40B4-BE49-F238E27FC236}">
                <a16:creationId xmlns:a16="http://schemas.microsoft.com/office/drawing/2014/main" id="{5FD0878B-F046-44D4-56F2-4C3208E4ABC3}"/>
              </a:ext>
            </a:extLst>
          </p:cNvPr>
          <p:cNvSpPr>
            <a:spLocks noGrp="1"/>
          </p:cNvSpPr>
          <p:nvPr>
            <p:ph type="sldNum" sz="quarter" idx="12"/>
          </p:nvPr>
        </p:nvSpPr>
        <p:spPr/>
        <p:txBody>
          <a:bodyPr/>
          <a:lstStyle/>
          <a:p>
            <a:fld id="{0E29D32D-1BC0-48D0-BB54-D1EE225F3EBD}" type="slidenum">
              <a:rPr lang="en-IN" smtClean="0"/>
              <a:t>21</a:t>
            </a:fld>
            <a:endParaRPr lang="en-IN" dirty="0"/>
          </a:p>
        </p:txBody>
      </p:sp>
      <p:pic>
        <p:nvPicPr>
          <p:cNvPr id="4" name="Picture 3">
            <a:extLst>
              <a:ext uri="{FF2B5EF4-FFF2-40B4-BE49-F238E27FC236}">
                <a16:creationId xmlns:a16="http://schemas.microsoft.com/office/drawing/2014/main" id="{66D60845-5513-2C4A-4A01-5F853CFC70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5561" y="1399091"/>
            <a:ext cx="9164075" cy="5139821"/>
          </a:xfrm>
          <a:prstGeom prst="rect">
            <a:avLst/>
          </a:prstGeom>
        </p:spPr>
      </p:pic>
    </p:spTree>
    <p:extLst>
      <p:ext uri="{BB962C8B-B14F-4D97-AF65-F5344CB8AC3E}">
        <p14:creationId xmlns:p14="http://schemas.microsoft.com/office/powerpoint/2010/main" val="2223478665"/>
      </p:ext>
    </p:extLst>
  </p:cSld>
  <p:clrMapOvr>
    <a:masterClrMapping/>
  </p:clrMapOvr>
  <p:transition spd="med">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3810D4-F54C-2825-3687-03416EE52663}"/>
              </a:ext>
            </a:extLst>
          </p:cNvPr>
          <p:cNvSpPr>
            <a:spLocks noGrp="1"/>
          </p:cNvSpPr>
          <p:nvPr>
            <p:ph type="sldNum" sz="quarter" idx="12"/>
          </p:nvPr>
        </p:nvSpPr>
        <p:spPr/>
        <p:txBody>
          <a:bodyPr/>
          <a:lstStyle/>
          <a:p>
            <a:fld id="{0E29D32D-1BC0-48D0-BB54-D1EE225F3EBD}" type="slidenum">
              <a:rPr lang="en-IN" smtClean="0"/>
              <a:t>22</a:t>
            </a:fld>
            <a:endParaRPr lang="en-IN"/>
          </a:p>
        </p:txBody>
      </p:sp>
      <p:sp>
        <p:nvSpPr>
          <p:cNvPr id="4" name="TextBox 3">
            <a:extLst>
              <a:ext uri="{FF2B5EF4-FFF2-40B4-BE49-F238E27FC236}">
                <a16:creationId xmlns:a16="http://schemas.microsoft.com/office/drawing/2014/main" id="{0D3B8228-7240-7928-A33D-DC83129AA2FF}"/>
              </a:ext>
            </a:extLst>
          </p:cNvPr>
          <p:cNvSpPr txBox="1"/>
          <p:nvPr/>
        </p:nvSpPr>
        <p:spPr>
          <a:xfrm>
            <a:off x="223577" y="226087"/>
            <a:ext cx="6094324" cy="646331"/>
          </a:xfrm>
          <a:prstGeom prst="rect">
            <a:avLst/>
          </a:prstGeom>
          <a:noFill/>
        </p:spPr>
        <p:txBody>
          <a:bodyPr wrap="square">
            <a:spAutoFit/>
          </a:bodyPr>
          <a:lstStyle/>
          <a:p>
            <a:r>
              <a:rPr lang="en-IN" sz="3600" b="1" u="sng" dirty="0"/>
              <a:t>FLOWCHART</a:t>
            </a:r>
            <a:endParaRPr lang="en-IN" sz="3600" dirty="0"/>
          </a:p>
        </p:txBody>
      </p:sp>
      <p:pic>
        <p:nvPicPr>
          <p:cNvPr id="6" name="Picture 5">
            <a:extLst>
              <a:ext uri="{FF2B5EF4-FFF2-40B4-BE49-F238E27FC236}">
                <a16:creationId xmlns:a16="http://schemas.microsoft.com/office/drawing/2014/main" id="{DF268963-D3A6-747C-F505-D82853C8EF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0739" y="560615"/>
            <a:ext cx="5154805" cy="6071298"/>
          </a:xfrm>
          <a:prstGeom prst="rect">
            <a:avLst/>
          </a:prstGeom>
        </p:spPr>
      </p:pic>
      <p:sp>
        <p:nvSpPr>
          <p:cNvPr id="7" name="TextBox 6">
            <a:extLst>
              <a:ext uri="{FF2B5EF4-FFF2-40B4-BE49-F238E27FC236}">
                <a16:creationId xmlns:a16="http://schemas.microsoft.com/office/drawing/2014/main" id="{6ADAAE03-B920-4744-BCDD-B4048C1E89D7}"/>
              </a:ext>
            </a:extLst>
          </p:cNvPr>
          <p:cNvSpPr txBox="1"/>
          <p:nvPr/>
        </p:nvSpPr>
        <p:spPr>
          <a:xfrm>
            <a:off x="11265310" y="264344"/>
            <a:ext cx="751114" cy="369332"/>
          </a:xfrm>
          <a:prstGeom prst="rect">
            <a:avLst/>
          </a:prstGeom>
          <a:noFill/>
        </p:spPr>
        <p:txBody>
          <a:bodyPr wrap="square">
            <a:spAutoFit/>
          </a:bodyPr>
          <a:lstStyle/>
          <a:p>
            <a:r>
              <a:rPr lang="en-US" b="1" dirty="0"/>
              <a:t>19</a:t>
            </a:r>
          </a:p>
        </p:txBody>
      </p:sp>
    </p:spTree>
    <p:extLst>
      <p:ext uri="{BB962C8B-B14F-4D97-AF65-F5344CB8AC3E}">
        <p14:creationId xmlns:p14="http://schemas.microsoft.com/office/powerpoint/2010/main" val="8618080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AAC62-C1B1-3D1B-A856-AAFF8C7EEC37}"/>
              </a:ext>
            </a:extLst>
          </p:cNvPr>
          <p:cNvSpPr>
            <a:spLocks noGrp="1"/>
          </p:cNvSpPr>
          <p:nvPr>
            <p:ph type="title"/>
          </p:nvPr>
        </p:nvSpPr>
        <p:spPr>
          <a:xfrm>
            <a:off x="332137" y="115998"/>
            <a:ext cx="10515600" cy="1325563"/>
          </a:xfrm>
        </p:spPr>
        <p:txBody>
          <a:bodyPr>
            <a:normAutofit/>
          </a:bodyPr>
          <a:lstStyle/>
          <a:p>
            <a:r>
              <a:rPr lang="en-US" sz="3600" b="1" u="sng" dirty="0"/>
              <a:t>CIRCUIT DIAGRAM</a:t>
            </a:r>
            <a:endParaRPr lang="en-IN" sz="3600" b="1" u="sng" dirty="0"/>
          </a:p>
        </p:txBody>
      </p:sp>
      <p:sp>
        <p:nvSpPr>
          <p:cNvPr id="10" name="TextBox 9">
            <a:extLst>
              <a:ext uri="{FF2B5EF4-FFF2-40B4-BE49-F238E27FC236}">
                <a16:creationId xmlns:a16="http://schemas.microsoft.com/office/drawing/2014/main" id="{BF53FA06-3C8D-2D52-9E88-385ABA412FE6}"/>
              </a:ext>
            </a:extLst>
          </p:cNvPr>
          <p:cNvSpPr txBox="1"/>
          <p:nvPr/>
        </p:nvSpPr>
        <p:spPr>
          <a:xfrm>
            <a:off x="11265310" y="264344"/>
            <a:ext cx="751114" cy="369332"/>
          </a:xfrm>
          <a:prstGeom prst="rect">
            <a:avLst/>
          </a:prstGeom>
          <a:noFill/>
        </p:spPr>
        <p:txBody>
          <a:bodyPr wrap="square">
            <a:spAutoFit/>
          </a:bodyPr>
          <a:lstStyle/>
          <a:p>
            <a:r>
              <a:rPr lang="en-US" b="1" dirty="0"/>
              <a:t>20</a:t>
            </a:r>
          </a:p>
        </p:txBody>
      </p:sp>
      <p:pic>
        <p:nvPicPr>
          <p:cNvPr id="18" name="Picture 17">
            <a:extLst>
              <a:ext uri="{FF2B5EF4-FFF2-40B4-BE49-F238E27FC236}">
                <a16:creationId xmlns:a16="http://schemas.microsoft.com/office/drawing/2014/main" id="{1F2475A0-DBE5-CD3F-58B4-55F6F8F2B8D3}"/>
              </a:ext>
            </a:extLst>
          </p:cNvPr>
          <p:cNvPicPr>
            <a:picLocks noChangeAspect="1"/>
          </p:cNvPicPr>
          <p:nvPr/>
        </p:nvPicPr>
        <p:blipFill>
          <a:blip r:embed="rId2">
            <a:extLst>
              <a:ext uri="{28A0092B-C50C-407E-A947-70E740481C1C}">
                <a14:useLocalDpi xmlns:a14="http://schemas.microsoft.com/office/drawing/2010/main" val="0"/>
              </a:ext>
            </a:extLst>
          </a:blip>
          <a:srcRect t="13016" b="24286"/>
          <a:stretch>
            <a:fillRect/>
          </a:stretch>
        </p:blipFill>
        <p:spPr>
          <a:xfrm>
            <a:off x="1344263" y="1013208"/>
            <a:ext cx="8874666" cy="5453743"/>
          </a:xfrm>
          <a:prstGeom prst="rect">
            <a:avLst/>
          </a:prstGeom>
        </p:spPr>
      </p:pic>
      <p:sp>
        <p:nvSpPr>
          <p:cNvPr id="5" name="Slide Number Placeholder 4">
            <a:extLst>
              <a:ext uri="{FF2B5EF4-FFF2-40B4-BE49-F238E27FC236}">
                <a16:creationId xmlns:a16="http://schemas.microsoft.com/office/drawing/2014/main" id="{B099247F-F230-C57F-5B17-07BD5705C481}"/>
              </a:ext>
            </a:extLst>
          </p:cNvPr>
          <p:cNvSpPr>
            <a:spLocks noGrp="1"/>
          </p:cNvSpPr>
          <p:nvPr>
            <p:ph type="sldNum" sz="quarter" idx="12"/>
          </p:nvPr>
        </p:nvSpPr>
        <p:spPr/>
        <p:txBody>
          <a:bodyPr/>
          <a:lstStyle/>
          <a:p>
            <a:fld id="{0E29D32D-1BC0-48D0-BB54-D1EE225F3EBD}" type="slidenum">
              <a:rPr lang="en-IN" smtClean="0"/>
              <a:t>23</a:t>
            </a:fld>
            <a:endParaRPr lang="en-IN" dirty="0"/>
          </a:p>
        </p:txBody>
      </p:sp>
    </p:spTree>
    <p:extLst>
      <p:ext uri="{BB962C8B-B14F-4D97-AF65-F5344CB8AC3E}">
        <p14:creationId xmlns:p14="http://schemas.microsoft.com/office/powerpoint/2010/main" val="2494546174"/>
      </p:ext>
    </p:extLst>
  </p:cSld>
  <p:clrMapOvr>
    <a:masterClrMapping/>
  </p:clrMapOvr>
  <p:transition spd="med">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B885F-FB87-2767-57FE-4BDADD61D0EB}"/>
              </a:ext>
            </a:extLst>
          </p:cNvPr>
          <p:cNvSpPr>
            <a:spLocks noGrp="1"/>
          </p:cNvSpPr>
          <p:nvPr>
            <p:ph type="title"/>
          </p:nvPr>
        </p:nvSpPr>
        <p:spPr>
          <a:xfrm>
            <a:off x="308568" y="125640"/>
            <a:ext cx="10515600" cy="1325563"/>
          </a:xfrm>
        </p:spPr>
        <p:txBody>
          <a:bodyPr>
            <a:normAutofit/>
          </a:bodyPr>
          <a:lstStyle/>
          <a:p>
            <a:r>
              <a:rPr lang="en-US" sz="3600" b="1" u="sng" dirty="0"/>
              <a:t>SIMULATION</a:t>
            </a:r>
            <a:endParaRPr lang="en-IN" sz="3600" b="1" u="sng" dirty="0"/>
          </a:p>
        </p:txBody>
      </p:sp>
      <p:pic>
        <p:nvPicPr>
          <p:cNvPr id="4" name="Picture 3">
            <a:extLst>
              <a:ext uri="{FF2B5EF4-FFF2-40B4-BE49-F238E27FC236}">
                <a16:creationId xmlns:a16="http://schemas.microsoft.com/office/drawing/2014/main" id="{66229BF6-EAE8-FA48-AEAC-7D8A91B429CB}"/>
              </a:ext>
            </a:extLst>
          </p:cNvPr>
          <p:cNvPicPr>
            <a:picLocks noChangeAspect="1"/>
          </p:cNvPicPr>
          <p:nvPr/>
        </p:nvPicPr>
        <p:blipFill>
          <a:blip r:embed="rId2">
            <a:extLst>
              <a:ext uri="{28A0092B-C50C-407E-A947-70E740481C1C}">
                <a14:useLocalDpi xmlns:a14="http://schemas.microsoft.com/office/drawing/2010/main" val="0"/>
              </a:ext>
            </a:extLst>
          </a:blip>
          <a:srcRect l="1610" t="10538" r="649" b="17308"/>
          <a:stretch>
            <a:fillRect/>
          </a:stretch>
        </p:blipFill>
        <p:spPr>
          <a:xfrm>
            <a:off x="553497" y="1162071"/>
            <a:ext cx="10025743" cy="4857729"/>
          </a:xfrm>
          <a:prstGeom prst="rect">
            <a:avLst/>
          </a:prstGeom>
        </p:spPr>
      </p:pic>
      <p:sp>
        <p:nvSpPr>
          <p:cNvPr id="5" name="TextBox 4">
            <a:extLst>
              <a:ext uri="{FF2B5EF4-FFF2-40B4-BE49-F238E27FC236}">
                <a16:creationId xmlns:a16="http://schemas.microsoft.com/office/drawing/2014/main" id="{DD7F8BBE-C618-9A9B-28D1-725EAF6E266D}"/>
              </a:ext>
            </a:extLst>
          </p:cNvPr>
          <p:cNvSpPr txBox="1"/>
          <p:nvPr/>
        </p:nvSpPr>
        <p:spPr>
          <a:xfrm>
            <a:off x="8414657" y="6019800"/>
            <a:ext cx="3080657" cy="369332"/>
          </a:xfrm>
          <a:prstGeom prst="rect">
            <a:avLst/>
          </a:prstGeom>
          <a:noFill/>
        </p:spPr>
        <p:txBody>
          <a:bodyPr wrap="square" rtlCol="0">
            <a:spAutoFit/>
          </a:bodyPr>
          <a:lstStyle/>
          <a:p>
            <a:r>
              <a:rPr lang="en-US" dirty="0"/>
              <a:t>:-fig: SIMULATION IN WOKWI</a:t>
            </a:r>
            <a:endParaRPr lang="en-IN" dirty="0"/>
          </a:p>
        </p:txBody>
      </p:sp>
      <p:sp>
        <p:nvSpPr>
          <p:cNvPr id="7" name="TextBox 6">
            <a:extLst>
              <a:ext uri="{FF2B5EF4-FFF2-40B4-BE49-F238E27FC236}">
                <a16:creationId xmlns:a16="http://schemas.microsoft.com/office/drawing/2014/main" id="{147F0330-D540-A52D-B28A-9E0173014E97}"/>
              </a:ext>
            </a:extLst>
          </p:cNvPr>
          <p:cNvSpPr txBox="1"/>
          <p:nvPr/>
        </p:nvSpPr>
        <p:spPr>
          <a:xfrm>
            <a:off x="11092543" y="125640"/>
            <a:ext cx="576943" cy="369332"/>
          </a:xfrm>
          <a:prstGeom prst="rect">
            <a:avLst/>
          </a:prstGeom>
          <a:noFill/>
        </p:spPr>
        <p:txBody>
          <a:bodyPr wrap="square">
            <a:spAutoFit/>
          </a:bodyPr>
          <a:lstStyle/>
          <a:p>
            <a:r>
              <a:rPr lang="en-US" b="1" dirty="0"/>
              <a:t>21</a:t>
            </a:r>
            <a:endParaRPr lang="en-IN" dirty="0"/>
          </a:p>
        </p:txBody>
      </p:sp>
      <p:sp>
        <p:nvSpPr>
          <p:cNvPr id="8" name="Slide Number Placeholder 7">
            <a:extLst>
              <a:ext uri="{FF2B5EF4-FFF2-40B4-BE49-F238E27FC236}">
                <a16:creationId xmlns:a16="http://schemas.microsoft.com/office/drawing/2014/main" id="{DDBA754F-2FD7-3CDC-4622-672C0AED1E1E}"/>
              </a:ext>
            </a:extLst>
          </p:cNvPr>
          <p:cNvSpPr>
            <a:spLocks noGrp="1"/>
          </p:cNvSpPr>
          <p:nvPr>
            <p:ph type="sldNum" sz="quarter" idx="12"/>
          </p:nvPr>
        </p:nvSpPr>
        <p:spPr/>
        <p:txBody>
          <a:bodyPr/>
          <a:lstStyle/>
          <a:p>
            <a:fld id="{0E29D32D-1BC0-48D0-BB54-D1EE225F3EBD}" type="slidenum">
              <a:rPr lang="en-IN" smtClean="0"/>
              <a:t>24</a:t>
            </a:fld>
            <a:endParaRPr lang="en-IN" dirty="0"/>
          </a:p>
        </p:txBody>
      </p:sp>
    </p:spTree>
    <p:extLst>
      <p:ext uri="{BB962C8B-B14F-4D97-AF65-F5344CB8AC3E}">
        <p14:creationId xmlns:p14="http://schemas.microsoft.com/office/powerpoint/2010/main" val="579350851"/>
      </p:ext>
    </p:extLst>
  </p:cSld>
  <p:clrMapOvr>
    <a:masterClrMapping/>
  </p:clrMapOvr>
  <p:transition spd="med">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7973C-56CA-EC9A-C8FF-C5A1EFF389BC}"/>
              </a:ext>
            </a:extLst>
          </p:cNvPr>
          <p:cNvSpPr>
            <a:spLocks noGrp="1"/>
          </p:cNvSpPr>
          <p:nvPr>
            <p:ph type="title"/>
          </p:nvPr>
        </p:nvSpPr>
        <p:spPr>
          <a:xfrm>
            <a:off x="272142" y="190103"/>
            <a:ext cx="10515600" cy="1325563"/>
          </a:xfrm>
        </p:spPr>
        <p:txBody>
          <a:bodyPr>
            <a:normAutofit/>
          </a:bodyPr>
          <a:lstStyle/>
          <a:p>
            <a:r>
              <a:rPr lang="en-IN" sz="3600" b="1" u="sng" dirty="0"/>
              <a:t>PRACTICAL IMPLEMENTATION</a:t>
            </a:r>
          </a:p>
        </p:txBody>
      </p:sp>
      <p:sp>
        <p:nvSpPr>
          <p:cNvPr id="5" name="TextBox 4">
            <a:extLst>
              <a:ext uri="{FF2B5EF4-FFF2-40B4-BE49-F238E27FC236}">
                <a16:creationId xmlns:a16="http://schemas.microsoft.com/office/drawing/2014/main" id="{5C07837F-A511-2977-0FCE-9704572788C2}"/>
              </a:ext>
            </a:extLst>
          </p:cNvPr>
          <p:cNvSpPr txBox="1"/>
          <p:nvPr/>
        </p:nvSpPr>
        <p:spPr>
          <a:xfrm>
            <a:off x="272142" y="1503983"/>
            <a:ext cx="10792691" cy="3785652"/>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t>The system is implemented as a </a:t>
            </a:r>
            <a:r>
              <a:rPr lang="en-US" sz="2400" b="1" dirty="0"/>
              <a:t>prototype model using ESP32 microcontroller </a:t>
            </a:r>
            <a:r>
              <a:rPr lang="en-IN" sz="2400" dirty="0"/>
              <a:t>as the main controller.</a:t>
            </a:r>
          </a:p>
          <a:p>
            <a:pPr marL="285750" indent="-285750" algn="just">
              <a:buFont typeface="Arial" panose="020B0604020202020204" pitchFamily="34" charset="0"/>
              <a:buChar char="•"/>
            </a:pPr>
            <a:r>
              <a:rPr lang="en-US" sz="2400" dirty="0"/>
              <a:t>The </a:t>
            </a:r>
            <a:r>
              <a:rPr lang="en-US" sz="2400" b="1" dirty="0"/>
              <a:t>PIR sensor (HC-SR501)</a:t>
            </a:r>
            <a:r>
              <a:rPr lang="en-US" sz="2400" dirty="0"/>
              <a:t> is connected to detect classroom occupancy (motion).</a:t>
            </a:r>
          </a:p>
          <a:p>
            <a:pPr marL="285750" indent="-285750" algn="just">
              <a:buFont typeface="Arial" panose="020B0604020202020204" pitchFamily="34" charset="0"/>
              <a:buChar char="•"/>
            </a:pPr>
            <a:r>
              <a:rPr lang="en-US" sz="2400" dirty="0"/>
              <a:t>The </a:t>
            </a:r>
            <a:r>
              <a:rPr lang="en-US" sz="2400" b="1" dirty="0"/>
              <a:t>LM35 temperature sensor</a:t>
            </a:r>
            <a:r>
              <a:rPr lang="en-US" sz="2400" dirty="0"/>
              <a:t> is interfaced with ESP32 to measure room temperature.</a:t>
            </a:r>
          </a:p>
          <a:p>
            <a:pPr marL="285750" indent="-285750" algn="just">
              <a:buFont typeface="Arial" panose="020B0604020202020204" pitchFamily="34" charset="0"/>
              <a:buChar char="•"/>
            </a:pPr>
            <a:r>
              <a:rPr lang="en-US" sz="2400" dirty="0"/>
              <a:t>The </a:t>
            </a:r>
            <a:r>
              <a:rPr lang="en-US" sz="2400" b="1" dirty="0"/>
              <a:t>LDR (GL5528)</a:t>
            </a:r>
            <a:r>
              <a:rPr lang="en-US" sz="2400" dirty="0"/>
              <a:t> is used to sense classroom light intensity in ADC-converted mode.</a:t>
            </a:r>
          </a:p>
          <a:p>
            <a:pPr marL="285750" indent="-285750" algn="just">
              <a:buFont typeface="Arial" panose="020B0604020202020204" pitchFamily="34" charset="0"/>
              <a:buChar char="•"/>
            </a:pPr>
            <a:r>
              <a:rPr lang="en-US" sz="2400" dirty="0"/>
              <a:t>An </a:t>
            </a:r>
            <a:r>
              <a:rPr lang="en-US" sz="2400" b="1" dirty="0"/>
              <a:t>OLED display</a:t>
            </a:r>
            <a:r>
              <a:rPr lang="en-US" sz="2400" dirty="0"/>
              <a:t> is connected to show temperature, light intensity, motion status, and appliance ON/OFF status.</a:t>
            </a:r>
          </a:p>
        </p:txBody>
      </p:sp>
      <p:sp>
        <p:nvSpPr>
          <p:cNvPr id="7" name="TextBox 6">
            <a:extLst>
              <a:ext uri="{FF2B5EF4-FFF2-40B4-BE49-F238E27FC236}">
                <a16:creationId xmlns:a16="http://schemas.microsoft.com/office/drawing/2014/main" id="{D8CF8655-F68A-9CE0-DFDC-8AD7682F7852}"/>
              </a:ext>
            </a:extLst>
          </p:cNvPr>
          <p:cNvSpPr txBox="1"/>
          <p:nvPr/>
        </p:nvSpPr>
        <p:spPr>
          <a:xfrm>
            <a:off x="11168744" y="180459"/>
            <a:ext cx="620486" cy="369332"/>
          </a:xfrm>
          <a:prstGeom prst="rect">
            <a:avLst/>
          </a:prstGeom>
          <a:noFill/>
        </p:spPr>
        <p:txBody>
          <a:bodyPr wrap="square">
            <a:spAutoFit/>
          </a:bodyPr>
          <a:lstStyle/>
          <a:p>
            <a:r>
              <a:rPr lang="en-US" b="1" dirty="0"/>
              <a:t>22</a:t>
            </a:r>
            <a:endParaRPr lang="en-IN" b="1" dirty="0"/>
          </a:p>
        </p:txBody>
      </p:sp>
      <p:sp>
        <p:nvSpPr>
          <p:cNvPr id="6" name="Slide Number Placeholder 5">
            <a:extLst>
              <a:ext uri="{FF2B5EF4-FFF2-40B4-BE49-F238E27FC236}">
                <a16:creationId xmlns:a16="http://schemas.microsoft.com/office/drawing/2014/main" id="{9961FC1C-8F8D-4563-6760-AE1D6E8C258B}"/>
              </a:ext>
            </a:extLst>
          </p:cNvPr>
          <p:cNvSpPr>
            <a:spLocks noGrp="1"/>
          </p:cNvSpPr>
          <p:nvPr>
            <p:ph type="sldNum" sz="quarter" idx="12"/>
          </p:nvPr>
        </p:nvSpPr>
        <p:spPr/>
        <p:txBody>
          <a:bodyPr/>
          <a:lstStyle/>
          <a:p>
            <a:fld id="{0E29D32D-1BC0-48D0-BB54-D1EE225F3EBD}" type="slidenum">
              <a:rPr lang="en-IN" smtClean="0"/>
              <a:t>25</a:t>
            </a:fld>
            <a:endParaRPr lang="en-IN" dirty="0"/>
          </a:p>
        </p:txBody>
      </p:sp>
    </p:spTree>
    <p:extLst>
      <p:ext uri="{BB962C8B-B14F-4D97-AF65-F5344CB8AC3E}">
        <p14:creationId xmlns:p14="http://schemas.microsoft.com/office/powerpoint/2010/main" val="517151478"/>
      </p:ext>
    </p:extLst>
  </p:cSld>
  <p:clrMapOvr>
    <a:masterClrMapping/>
  </p:clrMapOvr>
  <p:transition spd="med">
    <p:pull/>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201CB1-9E4C-3BEA-AD0C-504490974051}"/>
              </a:ext>
            </a:extLst>
          </p:cNvPr>
          <p:cNvSpPr txBox="1"/>
          <p:nvPr/>
        </p:nvSpPr>
        <p:spPr>
          <a:xfrm>
            <a:off x="301528" y="956649"/>
            <a:ext cx="10342418" cy="3323987"/>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t>A </a:t>
            </a:r>
            <a:r>
              <a:rPr lang="en-US" sz="2400" b="1" dirty="0"/>
              <a:t>relay module</a:t>
            </a:r>
            <a:r>
              <a:rPr lang="en-US" sz="2400" dirty="0"/>
              <a:t> interfaces the ESP32 with </a:t>
            </a:r>
            <a:r>
              <a:rPr lang="en-US" sz="2400" b="1" dirty="0"/>
              <a:t>AC appliances such as a fan and light</a:t>
            </a:r>
            <a:r>
              <a:rPr lang="en-US" sz="2400" dirty="0"/>
              <a:t> for demonstration</a:t>
            </a:r>
          </a:p>
          <a:p>
            <a:pPr marL="285750" indent="-285750" algn="just">
              <a:buFont typeface="Arial" panose="020B0604020202020204" pitchFamily="34" charset="0"/>
              <a:buChar char="•"/>
            </a:pPr>
            <a:r>
              <a:rPr lang="en-US" sz="2400" dirty="0"/>
              <a:t>An </a:t>
            </a:r>
            <a:r>
              <a:rPr lang="en-US" sz="2400" b="1" dirty="0"/>
              <a:t>AC power supply with fuse protection</a:t>
            </a:r>
            <a:r>
              <a:rPr lang="en-US" sz="2400" dirty="0"/>
              <a:t> is used to ensure safe and reliable operation.</a:t>
            </a:r>
          </a:p>
          <a:p>
            <a:pPr marL="285750" indent="-285750" algn="just">
              <a:buFont typeface="Arial" panose="020B0604020202020204" pitchFamily="34" charset="0"/>
              <a:buChar char="•"/>
            </a:pPr>
            <a:r>
              <a:rPr lang="en-US" sz="2400" b="1" dirty="0"/>
              <a:t>Manual switches</a:t>
            </a:r>
            <a:r>
              <a:rPr lang="en-US" sz="2400" dirty="0"/>
              <a:t> are provided for user control during testing and operation.</a:t>
            </a:r>
          </a:p>
          <a:p>
            <a:pPr marL="285750" indent="-285750" algn="just">
              <a:buFont typeface="Arial" panose="020B0604020202020204" pitchFamily="34" charset="0"/>
              <a:buChar char="•"/>
            </a:pPr>
            <a:r>
              <a:rPr lang="en-US" sz="2400" dirty="0"/>
              <a:t>All components are assembled using a </a:t>
            </a:r>
            <a:r>
              <a:rPr lang="en-US" sz="2400" b="1" dirty="0"/>
              <a:t>breadboard prototype setup</a:t>
            </a:r>
            <a:r>
              <a:rPr lang="en-US" sz="2400" dirty="0"/>
              <a:t> for practical demonstration.</a:t>
            </a:r>
          </a:p>
          <a:p>
            <a:pPr marL="285750" indent="-285750">
              <a:buFont typeface="Arial" panose="020B0604020202020204" pitchFamily="34" charset="0"/>
              <a:buChar char="•"/>
            </a:pPr>
            <a:endParaRPr lang="en-IN" dirty="0"/>
          </a:p>
        </p:txBody>
      </p:sp>
      <p:sp>
        <p:nvSpPr>
          <p:cNvPr id="4" name="TextBox 3">
            <a:extLst>
              <a:ext uri="{FF2B5EF4-FFF2-40B4-BE49-F238E27FC236}">
                <a16:creationId xmlns:a16="http://schemas.microsoft.com/office/drawing/2014/main" id="{9BC661BD-8BD7-36FB-4B2C-E4C299D13741}"/>
              </a:ext>
            </a:extLst>
          </p:cNvPr>
          <p:cNvSpPr txBox="1"/>
          <p:nvPr/>
        </p:nvSpPr>
        <p:spPr>
          <a:xfrm>
            <a:off x="11179629" y="218104"/>
            <a:ext cx="1099457" cy="369332"/>
          </a:xfrm>
          <a:prstGeom prst="rect">
            <a:avLst/>
          </a:prstGeom>
          <a:noFill/>
        </p:spPr>
        <p:txBody>
          <a:bodyPr wrap="square">
            <a:spAutoFit/>
          </a:bodyPr>
          <a:lstStyle/>
          <a:p>
            <a:r>
              <a:rPr lang="en-US" b="1" dirty="0"/>
              <a:t>23</a:t>
            </a:r>
          </a:p>
        </p:txBody>
      </p:sp>
      <p:sp>
        <p:nvSpPr>
          <p:cNvPr id="6" name="Slide Number Placeholder 5">
            <a:extLst>
              <a:ext uri="{FF2B5EF4-FFF2-40B4-BE49-F238E27FC236}">
                <a16:creationId xmlns:a16="http://schemas.microsoft.com/office/drawing/2014/main" id="{21F06486-4584-FA7D-6EA1-6F336D56613D}"/>
              </a:ext>
            </a:extLst>
          </p:cNvPr>
          <p:cNvSpPr>
            <a:spLocks noGrp="1"/>
          </p:cNvSpPr>
          <p:nvPr>
            <p:ph type="sldNum" sz="quarter" idx="12"/>
          </p:nvPr>
        </p:nvSpPr>
        <p:spPr/>
        <p:txBody>
          <a:bodyPr/>
          <a:lstStyle/>
          <a:p>
            <a:fld id="{0E29D32D-1BC0-48D0-BB54-D1EE225F3EBD}" type="slidenum">
              <a:rPr lang="en-IN" smtClean="0"/>
              <a:t>26</a:t>
            </a:fld>
            <a:endParaRPr lang="en-IN"/>
          </a:p>
        </p:txBody>
      </p:sp>
    </p:spTree>
    <p:extLst>
      <p:ext uri="{BB962C8B-B14F-4D97-AF65-F5344CB8AC3E}">
        <p14:creationId xmlns:p14="http://schemas.microsoft.com/office/powerpoint/2010/main" val="3152090014"/>
      </p:ext>
    </p:extLst>
  </p:cSld>
  <p:clrMapOvr>
    <a:masterClrMapping/>
  </p:clrMapOvr>
  <p:transition spd="med">
    <p:pull/>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1EDCA-EE23-64C9-2DEB-E0EB388B06BF}"/>
              </a:ext>
            </a:extLst>
          </p:cNvPr>
          <p:cNvSpPr>
            <a:spLocks noGrp="1"/>
          </p:cNvSpPr>
          <p:nvPr>
            <p:ph type="title"/>
          </p:nvPr>
        </p:nvSpPr>
        <p:spPr>
          <a:xfrm>
            <a:off x="281429" y="248227"/>
            <a:ext cx="10515600" cy="1325563"/>
          </a:xfrm>
        </p:spPr>
        <p:txBody>
          <a:bodyPr>
            <a:normAutofit/>
          </a:bodyPr>
          <a:lstStyle/>
          <a:p>
            <a:r>
              <a:rPr lang="en-IN" sz="3600" b="1" u="sng" dirty="0"/>
              <a:t>CONTROL LOGIC</a:t>
            </a:r>
          </a:p>
        </p:txBody>
      </p:sp>
      <p:sp>
        <p:nvSpPr>
          <p:cNvPr id="4" name="TextBox 3">
            <a:extLst>
              <a:ext uri="{FF2B5EF4-FFF2-40B4-BE49-F238E27FC236}">
                <a16:creationId xmlns:a16="http://schemas.microsoft.com/office/drawing/2014/main" id="{69852990-AA42-D77F-6579-845BC1A59BC3}"/>
              </a:ext>
            </a:extLst>
          </p:cNvPr>
          <p:cNvSpPr txBox="1"/>
          <p:nvPr/>
        </p:nvSpPr>
        <p:spPr>
          <a:xfrm>
            <a:off x="281429" y="1363698"/>
            <a:ext cx="11128664" cy="4524315"/>
          </a:xfrm>
          <a:prstGeom prst="rect">
            <a:avLst/>
          </a:prstGeom>
          <a:noFill/>
        </p:spPr>
        <p:txBody>
          <a:bodyPr wrap="square" rtlCol="0">
            <a:spAutoFit/>
          </a:bodyPr>
          <a:lstStyle/>
          <a:p>
            <a:pPr algn="just"/>
            <a:r>
              <a:rPr lang="en-IN" sz="2400" b="1" dirty="0"/>
              <a:t>HC-SR501 PIR SENSOR</a:t>
            </a:r>
          </a:p>
          <a:p>
            <a:pPr algn="just"/>
            <a:r>
              <a:rPr lang="en-IN" sz="2400" dirty="0"/>
              <a:t>• Detect occupancy based on infrared rays</a:t>
            </a:r>
          </a:p>
          <a:p>
            <a:pPr algn="just"/>
            <a:endParaRPr lang="en-IN" sz="2400" dirty="0"/>
          </a:p>
          <a:p>
            <a:pPr algn="just"/>
            <a:r>
              <a:rPr lang="en-IN" sz="2400" dirty="0"/>
              <a:t> </a:t>
            </a:r>
            <a:r>
              <a:rPr lang="en-IN" sz="2400" b="1" dirty="0"/>
              <a:t>LM35 TEMPERSENSORATURE </a:t>
            </a:r>
          </a:p>
          <a:p>
            <a:pPr algn="just"/>
            <a:r>
              <a:rPr lang="en-IN" sz="2400" dirty="0"/>
              <a:t>• No Occupancy: Fans OFF </a:t>
            </a:r>
          </a:p>
          <a:p>
            <a:pPr algn="just"/>
            <a:r>
              <a:rPr lang="en-IN" sz="2400" dirty="0"/>
              <a:t>• Occupancy Detected &amp; Temperature &lt; 24 °C: Fans OFF </a:t>
            </a:r>
          </a:p>
          <a:p>
            <a:pPr algn="just"/>
            <a:r>
              <a:rPr lang="en-IN" sz="2400" dirty="0"/>
              <a:t>• Occupancy Detected &amp; Temperature =&gt; 24 °C: Fans ON </a:t>
            </a:r>
          </a:p>
          <a:p>
            <a:pPr algn="just"/>
            <a:endParaRPr lang="en-IN" sz="2400" dirty="0"/>
          </a:p>
          <a:p>
            <a:pPr algn="just"/>
            <a:r>
              <a:rPr lang="en-IN" sz="2400" b="1" dirty="0"/>
              <a:t>LDR GL5528 SENSOR</a:t>
            </a:r>
            <a:r>
              <a:rPr lang="en-IN" sz="2400" dirty="0"/>
              <a:t> </a:t>
            </a:r>
          </a:p>
          <a:p>
            <a:pPr algn="just"/>
            <a:r>
              <a:rPr lang="en-IN" sz="2400" dirty="0"/>
              <a:t>• No occupancy : Lights OFF </a:t>
            </a:r>
          </a:p>
          <a:p>
            <a:pPr algn="just"/>
            <a:r>
              <a:rPr lang="en-IN" sz="2400" dirty="0"/>
              <a:t>• Occupancy detected + sufficient daylight(&lt;1600) : Lights OFF</a:t>
            </a:r>
          </a:p>
          <a:p>
            <a:pPr algn="just"/>
            <a:r>
              <a:rPr lang="en-IN" sz="2400" dirty="0"/>
              <a:t>• Occupancy detected + low light(&gt;=1600): Lights ON </a:t>
            </a:r>
          </a:p>
        </p:txBody>
      </p:sp>
      <p:sp>
        <p:nvSpPr>
          <p:cNvPr id="6" name="TextBox 5">
            <a:extLst>
              <a:ext uri="{FF2B5EF4-FFF2-40B4-BE49-F238E27FC236}">
                <a16:creationId xmlns:a16="http://schemas.microsoft.com/office/drawing/2014/main" id="{43A26D76-B140-0090-FC4D-E28BDA56204C}"/>
              </a:ext>
            </a:extLst>
          </p:cNvPr>
          <p:cNvSpPr txBox="1"/>
          <p:nvPr/>
        </p:nvSpPr>
        <p:spPr>
          <a:xfrm>
            <a:off x="11173691" y="229621"/>
            <a:ext cx="609600" cy="369332"/>
          </a:xfrm>
          <a:prstGeom prst="rect">
            <a:avLst/>
          </a:prstGeom>
          <a:noFill/>
        </p:spPr>
        <p:txBody>
          <a:bodyPr wrap="square">
            <a:spAutoFit/>
          </a:bodyPr>
          <a:lstStyle/>
          <a:p>
            <a:r>
              <a:rPr lang="en-US" b="1" dirty="0"/>
              <a:t>24</a:t>
            </a:r>
            <a:endParaRPr lang="en-IN" b="1" dirty="0"/>
          </a:p>
        </p:txBody>
      </p:sp>
      <p:sp>
        <p:nvSpPr>
          <p:cNvPr id="7" name="Slide Number Placeholder 6">
            <a:extLst>
              <a:ext uri="{FF2B5EF4-FFF2-40B4-BE49-F238E27FC236}">
                <a16:creationId xmlns:a16="http://schemas.microsoft.com/office/drawing/2014/main" id="{31FCF44B-F1FC-4607-A37A-65E427E705B7}"/>
              </a:ext>
            </a:extLst>
          </p:cNvPr>
          <p:cNvSpPr>
            <a:spLocks noGrp="1"/>
          </p:cNvSpPr>
          <p:nvPr>
            <p:ph type="sldNum" sz="quarter" idx="12"/>
          </p:nvPr>
        </p:nvSpPr>
        <p:spPr/>
        <p:txBody>
          <a:bodyPr/>
          <a:lstStyle/>
          <a:p>
            <a:fld id="{0E29D32D-1BC0-48D0-BB54-D1EE225F3EBD}" type="slidenum">
              <a:rPr lang="en-IN" smtClean="0"/>
              <a:t>27</a:t>
            </a:fld>
            <a:endParaRPr lang="en-IN" dirty="0"/>
          </a:p>
        </p:txBody>
      </p:sp>
    </p:spTree>
    <p:extLst>
      <p:ext uri="{BB962C8B-B14F-4D97-AF65-F5344CB8AC3E}">
        <p14:creationId xmlns:p14="http://schemas.microsoft.com/office/powerpoint/2010/main" val="732433274"/>
      </p:ext>
    </p:extLst>
  </p:cSld>
  <p:clrMapOvr>
    <a:masterClrMapping/>
  </p:clrMapOvr>
  <p:transition spd="med">
    <p:pull/>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4C822-110D-7BBE-E428-06FB7F4BA105}"/>
              </a:ext>
            </a:extLst>
          </p:cNvPr>
          <p:cNvSpPr>
            <a:spLocks noGrp="1"/>
          </p:cNvSpPr>
          <p:nvPr>
            <p:ph type="title"/>
          </p:nvPr>
        </p:nvSpPr>
        <p:spPr>
          <a:xfrm>
            <a:off x="285541" y="189179"/>
            <a:ext cx="10515600" cy="1325563"/>
          </a:xfrm>
        </p:spPr>
        <p:txBody>
          <a:bodyPr>
            <a:normAutofit/>
          </a:bodyPr>
          <a:lstStyle/>
          <a:p>
            <a:r>
              <a:rPr lang="en-IN" sz="3600" b="1" u="sng" dirty="0"/>
              <a:t>WORKING / METHODOLOGY</a:t>
            </a:r>
          </a:p>
        </p:txBody>
      </p:sp>
      <p:sp>
        <p:nvSpPr>
          <p:cNvPr id="5" name="TextBox 4">
            <a:extLst>
              <a:ext uri="{FF2B5EF4-FFF2-40B4-BE49-F238E27FC236}">
                <a16:creationId xmlns:a16="http://schemas.microsoft.com/office/drawing/2014/main" id="{7769A430-B5E1-4693-2F8B-FDC95C38387A}"/>
              </a:ext>
            </a:extLst>
          </p:cNvPr>
          <p:cNvSpPr txBox="1"/>
          <p:nvPr/>
        </p:nvSpPr>
        <p:spPr>
          <a:xfrm>
            <a:off x="163286" y="1324708"/>
            <a:ext cx="11005457" cy="3785652"/>
          </a:xfrm>
          <a:prstGeom prst="rect">
            <a:avLst/>
          </a:prstGeom>
          <a:noFill/>
        </p:spPr>
        <p:txBody>
          <a:bodyPr wrap="square" rtlCol="0">
            <a:spAutoFit/>
          </a:bodyPr>
          <a:lstStyle/>
          <a:p>
            <a:pPr marL="285750" indent="-285750" algn="just">
              <a:buFont typeface="Arial" panose="020B0604020202020204" pitchFamily="34" charset="0"/>
              <a:buChar char="•"/>
            </a:pPr>
            <a:r>
              <a:rPr lang="en-US" sz="2400" b="1" dirty="0"/>
              <a:t>PIR Sensor:</a:t>
            </a:r>
            <a:r>
              <a:rPr lang="en-US" sz="2400" dirty="0"/>
              <a:t> Detects classroom occupancy via infrared; sends signal to ESP32.</a:t>
            </a:r>
          </a:p>
          <a:p>
            <a:pPr marL="285750" indent="-285750" algn="just">
              <a:buFont typeface="Arial" panose="020B0604020202020204" pitchFamily="34" charset="0"/>
              <a:buChar char="•"/>
            </a:pPr>
            <a:r>
              <a:rPr lang="en-US" sz="2400" b="1" dirty="0"/>
              <a:t>Temperature Control (LM35):</a:t>
            </a:r>
            <a:r>
              <a:rPr lang="en-US" sz="2400" dirty="0"/>
              <a:t> Fan ON if occupancy detected and temperature</a:t>
            </a:r>
          </a:p>
          <a:p>
            <a:pPr algn="just"/>
            <a:r>
              <a:rPr lang="en-US" sz="2400" dirty="0"/>
              <a:t>      ≥ 24 °C; otherwise OFF.</a:t>
            </a:r>
          </a:p>
          <a:p>
            <a:pPr marL="285750" indent="-285750" algn="just">
              <a:buFont typeface="Arial" panose="020B0604020202020204" pitchFamily="34" charset="0"/>
              <a:buChar char="•"/>
            </a:pPr>
            <a:r>
              <a:rPr lang="en-US" sz="2400" b="1" dirty="0"/>
              <a:t>Light Control (LDR GL5528):</a:t>
            </a:r>
            <a:r>
              <a:rPr lang="en-US" sz="2400" dirty="0"/>
              <a:t> Lights ON if occupancy detected and ambient light is low; otherwise OFF.</a:t>
            </a:r>
          </a:p>
          <a:p>
            <a:pPr marL="285750" indent="-285750" algn="just">
              <a:buFont typeface="Arial" panose="020B0604020202020204" pitchFamily="34" charset="0"/>
              <a:buChar char="•"/>
            </a:pPr>
            <a:r>
              <a:rPr lang="en-US" sz="2400" b="1" dirty="0"/>
              <a:t>ESP32 Controller:</a:t>
            </a:r>
            <a:r>
              <a:rPr lang="en-US" sz="2400" dirty="0"/>
              <a:t> Processes sensor data and switches fan and lights through relays</a:t>
            </a:r>
          </a:p>
          <a:p>
            <a:pPr marL="285750" indent="-285750" algn="just">
              <a:buFont typeface="Arial" panose="020B0604020202020204" pitchFamily="34" charset="0"/>
              <a:buChar char="•"/>
            </a:pPr>
            <a:r>
              <a:rPr lang="en-US" sz="2400" b="1" dirty="0"/>
              <a:t>Display &amp; Monitoring:</a:t>
            </a:r>
            <a:r>
              <a:rPr lang="en-US" sz="2400" dirty="0"/>
              <a:t> OLED shows occupancy, temperature, and light status.</a:t>
            </a:r>
          </a:p>
          <a:p>
            <a:pPr marL="285750" indent="-285750" algn="just">
              <a:buFont typeface="Arial" panose="020B0604020202020204" pitchFamily="34" charset="0"/>
              <a:buChar char="•"/>
            </a:pPr>
            <a:r>
              <a:rPr lang="en-US" sz="2400" b="1" dirty="0"/>
              <a:t>Safety &amp; Manual Control:</a:t>
            </a:r>
            <a:r>
              <a:rPr lang="en-US" sz="2400" dirty="0"/>
              <a:t> 5A fuse protects circuit; manual switch allows override.</a:t>
            </a:r>
            <a:endParaRPr lang="en-IN" sz="2400" dirty="0"/>
          </a:p>
        </p:txBody>
      </p:sp>
      <p:sp>
        <p:nvSpPr>
          <p:cNvPr id="7" name="TextBox 6">
            <a:extLst>
              <a:ext uri="{FF2B5EF4-FFF2-40B4-BE49-F238E27FC236}">
                <a16:creationId xmlns:a16="http://schemas.microsoft.com/office/drawing/2014/main" id="{F3376DD5-AD7B-8FFF-4EE5-24273E0C39B7}"/>
              </a:ext>
            </a:extLst>
          </p:cNvPr>
          <p:cNvSpPr txBox="1"/>
          <p:nvPr/>
        </p:nvSpPr>
        <p:spPr>
          <a:xfrm>
            <a:off x="11168743" y="189179"/>
            <a:ext cx="609600" cy="369332"/>
          </a:xfrm>
          <a:prstGeom prst="rect">
            <a:avLst/>
          </a:prstGeom>
          <a:noFill/>
        </p:spPr>
        <p:txBody>
          <a:bodyPr wrap="square">
            <a:spAutoFit/>
          </a:bodyPr>
          <a:lstStyle/>
          <a:p>
            <a:r>
              <a:rPr lang="en-US" b="1" dirty="0"/>
              <a:t>25</a:t>
            </a:r>
            <a:endParaRPr lang="en-IN" b="1" dirty="0"/>
          </a:p>
        </p:txBody>
      </p:sp>
      <p:sp>
        <p:nvSpPr>
          <p:cNvPr id="6" name="Slide Number Placeholder 5">
            <a:extLst>
              <a:ext uri="{FF2B5EF4-FFF2-40B4-BE49-F238E27FC236}">
                <a16:creationId xmlns:a16="http://schemas.microsoft.com/office/drawing/2014/main" id="{E0BA3371-F8D0-7B88-83DC-0BB98C8DAE8F}"/>
              </a:ext>
            </a:extLst>
          </p:cNvPr>
          <p:cNvSpPr>
            <a:spLocks noGrp="1"/>
          </p:cNvSpPr>
          <p:nvPr>
            <p:ph type="sldNum" sz="quarter" idx="12"/>
          </p:nvPr>
        </p:nvSpPr>
        <p:spPr/>
        <p:txBody>
          <a:bodyPr/>
          <a:lstStyle/>
          <a:p>
            <a:fld id="{0E29D32D-1BC0-48D0-BB54-D1EE225F3EBD}" type="slidenum">
              <a:rPr lang="en-IN" smtClean="0"/>
              <a:t>28</a:t>
            </a:fld>
            <a:endParaRPr lang="en-IN" dirty="0"/>
          </a:p>
        </p:txBody>
      </p:sp>
    </p:spTree>
    <p:extLst>
      <p:ext uri="{BB962C8B-B14F-4D97-AF65-F5344CB8AC3E}">
        <p14:creationId xmlns:p14="http://schemas.microsoft.com/office/powerpoint/2010/main" val="1859734499"/>
      </p:ext>
    </p:extLst>
  </p:cSld>
  <p:clrMapOvr>
    <a:masterClrMapping/>
  </p:clrMapOvr>
  <p:transition spd="med">
    <p:pull/>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135E4-40BA-8430-7ABA-EB6308700D86}"/>
              </a:ext>
            </a:extLst>
          </p:cNvPr>
          <p:cNvSpPr>
            <a:spLocks noGrp="1"/>
          </p:cNvSpPr>
          <p:nvPr>
            <p:ph type="title"/>
          </p:nvPr>
        </p:nvSpPr>
        <p:spPr>
          <a:xfrm>
            <a:off x="304801" y="292478"/>
            <a:ext cx="9361010" cy="1325564"/>
          </a:xfrm>
        </p:spPr>
        <p:txBody>
          <a:bodyPr>
            <a:normAutofit/>
          </a:bodyPr>
          <a:lstStyle/>
          <a:p>
            <a:r>
              <a:rPr lang="en-IN" sz="3600" b="1" u="sng" dirty="0"/>
              <a:t>TECHNICAL PARAMETERS AND SPECIFICATIONS</a:t>
            </a:r>
          </a:p>
        </p:txBody>
      </p:sp>
      <p:graphicFrame>
        <p:nvGraphicFramePr>
          <p:cNvPr id="3" name="Content Placeholder 9">
            <a:extLst>
              <a:ext uri="{FF2B5EF4-FFF2-40B4-BE49-F238E27FC236}">
                <a16:creationId xmlns:a16="http://schemas.microsoft.com/office/drawing/2014/main" id="{ED73A791-D31B-B456-CB3A-EF8BF0B60D7D}"/>
              </a:ext>
            </a:extLst>
          </p:cNvPr>
          <p:cNvGraphicFramePr>
            <a:graphicFrameLocks/>
          </p:cNvGraphicFramePr>
          <p:nvPr>
            <p:extLst>
              <p:ext uri="{D42A27DB-BD31-4B8C-83A1-F6EECF244321}">
                <p14:modId xmlns:p14="http://schemas.microsoft.com/office/powerpoint/2010/main" val="2952953354"/>
              </p:ext>
            </p:extLst>
          </p:nvPr>
        </p:nvGraphicFramePr>
        <p:xfrm>
          <a:off x="416036" y="1618042"/>
          <a:ext cx="11471163" cy="4673704"/>
        </p:xfrm>
        <a:graphic>
          <a:graphicData uri="http://schemas.openxmlformats.org/drawingml/2006/table">
            <a:tbl>
              <a:tblPr firstRow="1" bandRow="1">
                <a:tableStyleId>{3B4B98B0-60AC-42C2-AFA5-B58CD77FA1E5}</a:tableStyleId>
              </a:tblPr>
              <a:tblGrid>
                <a:gridCol w="5695015">
                  <a:extLst>
                    <a:ext uri="{9D8B030D-6E8A-4147-A177-3AD203B41FA5}">
                      <a16:colId xmlns:a16="http://schemas.microsoft.com/office/drawing/2014/main" val="885602797"/>
                    </a:ext>
                  </a:extLst>
                </a:gridCol>
                <a:gridCol w="5776148">
                  <a:extLst>
                    <a:ext uri="{9D8B030D-6E8A-4147-A177-3AD203B41FA5}">
                      <a16:colId xmlns:a16="http://schemas.microsoft.com/office/drawing/2014/main" val="3227347104"/>
                    </a:ext>
                  </a:extLst>
                </a:gridCol>
              </a:tblGrid>
              <a:tr h="387358">
                <a:tc>
                  <a:txBody>
                    <a:bodyPr/>
                    <a:lstStyle/>
                    <a:p>
                      <a:r>
                        <a:rPr lang="en-IN" dirty="0"/>
                        <a:t>Component</a:t>
                      </a:r>
                    </a:p>
                  </a:txBody>
                  <a:tcPr/>
                </a:tc>
                <a:tc>
                  <a:txBody>
                    <a:bodyPr/>
                    <a:lstStyle/>
                    <a:p>
                      <a:r>
                        <a:rPr lang="en-IN" dirty="0"/>
                        <a:t>Specification</a:t>
                      </a:r>
                    </a:p>
                  </a:txBody>
                  <a:tcPr/>
                </a:tc>
                <a:extLst>
                  <a:ext uri="{0D108BD9-81ED-4DB2-BD59-A6C34878D82A}">
                    <a16:rowId xmlns:a16="http://schemas.microsoft.com/office/drawing/2014/main" val="3423448117"/>
                  </a:ext>
                </a:extLst>
              </a:tr>
              <a:tr h="623430">
                <a:tc>
                  <a:txBody>
                    <a:bodyPr/>
                    <a:lstStyle/>
                    <a:p>
                      <a:r>
                        <a:rPr lang="en-IN" dirty="0"/>
                        <a:t>Microcontroller(</a:t>
                      </a:r>
                      <a:r>
                        <a:rPr lang="en-US" b="0" dirty="0"/>
                        <a:t>ESP32D)</a:t>
                      </a:r>
                      <a:endParaRPr lang="en-IN" b="0" dirty="0"/>
                    </a:p>
                  </a:txBody>
                  <a:tcPr/>
                </a:tc>
                <a:tc>
                  <a:txBody>
                    <a:bodyPr/>
                    <a:lstStyle/>
                    <a:p>
                      <a:pPr>
                        <a:buNone/>
                      </a:pPr>
                      <a:r>
                        <a:rPr lang="en-US" b="1" dirty="0"/>
                        <a:t>3.3 V logic</a:t>
                      </a:r>
                      <a:r>
                        <a:rPr lang="en-US" dirty="0"/>
                        <a:t>, input supply </a:t>
                      </a:r>
                      <a:r>
                        <a:rPr lang="en-US" b="1" dirty="0"/>
                        <a:t>5 V via regulator/USB</a:t>
                      </a:r>
                      <a:endParaRPr lang="en-IN" dirty="0"/>
                    </a:p>
                  </a:txBody>
                  <a:tcPr anchor="ctr"/>
                </a:tc>
                <a:extLst>
                  <a:ext uri="{0D108BD9-81ED-4DB2-BD59-A6C34878D82A}">
                    <a16:rowId xmlns:a16="http://schemas.microsoft.com/office/drawing/2014/main" val="2010148193"/>
                  </a:ext>
                </a:extLst>
              </a:tr>
              <a:tr h="445966">
                <a:tc>
                  <a:txBody>
                    <a:bodyPr/>
                    <a:lstStyle/>
                    <a:p>
                      <a:r>
                        <a:rPr lang="en-US" dirty="0"/>
                        <a:t>Light Sensor (</a:t>
                      </a:r>
                      <a:r>
                        <a:rPr lang="en-US" b="0" dirty="0"/>
                        <a:t>LDR GL-5528</a:t>
                      </a:r>
                      <a:r>
                        <a:rPr lang="en-US" b="1" dirty="0"/>
                        <a:t>)</a:t>
                      </a:r>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Operating voltage: </a:t>
                      </a:r>
                      <a:r>
                        <a:rPr lang="en-US" b="1" dirty="0"/>
                        <a:t>3.3–5 V</a:t>
                      </a:r>
                      <a:r>
                        <a:rPr lang="en-US" dirty="0"/>
                        <a:t>, Current: </a:t>
                      </a:r>
                      <a:r>
                        <a:rPr lang="en-US" b="1" dirty="0"/>
                        <a:t>~0.1–1 mA </a:t>
                      </a:r>
                      <a:endParaRPr lang="en-IN" dirty="0"/>
                    </a:p>
                  </a:txBody>
                  <a:tcPr/>
                </a:tc>
                <a:extLst>
                  <a:ext uri="{0D108BD9-81ED-4DB2-BD59-A6C34878D82A}">
                    <a16:rowId xmlns:a16="http://schemas.microsoft.com/office/drawing/2014/main" val="2961461059"/>
                  </a:ext>
                </a:extLst>
              </a:tr>
              <a:tr h="387358">
                <a:tc>
                  <a:txBody>
                    <a:bodyPr/>
                    <a:lstStyle/>
                    <a:p>
                      <a:r>
                        <a:rPr lang="en-IN" dirty="0"/>
                        <a:t>OLED Display</a:t>
                      </a:r>
                    </a:p>
                  </a:txBody>
                  <a:tcPr/>
                </a:tc>
                <a:tc>
                  <a:txBody>
                    <a:bodyPr/>
                    <a:lstStyle/>
                    <a:p>
                      <a:pPr>
                        <a:buNone/>
                      </a:pPr>
                      <a:r>
                        <a:rPr lang="fr-FR" b="1" dirty="0"/>
                        <a:t>3.3 V DC</a:t>
                      </a:r>
                      <a:r>
                        <a:rPr lang="fr-FR" dirty="0"/>
                        <a:t>, </a:t>
                      </a:r>
                      <a:r>
                        <a:rPr lang="fr-FR" dirty="0" err="1"/>
                        <a:t>Current</a:t>
                      </a:r>
                      <a:r>
                        <a:rPr lang="fr-FR" dirty="0"/>
                        <a:t>: </a:t>
                      </a:r>
                      <a:r>
                        <a:rPr lang="fr-FR" b="1" dirty="0"/>
                        <a:t>10–30 mA</a:t>
                      </a:r>
                      <a:endParaRPr lang="en-IN" dirty="0"/>
                    </a:p>
                  </a:txBody>
                  <a:tcPr anchor="ctr"/>
                </a:tc>
                <a:extLst>
                  <a:ext uri="{0D108BD9-81ED-4DB2-BD59-A6C34878D82A}">
                    <a16:rowId xmlns:a16="http://schemas.microsoft.com/office/drawing/2014/main" val="3348651464"/>
                  </a:ext>
                </a:extLst>
              </a:tr>
              <a:tr h="623430">
                <a:tc>
                  <a:txBody>
                    <a:bodyPr/>
                    <a:lstStyle/>
                    <a:p>
                      <a:r>
                        <a:rPr lang="en-IN" dirty="0"/>
                        <a:t>PIR Sensor (</a:t>
                      </a:r>
                      <a:r>
                        <a:rPr lang="en-IN" b="0" dirty="0"/>
                        <a:t>HC-SR501</a:t>
                      </a:r>
                      <a:r>
                        <a:rPr lang="en-US" sz="1800" dirty="0"/>
                        <a:t>)</a:t>
                      </a:r>
                      <a:endParaRPr lang="en-IN" dirty="0"/>
                    </a:p>
                  </a:txBody>
                  <a:tcPr/>
                </a:tc>
                <a:tc>
                  <a:txBody>
                    <a:bodyPr/>
                    <a:lstStyle/>
                    <a:p>
                      <a:pPr algn="l"/>
                      <a:r>
                        <a:rPr lang="en-US" dirty="0"/>
                        <a:t>Supply: </a:t>
                      </a:r>
                      <a:r>
                        <a:rPr lang="en-US" b="1" dirty="0"/>
                        <a:t>5 V DC</a:t>
                      </a:r>
                      <a:r>
                        <a:rPr lang="en-US" dirty="0"/>
                        <a:t>, Current: </a:t>
                      </a:r>
                      <a:r>
                        <a:rPr lang="en-US" b="1" dirty="0"/>
                        <a:t>~50–65 µA , up to ~10 mA active</a:t>
                      </a:r>
                      <a:endParaRPr lang="en-IN" dirty="0"/>
                    </a:p>
                  </a:txBody>
                  <a:tcPr/>
                </a:tc>
                <a:extLst>
                  <a:ext uri="{0D108BD9-81ED-4DB2-BD59-A6C34878D82A}">
                    <a16:rowId xmlns:a16="http://schemas.microsoft.com/office/drawing/2014/main" val="3596874439"/>
                  </a:ext>
                </a:extLst>
              </a:tr>
              <a:tr h="387358">
                <a:tc>
                  <a:txBody>
                    <a:bodyPr/>
                    <a:lstStyle/>
                    <a:p>
                      <a:r>
                        <a:rPr lang="en-IN" dirty="0"/>
                        <a:t>Temperature Sensor(LM35)</a:t>
                      </a:r>
                    </a:p>
                  </a:txBody>
                  <a:tcPr/>
                </a:tc>
                <a:tc>
                  <a:txBody>
                    <a:bodyPr/>
                    <a:lstStyle/>
                    <a:p>
                      <a:pPr>
                        <a:buNone/>
                      </a:pPr>
                      <a:r>
                        <a:rPr lang="en-US" dirty="0"/>
                        <a:t>Supply: </a:t>
                      </a:r>
                      <a:r>
                        <a:rPr lang="en-US" b="1" dirty="0"/>
                        <a:t>4–30 V DC</a:t>
                      </a:r>
                      <a:r>
                        <a:rPr lang="en-US" dirty="0"/>
                        <a:t>, Range: </a:t>
                      </a:r>
                      <a:r>
                        <a:rPr lang="en-US" b="1" dirty="0"/>
                        <a:t>0°C to 100°C</a:t>
                      </a:r>
                      <a:r>
                        <a:rPr lang="en-US" dirty="0"/>
                        <a:t>, Accuracy: </a:t>
                      </a:r>
                      <a:r>
                        <a:rPr lang="en-US" b="1" dirty="0"/>
                        <a:t>±0.5°C</a:t>
                      </a:r>
                      <a:r>
                        <a:rPr lang="en-US" dirty="0"/>
                        <a:t>, Output: </a:t>
                      </a:r>
                      <a:r>
                        <a:rPr lang="en-US" b="1" dirty="0"/>
                        <a:t>10 mV/°C</a:t>
                      </a:r>
                      <a:endParaRPr lang="en-IN" dirty="0"/>
                    </a:p>
                  </a:txBody>
                  <a:tcPr anchor="ctr"/>
                </a:tc>
                <a:extLst>
                  <a:ext uri="{0D108BD9-81ED-4DB2-BD59-A6C34878D82A}">
                    <a16:rowId xmlns:a16="http://schemas.microsoft.com/office/drawing/2014/main" val="1285888604"/>
                  </a:ext>
                </a:extLst>
              </a:tr>
              <a:tr h="387358">
                <a:tc>
                  <a:txBody>
                    <a:bodyPr/>
                    <a:lstStyle/>
                    <a:p>
                      <a:r>
                        <a:rPr lang="en-IN" dirty="0"/>
                        <a:t>Relay Module</a:t>
                      </a:r>
                    </a:p>
                  </a:txBody>
                  <a:tcPr/>
                </a:tc>
                <a:tc>
                  <a:txBody>
                    <a:bodyPr/>
                    <a:lstStyle/>
                    <a:p>
                      <a:pPr>
                        <a:buNone/>
                      </a:pPr>
                      <a:r>
                        <a:rPr lang="en-US" dirty="0"/>
                        <a:t>Coil: </a:t>
                      </a:r>
                      <a:r>
                        <a:rPr lang="en-US" b="1" dirty="0"/>
                        <a:t>5 V DC</a:t>
                      </a:r>
                      <a:r>
                        <a:rPr lang="en-US" dirty="0"/>
                        <a:t>, Contact rating: </a:t>
                      </a:r>
                      <a:r>
                        <a:rPr lang="en-US" b="1" dirty="0"/>
                        <a:t>250 V AC / 10 A</a:t>
                      </a:r>
                      <a:endParaRPr lang="en-IN" dirty="0"/>
                    </a:p>
                  </a:txBody>
                  <a:tcPr anchor="ctr"/>
                </a:tc>
                <a:extLst>
                  <a:ext uri="{0D108BD9-81ED-4DB2-BD59-A6C34878D82A}">
                    <a16:rowId xmlns:a16="http://schemas.microsoft.com/office/drawing/2014/main" val="330815258"/>
                  </a:ext>
                </a:extLst>
              </a:tr>
              <a:tr h="387358">
                <a:tc>
                  <a:txBody>
                    <a:bodyPr/>
                    <a:lstStyle/>
                    <a:p>
                      <a:r>
                        <a:rPr lang="en-IN" dirty="0"/>
                        <a:t>Fan Load</a:t>
                      </a:r>
                    </a:p>
                  </a:txBody>
                  <a:tcPr/>
                </a:tc>
                <a:tc>
                  <a:txBody>
                    <a:bodyPr/>
                    <a:lstStyle/>
                    <a:p>
                      <a:pPr>
                        <a:buNone/>
                      </a:pPr>
                      <a:r>
                        <a:rPr lang="en-US" b="1" dirty="0"/>
                        <a:t>230 V AC</a:t>
                      </a:r>
                      <a:r>
                        <a:rPr lang="en-US" dirty="0"/>
                        <a:t>, Power: </a:t>
                      </a:r>
                      <a:r>
                        <a:rPr lang="en-US" b="1" dirty="0"/>
                        <a:t>35–60 W</a:t>
                      </a:r>
                      <a:r>
                        <a:rPr lang="en-US" dirty="0"/>
                        <a:t>, Current: </a:t>
                      </a:r>
                      <a:r>
                        <a:rPr lang="en-US" b="1" dirty="0"/>
                        <a:t>0.15–0.26 A</a:t>
                      </a:r>
                      <a:r>
                        <a:rPr lang="en-US" dirty="0"/>
                        <a:t> </a:t>
                      </a:r>
                      <a:endParaRPr lang="en-IN" dirty="0"/>
                    </a:p>
                  </a:txBody>
                  <a:tcPr anchor="ctr"/>
                </a:tc>
                <a:extLst>
                  <a:ext uri="{0D108BD9-81ED-4DB2-BD59-A6C34878D82A}">
                    <a16:rowId xmlns:a16="http://schemas.microsoft.com/office/drawing/2014/main" val="705682820"/>
                  </a:ext>
                </a:extLst>
              </a:tr>
              <a:tr h="387358">
                <a:tc>
                  <a:txBody>
                    <a:bodyPr/>
                    <a:lstStyle/>
                    <a:p>
                      <a:r>
                        <a:rPr lang="en-IN" dirty="0"/>
                        <a:t>Light</a:t>
                      </a:r>
                    </a:p>
                  </a:txBody>
                  <a:tcPr/>
                </a:tc>
                <a:tc>
                  <a:txBody>
                    <a:bodyPr/>
                    <a:lstStyle/>
                    <a:p>
                      <a:pPr>
                        <a:buNone/>
                      </a:pPr>
                      <a:r>
                        <a:rPr lang="en-US" b="1" dirty="0"/>
                        <a:t>230 V AC</a:t>
                      </a:r>
                      <a:r>
                        <a:rPr lang="en-US" dirty="0"/>
                        <a:t>, Power: </a:t>
                      </a:r>
                      <a:r>
                        <a:rPr lang="en-US" b="1" dirty="0"/>
                        <a:t>9–12 W</a:t>
                      </a:r>
                      <a:r>
                        <a:rPr lang="en-US" dirty="0"/>
                        <a:t>, Current: </a:t>
                      </a:r>
                      <a:r>
                        <a:rPr lang="en-US" b="1" dirty="0"/>
                        <a:t>0.04–0.06 A</a:t>
                      </a:r>
                      <a:endParaRPr lang="en-IN" dirty="0"/>
                    </a:p>
                  </a:txBody>
                  <a:tcPr anchor="ctr"/>
                </a:tc>
                <a:extLst>
                  <a:ext uri="{0D108BD9-81ED-4DB2-BD59-A6C34878D82A}">
                    <a16:rowId xmlns:a16="http://schemas.microsoft.com/office/drawing/2014/main" val="2345158999"/>
                  </a:ext>
                </a:extLst>
              </a:tr>
              <a:tr h="387358">
                <a:tc>
                  <a:txBody>
                    <a:bodyPr/>
                    <a:lstStyle/>
                    <a:p>
                      <a:r>
                        <a:rPr lang="en-IN" dirty="0"/>
                        <a:t>Power Supply</a:t>
                      </a:r>
                    </a:p>
                  </a:txBody>
                  <a:tcPr/>
                </a:tc>
                <a:tc>
                  <a:txBody>
                    <a:bodyPr/>
                    <a:lstStyle/>
                    <a:p>
                      <a:r>
                        <a:rPr lang="en-US" dirty="0"/>
                        <a:t> Input: </a:t>
                      </a:r>
                      <a:r>
                        <a:rPr lang="en-US" b="1" dirty="0"/>
                        <a:t>230 V AC</a:t>
                      </a:r>
                      <a:r>
                        <a:rPr lang="en-US" dirty="0"/>
                        <a:t>, Output: </a:t>
                      </a:r>
                      <a:r>
                        <a:rPr lang="en-US" b="1" dirty="0"/>
                        <a:t>5 V DC (regulated)</a:t>
                      </a:r>
                      <a:endParaRPr lang="en-IN" dirty="0"/>
                    </a:p>
                  </a:txBody>
                  <a:tcPr/>
                </a:tc>
                <a:extLst>
                  <a:ext uri="{0D108BD9-81ED-4DB2-BD59-A6C34878D82A}">
                    <a16:rowId xmlns:a16="http://schemas.microsoft.com/office/drawing/2014/main" val="370066904"/>
                  </a:ext>
                </a:extLst>
              </a:tr>
            </a:tbl>
          </a:graphicData>
        </a:graphic>
      </p:graphicFrame>
      <p:sp>
        <p:nvSpPr>
          <p:cNvPr id="5" name="TextBox 4">
            <a:extLst>
              <a:ext uri="{FF2B5EF4-FFF2-40B4-BE49-F238E27FC236}">
                <a16:creationId xmlns:a16="http://schemas.microsoft.com/office/drawing/2014/main" id="{1E530EDB-C123-FC2D-3611-849457FEF520}"/>
              </a:ext>
            </a:extLst>
          </p:cNvPr>
          <p:cNvSpPr txBox="1"/>
          <p:nvPr/>
        </p:nvSpPr>
        <p:spPr>
          <a:xfrm>
            <a:off x="11242563" y="196922"/>
            <a:ext cx="533400" cy="369332"/>
          </a:xfrm>
          <a:prstGeom prst="rect">
            <a:avLst/>
          </a:prstGeom>
          <a:noFill/>
        </p:spPr>
        <p:txBody>
          <a:bodyPr wrap="square">
            <a:spAutoFit/>
          </a:bodyPr>
          <a:lstStyle/>
          <a:p>
            <a:r>
              <a:rPr lang="en-US" b="1" dirty="0"/>
              <a:t>26</a:t>
            </a:r>
            <a:endParaRPr lang="en-IN" b="1" dirty="0"/>
          </a:p>
        </p:txBody>
      </p:sp>
      <p:sp>
        <p:nvSpPr>
          <p:cNvPr id="7" name="Slide Number Placeholder 6">
            <a:extLst>
              <a:ext uri="{FF2B5EF4-FFF2-40B4-BE49-F238E27FC236}">
                <a16:creationId xmlns:a16="http://schemas.microsoft.com/office/drawing/2014/main" id="{D31F9359-C374-DD08-9F70-B46D206C7561}"/>
              </a:ext>
            </a:extLst>
          </p:cNvPr>
          <p:cNvSpPr>
            <a:spLocks noGrp="1"/>
          </p:cNvSpPr>
          <p:nvPr>
            <p:ph type="sldNum" sz="quarter" idx="12"/>
          </p:nvPr>
        </p:nvSpPr>
        <p:spPr/>
        <p:txBody>
          <a:bodyPr/>
          <a:lstStyle/>
          <a:p>
            <a:fld id="{0E29D32D-1BC0-48D0-BB54-D1EE225F3EBD}" type="slidenum">
              <a:rPr lang="en-IN" smtClean="0"/>
              <a:t>29</a:t>
            </a:fld>
            <a:endParaRPr lang="en-IN" dirty="0"/>
          </a:p>
        </p:txBody>
      </p:sp>
    </p:spTree>
    <p:extLst>
      <p:ext uri="{BB962C8B-B14F-4D97-AF65-F5344CB8AC3E}">
        <p14:creationId xmlns:p14="http://schemas.microsoft.com/office/powerpoint/2010/main" val="3239379256"/>
      </p:ext>
    </p:extLst>
  </p:cSld>
  <p:clrMapOvr>
    <a:masterClrMapping/>
  </p:clrMapOvr>
  <p:transition spd="med">
    <p:pull/>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1D31B0A-0ADB-5F8C-31F8-35C3DF8D29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147" y="860026"/>
            <a:ext cx="10929258" cy="5834743"/>
          </a:xfrm>
          <a:prstGeom prst="rect">
            <a:avLst/>
          </a:prstGeom>
        </p:spPr>
      </p:pic>
      <p:sp>
        <p:nvSpPr>
          <p:cNvPr id="6" name="TextBox 5">
            <a:extLst>
              <a:ext uri="{FF2B5EF4-FFF2-40B4-BE49-F238E27FC236}">
                <a16:creationId xmlns:a16="http://schemas.microsoft.com/office/drawing/2014/main" id="{A382B540-6665-96A8-F788-15AB40B6C12D}"/>
              </a:ext>
            </a:extLst>
          </p:cNvPr>
          <p:cNvSpPr txBox="1"/>
          <p:nvPr/>
        </p:nvSpPr>
        <p:spPr>
          <a:xfrm>
            <a:off x="11244943" y="142296"/>
            <a:ext cx="718457" cy="369332"/>
          </a:xfrm>
          <a:prstGeom prst="rect">
            <a:avLst/>
          </a:prstGeom>
          <a:noFill/>
        </p:spPr>
        <p:txBody>
          <a:bodyPr wrap="square">
            <a:spAutoFit/>
          </a:bodyPr>
          <a:lstStyle/>
          <a:p>
            <a:r>
              <a:rPr lang="en-US" b="1" dirty="0"/>
              <a:t>27</a:t>
            </a:r>
            <a:endParaRPr lang="en-IN" b="1" dirty="0"/>
          </a:p>
        </p:txBody>
      </p:sp>
      <p:sp>
        <p:nvSpPr>
          <p:cNvPr id="5" name="Slide Number Placeholder 4">
            <a:extLst>
              <a:ext uri="{FF2B5EF4-FFF2-40B4-BE49-F238E27FC236}">
                <a16:creationId xmlns:a16="http://schemas.microsoft.com/office/drawing/2014/main" id="{D67564DA-8B1D-3D38-349F-88109A6AE668}"/>
              </a:ext>
            </a:extLst>
          </p:cNvPr>
          <p:cNvSpPr>
            <a:spLocks noGrp="1"/>
          </p:cNvSpPr>
          <p:nvPr>
            <p:ph type="sldNum" sz="quarter" idx="12"/>
          </p:nvPr>
        </p:nvSpPr>
        <p:spPr/>
        <p:txBody>
          <a:bodyPr/>
          <a:lstStyle/>
          <a:p>
            <a:fld id="{0E29D32D-1BC0-48D0-BB54-D1EE225F3EBD}" type="slidenum">
              <a:rPr lang="en-IN" smtClean="0"/>
              <a:t>30</a:t>
            </a:fld>
            <a:endParaRPr lang="en-IN" dirty="0"/>
          </a:p>
        </p:txBody>
      </p:sp>
      <p:sp>
        <p:nvSpPr>
          <p:cNvPr id="2" name="TextBox 1">
            <a:extLst>
              <a:ext uri="{FF2B5EF4-FFF2-40B4-BE49-F238E27FC236}">
                <a16:creationId xmlns:a16="http://schemas.microsoft.com/office/drawing/2014/main" id="{FE4D2CFE-36AE-CC3D-8AB5-BBB19D13EDB9}"/>
              </a:ext>
            </a:extLst>
          </p:cNvPr>
          <p:cNvSpPr txBox="1"/>
          <p:nvPr/>
        </p:nvSpPr>
        <p:spPr>
          <a:xfrm>
            <a:off x="228600" y="243002"/>
            <a:ext cx="3161186" cy="646331"/>
          </a:xfrm>
          <a:prstGeom prst="rect">
            <a:avLst/>
          </a:prstGeom>
          <a:noFill/>
        </p:spPr>
        <p:txBody>
          <a:bodyPr wrap="none" rtlCol="0">
            <a:spAutoFit/>
          </a:bodyPr>
          <a:lstStyle/>
          <a:p>
            <a:r>
              <a:rPr lang="en-US" sz="3600" b="1" dirty="0">
                <a:latin typeface="+mj-lt"/>
              </a:rPr>
              <a:t>GANTT CHART</a:t>
            </a:r>
            <a:endParaRPr lang="en-IN" sz="3600" b="1" dirty="0">
              <a:latin typeface="+mj-lt"/>
            </a:endParaRPr>
          </a:p>
        </p:txBody>
      </p:sp>
    </p:spTree>
    <p:extLst>
      <p:ext uri="{BB962C8B-B14F-4D97-AF65-F5344CB8AC3E}">
        <p14:creationId xmlns:p14="http://schemas.microsoft.com/office/powerpoint/2010/main" val="3945566415"/>
      </p:ext>
    </p:extLst>
  </p:cSld>
  <p:clrMapOvr>
    <a:masterClrMapping/>
  </p:clrMapOvr>
  <p:transition spd="med">
    <p:pull/>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7337-61E9-495D-9D5E-BB7B9FB45DC7}"/>
              </a:ext>
            </a:extLst>
          </p:cNvPr>
          <p:cNvSpPr>
            <a:spLocks noGrp="1"/>
          </p:cNvSpPr>
          <p:nvPr>
            <p:ph type="title"/>
          </p:nvPr>
        </p:nvSpPr>
        <p:spPr>
          <a:xfrm>
            <a:off x="332081" y="0"/>
            <a:ext cx="10515600" cy="1325563"/>
          </a:xfrm>
        </p:spPr>
        <p:txBody>
          <a:bodyPr>
            <a:normAutofit/>
          </a:bodyPr>
          <a:lstStyle/>
          <a:p>
            <a:r>
              <a:rPr lang="en-IN" sz="3600" b="1" u="sng" dirty="0"/>
              <a:t>WORK DISTRIBUTION </a:t>
            </a:r>
          </a:p>
        </p:txBody>
      </p:sp>
      <p:pic>
        <p:nvPicPr>
          <p:cNvPr id="10" name="Picture 9">
            <a:extLst>
              <a:ext uri="{FF2B5EF4-FFF2-40B4-BE49-F238E27FC236}">
                <a16:creationId xmlns:a16="http://schemas.microsoft.com/office/drawing/2014/main" id="{6E45D0C0-9D17-5DEC-744F-D63F74F5FC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851" y="1066800"/>
            <a:ext cx="11139949" cy="5453743"/>
          </a:xfrm>
          <a:prstGeom prst="rect">
            <a:avLst/>
          </a:prstGeom>
        </p:spPr>
      </p:pic>
      <p:sp>
        <p:nvSpPr>
          <p:cNvPr id="11" name="TextBox 10">
            <a:extLst>
              <a:ext uri="{FF2B5EF4-FFF2-40B4-BE49-F238E27FC236}">
                <a16:creationId xmlns:a16="http://schemas.microsoft.com/office/drawing/2014/main" id="{F75F1B4A-F30E-1B54-665D-8B6CADCFB8FA}"/>
              </a:ext>
            </a:extLst>
          </p:cNvPr>
          <p:cNvSpPr txBox="1"/>
          <p:nvPr/>
        </p:nvSpPr>
        <p:spPr>
          <a:xfrm>
            <a:off x="11332380" y="123149"/>
            <a:ext cx="529537" cy="369332"/>
          </a:xfrm>
          <a:prstGeom prst="rect">
            <a:avLst/>
          </a:prstGeom>
          <a:noFill/>
        </p:spPr>
        <p:txBody>
          <a:bodyPr wrap="square" rtlCol="0">
            <a:spAutoFit/>
          </a:bodyPr>
          <a:lstStyle/>
          <a:p>
            <a:r>
              <a:rPr lang="en-IN" b="1" dirty="0"/>
              <a:t>28</a:t>
            </a:r>
          </a:p>
        </p:txBody>
      </p:sp>
      <p:sp>
        <p:nvSpPr>
          <p:cNvPr id="5" name="Slide Number Placeholder 4">
            <a:extLst>
              <a:ext uri="{FF2B5EF4-FFF2-40B4-BE49-F238E27FC236}">
                <a16:creationId xmlns:a16="http://schemas.microsoft.com/office/drawing/2014/main" id="{EE76462E-FBCE-716D-B536-FEB1D3649B17}"/>
              </a:ext>
            </a:extLst>
          </p:cNvPr>
          <p:cNvSpPr>
            <a:spLocks noGrp="1"/>
          </p:cNvSpPr>
          <p:nvPr>
            <p:ph type="sldNum" sz="quarter" idx="12"/>
          </p:nvPr>
        </p:nvSpPr>
        <p:spPr/>
        <p:txBody>
          <a:bodyPr/>
          <a:lstStyle/>
          <a:p>
            <a:fld id="{0E29D32D-1BC0-48D0-BB54-D1EE225F3EBD}" type="slidenum">
              <a:rPr lang="en-IN" smtClean="0"/>
              <a:t>31</a:t>
            </a:fld>
            <a:endParaRPr lang="en-IN" dirty="0"/>
          </a:p>
        </p:txBody>
      </p:sp>
    </p:spTree>
    <p:extLst>
      <p:ext uri="{BB962C8B-B14F-4D97-AF65-F5344CB8AC3E}">
        <p14:creationId xmlns:p14="http://schemas.microsoft.com/office/powerpoint/2010/main" val="3819698825"/>
      </p:ext>
    </p:extLst>
  </p:cSld>
  <p:clrMapOvr>
    <a:masterClrMapping/>
  </p:clrMapOvr>
  <p:transition spd="med">
    <p:pull/>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545E215-D0B4-A20D-F1E5-17E7E0A713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2762" y="729344"/>
            <a:ext cx="11196590" cy="5715000"/>
          </a:xfrm>
          <a:prstGeom prst="rect">
            <a:avLst/>
          </a:prstGeom>
        </p:spPr>
      </p:pic>
      <p:sp>
        <p:nvSpPr>
          <p:cNvPr id="7" name="TextBox 6">
            <a:extLst>
              <a:ext uri="{FF2B5EF4-FFF2-40B4-BE49-F238E27FC236}">
                <a16:creationId xmlns:a16="http://schemas.microsoft.com/office/drawing/2014/main" id="{AB6054CE-7AA7-B748-4923-A66305D81B21}"/>
              </a:ext>
            </a:extLst>
          </p:cNvPr>
          <p:cNvSpPr txBox="1"/>
          <p:nvPr/>
        </p:nvSpPr>
        <p:spPr>
          <a:xfrm>
            <a:off x="11092543" y="141904"/>
            <a:ext cx="786809" cy="369332"/>
          </a:xfrm>
          <a:prstGeom prst="rect">
            <a:avLst/>
          </a:prstGeom>
          <a:noFill/>
        </p:spPr>
        <p:txBody>
          <a:bodyPr wrap="square">
            <a:spAutoFit/>
          </a:bodyPr>
          <a:lstStyle/>
          <a:p>
            <a:r>
              <a:rPr lang="en-US" b="1" dirty="0"/>
              <a:t>29</a:t>
            </a:r>
            <a:endParaRPr lang="en-IN" b="1" dirty="0"/>
          </a:p>
        </p:txBody>
      </p:sp>
      <p:sp>
        <p:nvSpPr>
          <p:cNvPr id="4" name="Slide Number Placeholder 3">
            <a:extLst>
              <a:ext uri="{FF2B5EF4-FFF2-40B4-BE49-F238E27FC236}">
                <a16:creationId xmlns:a16="http://schemas.microsoft.com/office/drawing/2014/main" id="{1E7ABBA0-6663-3504-9208-99D65F8DB50C}"/>
              </a:ext>
            </a:extLst>
          </p:cNvPr>
          <p:cNvSpPr>
            <a:spLocks noGrp="1"/>
          </p:cNvSpPr>
          <p:nvPr>
            <p:ph type="sldNum" sz="quarter" idx="12"/>
          </p:nvPr>
        </p:nvSpPr>
        <p:spPr/>
        <p:txBody>
          <a:bodyPr/>
          <a:lstStyle/>
          <a:p>
            <a:fld id="{0E29D32D-1BC0-48D0-BB54-D1EE225F3EBD}" type="slidenum">
              <a:rPr lang="en-IN" smtClean="0"/>
              <a:t>32</a:t>
            </a:fld>
            <a:endParaRPr lang="en-IN"/>
          </a:p>
        </p:txBody>
      </p:sp>
    </p:spTree>
    <p:extLst>
      <p:ext uri="{BB962C8B-B14F-4D97-AF65-F5344CB8AC3E}">
        <p14:creationId xmlns:p14="http://schemas.microsoft.com/office/powerpoint/2010/main" val="427655803"/>
      </p:ext>
    </p:extLst>
  </p:cSld>
  <p:clrMapOvr>
    <a:masterClrMapping/>
  </p:clrMapOvr>
  <p:transition spd="med">
    <p:pull/>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07EDA13-5A8A-C080-8CF7-FA9608EA925F}"/>
              </a:ext>
            </a:extLst>
          </p:cNvPr>
          <p:cNvPicPr>
            <a:picLocks noChangeAspect="1"/>
          </p:cNvPicPr>
          <p:nvPr/>
        </p:nvPicPr>
        <p:blipFill>
          <a:blip r:embed="rId2">
            <a:extLst>
              <a:ext uri="{28A0092B-C50C-407E-A947-70E740481C1C}">
                <a14:useLocalDpi xmlns:a14="http://schemas.microsoft.com/office/drawing/2010/main" val="0"/>
              </a:ext>
            </a:extLst>
          </a:blip>
          <a:srcRect l="-1716" t="1019" r="99" b="10692"/>
          <a:stretch>
            <a:fillRect/>
          </a:stretch>
        </p:blipFill>
        <p:spPr>
          <a:xfrm>
            <a:off x="735836" y="876112"/>
            <a:ext cx="10720327" cy="3282229"/>
          </a:xfrm>
          <a:prstGeom prst="rect">
            <a:avLst/>
          </a:prstGeom>
        </p:spPr>
      </p:pic>
      <p:sp>
        <p:nvSpPr>
          <p:cNvPr id="7" name="TextBox 6">
            <a:extLst>
              <a:ext uri="{FF2B5EF4-FFF2-40B4-BE49-F238E27FC236}">
                <a16:creationId xmlns:a16="http://schemas.microsoft.com/office/drawing/2014/main" id="{A94CCF4C-FC70-CED1-B912-25CAF11A145F}"/>
              </a:ext>
            </a:extLst>
          </p:cNvPr>
          <p:cNvSpPr txBox="1"/>
          <p:nvPr/>
        </p:nvSpPr>
        <p:spPr>
          <a:xfrm>
            <a:off x="11146971" y="174563"/>
            <a:ext cx="598715" cy="369332"/>
          </a:xfrm>
          <a:prstGeom prst="rect">
            <a:avLst/>
          </a:prstGeom>
          <a:noFill/>
        </p:spPr>
        <p:txBody>
          <a:bodyPr wrap="square">
            <a:spAutoFit/>
          </a:bodyPr>
          <a:lstStyle/>
          <a:p>
            <a:r>
              <a:rPr lang="en-US" b="1" dirty="0"/>
              <a:t>30</a:t>
            </a:r>
            <a:endParaRPr lang="en-IN" b="1" dirty="0"/>
          </a:p>
        </p:txBody>
      </p:sp>
      <p:sp>
        <p:nvSpPr>
          <p:cNvPr id="4" name="Slide Number Placeholder 3">
            <a:extLst>
              <a:ext uri="{FF2B5EF4-FFF2-40B4-BE49-F238E27FC236}">
                <a16:creationId xmlns:a16="http://schemas.microsoft.com/office/drawing/2014/main" id="{660620FC-19E2-A37E-3CE5-4F3A52EA3557}"/>
              </a:ext>
            </a:extLst>
          </p:cNvPr>
          <p:cNvSpPr>
            <a:spLocks noGrp="1"/>
          </p:cNvSpPr>
          <p:nvPr>
            <p:ph type="sldNum" sz="quarter" idx="12"/>
          </p:nvPr>
        </p:nvSpPr>
        <p:spPr/>
        <p:txBody>
          <a:bodyPr/>
          <a:lstStyle/>
          <a:p>
            <a:fld id="{0E29D32D-1BC0-48D0-BB54-D1EE225F3EBD}" type="slidenum">
              <a:rPr lang="en-IN" smtClean="0"/>
              <a:t>33</a:t>
            </a:fld>
            <a:endParaRPr lang="en-IN"/>
          </a:p>
        </p:txBody>
      </p:sp>
    </p:spTree>
    <p:extLst>
      <p:ext uri="{BB962C8B-B14F-4D97-AF65-F5344CB8AC3E}">
        <p14:creationId xmlns:p14="http://schemas.microsoft.com/office/powerpoint/2010/main" val="3050450700"/>
      </p:ext>
    </p:extLst>
  </p:cSld>
  <p:clrMapOvr>
    <a:masterClrMapping/>
  </p:clrMapOvr>
  <p:transition spd="med">
    <p:pull/>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9E5E6-14E3-C09C-6190-1596A62ACEA1}"/>
              </a:ext>
            </a:extLst>
          </p:cNvPr>
          <p:cNvSpPr>
            <a:spLocks noGrp="1"/>
          </p:cNvSpPr>
          <p:nvPr>
            <p:ph type="title"/>
          </p:nvPr>
        </p:nvSpPr>
        <p:spPr>
          <a:xfrm>
            <a:off x="271305" y="-161132"/>
            <a:ext cx="10515600" cy="1325563"/>
          </a:xfrm>
        </p:spPr>
        <p:txBody>
          <a:bodyPr/>
          <a:lstStyle/>
          <a:p>
            <a:r>
              <a:rPr lang="en-US" b="1" u="sng" dirty="0"/>
              <a:t>COST ESTIMATION</a:t>
            </a:r>
            <a:endParaRPr lang="en-IN" b="1" u="sng" dirty="0"/>
          </a:p>
        </p:txBody>
      </p:sp>
      <p:graphicFrame>
        <p:nvGraphicFramePr>
          <p:cNvPr id="9" name="Table 8">
            <a:extLst>
              <a:ext uri="{FF2B5EF4-FFF2-40B4-BE49-F238E27FC236}">
                <a16:creationId xmlns:a16="http://schemas.microsoft.com/office/drawing/2014/main" id="{51AF88DC-F59E-05CD-EA6B-AAB8ECA6BBF5}"/>
              </a:ext>
            </a:extLst>
          </p:cNvPr>
          <p:cNvGraphicFramePr>
            <a:graphicFrameLocks noGrp="1"/>
          </p:cNvGraphicFramePr>
          <p:nvPr>
            <p:extLst>
              <p:ext uri="{D42A27DB-BD31-4B8C-83A1-F6EECF244321}">
                <p14:modId xmlns:p14="http://schemas.microsoft.com/office/powerpoint/2010/main" val="3426576150"/>
              </p:ext>
            </p:extLst>
          </p:nvPr>
        </p:nvGraphicFramePr>
        <p:xfrm>
          <a:off x="361742" y="911530"/>
          <a:ext cx="9385542" cy="5444820"/>
        </p:xfrm>
        <a:graphic>
          <a:graphicData uri="http://schemas.openxmlformats.org/drawingml/2006/table">
            <a:tbl>
              <a:tblPr firstRow="1" bandRow="1">
                <a:tableStyleId>{5C22544A-7EE6-4342-B048-85BDC9FD1C3A}</a:tableStyleId>
              </a:tblPr>
              <a:tblGrid>
                <a:gridCol w="809943">
                  <a:extLst>
                    <a:ext uri="{9D8B030D-6E8A-4147-A177-3AD203B41FA5}">
                      <a16:colId xmlns:a16="http://schemas.microsoft.com/office/drawing/2014/main" val="149057083"/>
                    </a:ext>
                  </a:extLst>
                </a:gridCol>
                <a:gridCol w="2259307">
                  <a:extLst>
                    <a:ext uri="{9D8B030D-6E8A-4147-A177-3AD203B41FA5}">
                      <a16:colId xmlns:a16="http://schemas.microsoft.com/office/drawing/2014/main" val="3610641002"/>
                    </a:ext>
                  </a:extLst>
                </a:gridCol>
                <a:gridCol w="1752688">
                  <a:extLst>
                    <a:ext uri="{9D8B030D-6E8A-4147-A177-3AD203B41FA5}">
                      <a16:colId xmlns:a16="http://schemas.microsoft.com/office/drawing/2014/main" val="155060058"/>
                    </a:ext>
                  </a:extLst>
                </a:gridCol>
                <a:gridCol w="839661">
                  <a:extLst>
                    <a:ext uri="{9D8B030D-6E8A-4147-A177-3AD203B41FA5}">
                      <a16:colId xmlns:a16="http://schemas.microsoft.com/office/drawing/2014/main" val="874272751"/>
                    </a:ext>
                  </a:extLst>
                </a:gridCol>
                <a:gridCol w="2589073">
                  <a:extLst>
                    <a:ext uri="{9D8B030D-6E8A-4147-A177-3AD203B41FA5}">
                      <a16:colId xmlns:a16="http://schemas.microsoft.com/office/drawing/2014/main" val="4124956086"/>
                    </a:ext>
                  </a:extLst>
                </a:gridCol>
                <a:gridCol w="1134870">
                  <a:extLst>
                    <a:ext uri="{9D8B030D-6E8A-4147-A177-3AD203B41FA5}">
                      <a16:colId xmlns:a16="http://schemas.microsoft.com/office/drawing/2014/main" val="4243731629"/>
                    </a:ext>
                  </a:extLst>
                </a:gridCol>
              </a:tblGrid>
              <a:tr h="811731">
                <a:tc>
                  <a:txBody>
                    <a:bodyPr/>
                    <a:lstStyle/>
                    <a:p>
                      <a:r>
                        <a:rPr lang="en-US" b="0" dirty="0"/>
                        <a:t>SI.NO</a:t>
                      </a:r>
                      <a:endParaRPr lang="en-IN" b="0" dirty="0"/>
                    </a:p>
                  </a:txBody>
                  <a:tcPr/>
                </a:tc>
                <a:tc>
                  <a:txBody>
                    <a:bodyPr/>
                    <a:lstStyle/>
                    <a:p>
                      <a:r>
                        <a:rPr lang="en-US" b="0" dirty="0"/>
                        <a:t>COMPONENTS</a:t>
                      </a:r>
                      <a:endParaRPr lang="en-IN" b="0" dirty="0"/>
                    </a:p>
                  </a:txBody>
                  <a:tcPr/>
                </a:tc>
                <a:tc>
                  <a:txBody>
                    <a:bodyPr/>
                    <a:lstStyle/>
                    <a:p>
                      <a:r>
                        <a:rPr lang="en-US" b="0" dirty="0"/>
                        <a:t>COST</a:t>
                      </a:r>
                      <a:endParaRPr lang="en-IN" b="0" dirty="0"/>
                    </a:p>
                  </a:txBody>
                  <a:tcPr/>
                </a:tc>
                <a:tc>
                  <a:txBody>
                    <a:bodyPr/>
                    <a:lstStyle/>
                    <a:p>
                      <a:r>
                        <a:rPr lang="en-US" b="0" dirty="0"/>
                        <a:t>SI.NO</a:t>
                      </a:r>
                      <a:endParaRPr lang="en-IN"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COMPONENTS</a:t>
                      </a:r>
                      <a:endParaRPr lang="en-IN" b="0" dirty="0"/>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 COST</a:t>
                      </a:r>
                      <a:endParaRPr lang="en-IN" b="0" dirty="0"/>
                    </a:p>
                    <a:p>
                      <a:endParaRPr lang="en-IN" dirty="0"/>
                    </a:p>
                  </a:txBody>
                  <a:tcPr/>
                </a:tc>
                <a:extLst>
                  <a:ext uri="{0D108BD9-81ED-4DB2-BD59-A6C34878D82A}">
                    <a16:rowId xmlns:a16="http://schemas.microsoft.com/office/drawing/2014/main" val="4261361231"/>
                  </a:ext>
                </a:extLst>
              </a:tr>
              <a:tr h="370149">
                <a:tc>
                  <a:txBody>
                    <a:bodyPr/>
                    <a:lstStyle/>
                    <a:p>
                      <a:r>
                        <a:rPr lang="en-US" dirty="0"/>
                        <a:t>1</a:t>
                      </a:r>
                    </a:p>
                  </a:txBody>
                  <a:tcPr/>
                </a:tc>
                <a:tc>
                  <a:txBody>
                    <a:bodyPr/>
                    <a:lstStyle/>
                    <a:p>
                      <a:r>
                        <a:rPr lang="en-US" dirty="0"/>
                        <a:t>ESP32D</a:t>
                      </a:r>
                      <a:endParaRPr lang="en-IN" dirty="0"/>
                    </a:p>
                  </a:txBody>
                  <a:tcPr/>
                </a:tc>
                <a:tc>
                  <a:txBody>
                    <a:bodyPr/>
                    <a:lstStyle/>
                    <a:p>
                      <a:r>
                        <a:rPr lang="en-US" dirty="0"/>
                        <a:t>381</a:t>
                      </a:r>
                      <a:endParaRPr lang="en-IN" dirty="0"/>
                    </a:p>
                  </a:txBody>
                  <a:tcPr/>
                </a:tc>
                <a:tc>
                  <a:txBody>
                    <a:bodyPr/>
                    <a:lstStyle/>
                    <a:p>
                      <a:r>
                        <a:rPr lang="en-US" dirty="0"/>
                        <a:t>11</a:t>
                      </a:r>
                      <a:endParaRPr lang="en-IN" dirty="0"/>
                    </a:p>
                  </a:txBody>
                  <a:tcPr/>
                </a:tc>
                <a:tc>
                  <a:txBody>
                    <a:bodyPr/>
                    <a:lstStyle/>
                    <a:p>
                      <a:r>
                        <a:rPr lang="en-US" dirty="0"/>
                        <a:t>JUMPER WIRES(3 SET)</a:t>
                      </a:r>
                      <a:endParaRPr lang="en-IN" dirty="0"/>
                    </a:p>
                  </a:txBody>
                  <a:tcPr/>
                </a:tc>
                <a:tc>
                  <a:txBody>
                    <a:bodyPr/>
                    <a:lstStyle/>
                    <a:p>
                      <a:r>
                        <a:rPr lang="en-US" dirty="0"/>
                        <a:t>45</a:t>
                      </a:r>
                      <a:endParaRPr lang="en-IN" dirty="0"/>
                    </a:p>
                  </a:txBody>
                  <a:tcPr/>
                </a:tc>
                <a:extLst>
                  <a:ext uri="{0D108BD9-81ED-4DB2-BD59-A6C34878D82A}">
                    <a16:rowId xmlns:a16="http://schemas.microsoft.com/office/drawing/2014/main" val="3896230281"/>
                  </a:ext>
                </a:extLst>
              </a:tr>
              <a:tr h="370149">
                <a:tc>
                  <a:txBody>
                    <a:bodyPr/>
                    <a:lstStyle/>
                    <a:p>
                      <a:r>
                        <a:rPr lang="en-US" dirty="0"/>
                        <a:t>2</a:t>
                      </a:r>
                      <a:endParaRPr lang="en-IN" dirty="0"/>
                    </a:p>
                  </a:txBody>
                  <a:tcPr/>
                </a:tc>
                <a:tc>
                  <a:txBody>
                    <a:bodyPr/>
                    <a:lstStyle/>
                    <a:p>
                      <a:r>
                        <a:rPr lang="en-US" dirty="0"/>
                        <a:t>PIR SENSOR</a:t>
                      </a:r>
                      <a:endParaRPr lang="en-IN" dirty="0"/>
                    </a:p>
                  </a:txBody>
                  <a:tcPr/>
                </a:tc>
                <a:tc>
                  <a:txBody>
                    <a:bodyPr/>
                    <a:lstStyle/>
                    <a:p>
                      <a:r>
                        <a:rPr lang="en-US" dirty="0"/>
                        <a:t>60</a:t>
                      </a:r>
                      <a:endParaRPr lang="en-IN" dirty="0"/>
                    </a:p>
                  </a:txBody>
                  <a:tcPr/>
                </a:tc>
                <a:tc>
                  <a:txBody>
                    <a:bodyPr/>
                    <a:lstStyle/>
                    <a:p>
                      <a:r>
                        <a:rPr lang="en-US" dirty="0"/>
                        <a:t>12</a:t>
                      </a:r>
                      <a:endParaRPr lang="en-IN" dirty="0"/>
                    </a:p>
                  </a:txBody>
                  <a:tcPr/>
                </a:tc>
                <a:tc>
                  <a:txBody>
                    <a:bodyPr/>
                    <a:lstStyle/>
                    <a:p>
                      <a:r>
                        <a:rPr lang="en-US" dirty="0"/>
                        <a:t>DATA CABLE</a:t>
                      </a:r>
                    </a:p>
                  </a:txBody>
                  <a:tcPr/>
                </a:tc>
                <a:tc>
                  <a:txBody>
                    <a:bodyPr/>
                    <a:lstStyle/>
                    <a:p>
                      <a:r>
                        <a:rPr lang="en-US" dirty="0"/>
                        <a:t>150</a:t>
                      </a:r>
                      <a:endParaRPr lang="en-IN" dirty="0"/>
                    </a:p>
                  </a:txBody>
                  <a:tcPr/>
                </a:tc>
                <a:extLst>
                  <a:ext uri="{0D108BD9-81ED-4DB2-BD59-A6C34878D82A}">
                    <a16:rowId xmlns:a16="http://schemas.microsoft.com/office/drawing/2014/main" val="3617593766"/>
                  </a:ext>
                </a:extLst>
              </a:tr>
              <a:tr h="610153">
                <a:tc>
                  <a:txBody>
                    <a:bodyPr/>
                    <a:lstStyle/>
                    <a:p>
                      <a:r>
                        <a:rPr lang="en-US" dirty="0"/>
                        <a:t>3</a:t>
                      </a:r>
                      <a:endParaRPr lang="en-IN" dirty="0"/>
                    </a:p>
                  </a:txBody>
                  <a:tcPr/>
                </a:tc>
                <a:tc>
                  <a:txBody>
                    <a:bodyPr/>
                    <a:lstStyle/>
                    <a:p>
                      <a:r>
                        <a:rPr lang="en-US" dirty="0"/>
                        <a:t> TEMPERATURE</a:t>
                      </a:r>
                    </a:p>
                    <a:p>
                      <a:r>
                        <a:rPr lang="en-US" dirty="0"/>
                        <a:t>SENSOR</a:t>
                      </a:r>
                      <a:endParaRPr lang="en-IN" dirty="0"/>
                    </a:p>
                  </a:txBody>
                  <a:tcPr/>
                </a:tc>
                <a:tc>
                  <a:txBody>
                    <a:bodyPr/>
                    <a:lstStyle/>
                    <a:p>
                      <a:r>
                        <a:rPr lang="en-US" dirty="0"/>
                        <a:t>40</a:t>
                      </a:r>
                      <a:endParaRPr lang="en-IN" dirty="0"/>
                    </a:p>
                  </a:txBody>
                  <a:tcPr/>
                </a:tc>
                <a:tc>
                  <a:txBody>
                    <a:bodyPr/>
                    <a:lstStyle/>
                    <a:p>
                      <a:r>
                        <a:rPr lang="en-US" dirty="0"/>
                        <a:t>13</a:t>
                      </a:r>
                      <a:endParaRPr lang="en-IN" dirty="0"/>
                    </a:p>
                  </a:txBody>
                  <a:tcPr/>
                </a:tc>
                <a:tc>
                  <a:txBody>
                    <a:bodyPr/>
                    <a:lstStyle/>
                    <a:p>
                      <a:r>
                        <a:rPr lang="en-US" dirty="0"/>
                        <a:t>BREADBOARD</a:t>
                      </a:r>
                      <a:endParaRPr lang="en-IN" dirty="0"/>
                    </a:p>
                  </a:txBody>
                  <a:tcPr/>
                </a:tc>
                <a:tc>
                  <a:txBody>
                    <a:bodyPr/>
                    <a:lstStyle/>
                    <a:p>
                      <a:r>
                        <a:rPr lang="en-US" dirty="0"/>
                        <a:t>130</a:t>
                      </a:r>
                      <a:endParaRPr lang="en-IN" dirty="0"/>
                    </a:p>
                  </a:txBody>
                  <a:tcPr/>
                </a:tc>
                <a:extLst>
                  <a:ext uri="{0D108BD9-81ED-4DB2-BD59-A6C34878D82A}">
                    <a16:rowId xmlns:a16="http://schemas.microsoft.com/office/drawing/2014/main" val="1001932689"/>
                  </a:ext>
                </a:extLst>
              </a:tr>
              <a:tr h="568212">
                <a:tc>
                  <a:txBody>
                    <a:bodyPr/>
                    <a:lstStyle/>
                    <a:p>
                      <a:r>
                        <a:rPr lang="en-US" dirty="0"/>
                        <a:t>4</a:t>
                      </a:r>
                      <a:endParaRPr lang="en-IN" dirty="0"/>
                    </a:p>
                  </a:txBody>
                  <a:tcPr/>
                </a:tc>
                <a:tc>
                  <a:txBody>
                    <a:bodyPr/>
                    <a:lstStyle/>
                    <a:p>
                      <a:r>
                        <a:rPr lang="en-US" dirty="0"/>
                        <a:t>LDR SENSOR</a:t>
                      </a:r>
                      <a:endParaRPr lang="en-IN" dirty="0"/>
                    </a:p>
                  </a:txBody>
                  <a:tcPr/>
                </a:tc>
                <a:tc>
                  <a:txBody>
                    <a:bodyPr/>
                    <a:lstStyle/>
                    <a:p>
                      <a:r>
                        <a:rPr lang="en-US" dirty="0"/>
                        <a:t>60</a:t>
                      </a:r>
                      <a:endParaRPr lang="en-IN" dirty="0"/>
                    </a:p>
                  </a:txBody>
                  <a:tcPr/>
                </a:tc>
                <a:tc>
                  <a:txBody>
                    <a:bodyPr/>
                    <a:lstStyle/>
                    <a:p>
                      <a:r>
                        <a:rPr lang="en-US" dirty="0"/>
                        <a:t>14</a:t>
                      </a:r>
                      <a:endParaRPr lang="en-IN" dirty="0"/>
                    </a:p>
                  </a:txBody>
                  <a:tcPr/>
                </a:tc>
                <a:tc>
                  <a:txBody>
                    <a:bodyPr/>
                    <a:lstStyle/>
                    <a:p>
                      <a:r>
                        <a:rPr lang="en-US" dirty="0"/>
                        <a:t>5 A FUSE</a:t>
                      </a:r>
                      <a:endParaRPr lang="en-IN" dirty="0"/>
                    </a:p>
                  </a:txBody>
                  <a:tcPr/>
                </a:tc>
                <a:tc>
                  <a:txBody>
                    <a:bodyPr/>
                    <a:lstStyle/>
                    <a:p>
                      <a:r>
                        <a:rPr lang="en-US" dirty="0"/>
                        <a:t>30</a:t>
                      </a:r>
                      <a:endParaRPr lang="en-IN" dirty="0"/>
                    </a:p>
                  </a:txBody>
                  <a:tcPr/>
                </a:tc>
                <a:extLst>
                  <a:ext uri="{0D108BD9-81ED-4DB2-BD59-A6C34878D82A}">
                    <a16:rowId xmlns:a16="http://schemas.microsoft.com/office/drawing/2014/main" val="3715962025"/>
                  </a:ext>
                </a:extLst>
              </a:tr>
              <a:tr h="610153">
                <a:tc>
                  <a:txBody>
                    <a:bodyPr/>
                    <a:lstStyle/>
                    <a:p>
                      <a:r>
                        <a:rPr lang="en-US" dirty="0"/>
                        <a:t>5</a:t>
                      </a:r>
                      <a:endParaRPr lang="en-IN" dirty="0"/>
                    </a:p>
                  </a:txBody>
                  <a:tcPr/>
                </a:tc>
                <a:tc>
                  <a:txBody>
                    <a:bodyPr/>
                    <a:lstStyle/>
                    <a:p>
                      <a:r>
                        <a:rPr lang="en-US" dirty="0"/>
                        <a:t>TWO CHANNEL 5V RELAY MODULE</a:t>
                      </a:r>
                      <a:endParaRPr lang="en-IN" dirty="0"/>
                    </a:p>
                  </a:txBody>
                  <a:tcPr/>
                </a:tc>
                <a:tc>
                  <a:txBody>
                    <a:bodyPr/>
                    <a:lstStyle/>
                    <a:p>
                      <a:r>
                        <a:rPr lang="en-US" dirty="0"/>
                        <a:t>80</a:t>
                      </a:r>
                      <a:endParaRPr lang="en-IN" dirty="0"/>
                    </a:p>
                  </a:txBody>
                  <a:tcPr/>
                </a:tc>
                <a:tc>
                  <a:txBody>
                    <a:bodyPr/>
                    <a:lstStyle/>
                    <a:p>
                      <a:r>
                        <a:rPr lang="en-US" dirty="0"/>
                        <a:t>15</a:t>
                      </a:r>
                      <a:endParaRPr lang="en-IN" dirty="0"/>
                    </a:p>
                  </a:txBody>
                  <a:tcPr/>
                </a:tc>
                <a:tc>
                  <a:txBody>
                    <a:bodyPr/>
                    <a:lstStyle/>
                    <a:p>
                      <a:r>
                        <a:rPr lang="en-US" dirty="0"/>
                        <a:t>THREE PIN PLUG</a:t>
                      </a:r>
                      <a:endParaRPr lang="en-IN" dirty="0"/>
                    </a:p>
                  </a:txBody>
                  <a:tcPr/>
                </a:tc>
                <a:tc>
                  <a:txBody>
                    <a:bodyPr/>
                    <a:lstStyle/>
                    <a:p>
                      <a:r>
                        <a:rPr lang="en-US" dirty="0"/>
                        <a:t>100</a:t>
                      </a:r>
                      <a:endParaRPr lang="en-IN" dirty="0"/>
                    </a:p>
                  </a:txBody>
                  <a:tcPr/>
                </a:tc>
                <a:extLst>
                  <a:ext uri="{0D108BD9-81ED-4DB2-BD59-A6C34878D82A}">
                    <a16:rowId xmlns:a16="http://schemas.microsoft.com/office/drawing/2014/main" val="1202246138"/>
                  </a:ext>
                </a:extLst>
              </a:tr>
              <a:tr h="568212">
                <a:tc>
                  <a:txBody>
                    <a:bodyPr/>
                    <a:lstStyle/>
                    <a:p>
                      <a:r>
                        <a:rPr lang="en-US" dirty="0"/>
                        <a:t>6</a:t>
                      </a:r>
                      <a:endParaRPr lang="en-IN" dirty="0"/>
                    </a:p>
                  </a:txBody>
                  <a:tcPr/>
                </a:tc>
                <a:tc>
                  <a:txBody>
                    <a:bodyPr/>
                    <a:lstStyle/>
                    <a:p>
                      <a:r>
                        <a:rPr lang="en-US" dirty="0"/>
                        <a:t>OLED DISPLAY</a:t>
                      </a:r>
                      <a:endParaRPr lang="en-IN" dirty="0"/>
                    </a:p>
                  </a:txBody>
                  <a:tcPr/>
                </a:tc>
                <a:tc>
                  <a:txBody>
                    <a:bodyPr/>
                    <a:lstStyle/>
                    <a:p>
                      <a:r>
                        <a:rPr lang="en-US" dirty="0"/>
                        <a:t>280</a:t>
                      </a:r>
                      <a:endParaRPr lang="en-IN" dirty="0"/>
                    </a:p>
                  </a:txBody>
                  <a:tcPr/>
                </a:tc>
                <a:tc>
                  <a:txBody>
                    <a:bodyPr/>
                    <a:lstStyle/>
                    <a:p>
                      <a:r>
                        <a:rPr lang="en-US" dirty="0"/>
                        <a:t>16</a:t>
                      </a:r>
                      <a:endParaRPr lang="en-IN" dirty="0"/>
                    </a:p>
                  </a:txBody>
                  <a:tcPr/>
                </a:tc>
                <a:tc>
                  <a:txBody>
                    <a:bodyPr/>
                    <a:lstStyle/>
                    <a:p>
                      <a:r>
                        <a:rPr lang="en-US" dirty="0"/>
                        <a:t>SOCKET PLUG</a:t>
                      </a:r>
                      <a:endParaRPr lang="en-IN" dirty="0"/>
                    </a:p>
                  </a:txBody>
                  <a:tcPr/>
                </a:tc>
                <a:tc>
                  <a:txBody>
                    <a:bodyPr/>
                    <a:lstStyle/>
                    <a:p>
                      <a:r>
                        <a:rPr lang="en-US" dirty="0"/>
                        <a:t>60</a:t>
                      </a:r>
                      <a:endParaRPr lang="en-IN" dirty="0"/>
                    </a:p>
                  </a:txBody>
                  <a:tcPr/>
                </a:tc>
                <a:extLst>
                  <a:ext uri="{0D108BD9-81ED-4DB2-BD59-A6C34878D82A}">
                    <a16:rowId xmlns:a16="http://schemas.microsoft.com/office/drawing/2014/main" val="3602709885"/>
                  </a:ext>
                </a:extLst>
              </a:tr>
              <a:tr h="370149">
                <a:tc>
                  <a:txBody>
                    <a:bodyPr/>
                    <a:lstStyle/>
                    <a:p>
                      <a:r>
                        <a:rPr lang="en-US" dirty="0"/>
                        <a:t>7</a:t>
                      </a:r>
                      <a:endParaRPr lang="en-IN" dirty="0"/>
                    </a:p>
                  </a:txBody>
                  <a:tcPr/>
                </a:tc>
                <a:tc>
                  <a:txBody>
                    <a:bodyPr/>
                    <a:lstStyle/>
                    <a:p>
                      <a:r>
                        <a:rPr lang="en-US" dirty="0"/>
                        <a:t>HLK-LD2410</a:t>
                      </a:r>
                      <a:endParaRPr lang="en-IN" dirty="0"/>
                    </a:p>
                  </a:txBody>
                  <a:tcPr/>
                </a:tc>
                <a:tc>
                  <a:txBody>
                    <a:bodyPr/>
                    <a:lstStyle/>
                    <a:p>
                      <a:r>
                        <a:rPr lang="en-US" dirty="0"/>
                        <a:t>590</a:t>
                      </a:r>
                      <a:endParaRPr lang="en-IN" dirty="0"/>
                    </a:p>
                  </a:txBody>
                  <a:tcPr/>
                </a:tc>
                <a:tc>
                  <a:txBody>
                    <a:bodyPr/>
                    <a:lstStyle/>
                    <a:p>
                      <a:r>
                        <a:rPr lang="en-US" dirty="0"/>
                        <a:t>17</a:t>
                      </a:r>
                      <a:endParaRPr lang="en-IN" dirty="0"/>
                    </a:p>
                  </a:txBody>
                  <a:tcPr/>
                </a:tc>
                <a:tc>
                  <a:txBody>
                    <a:bodyPr/>
                    <a:lstStyle/>
                    <a:p>
                      <a:r>
                        <a:rPr lang="en-US" dirty="0"/>
                        <a:t>SWITCH BOARD</a:t>
                      </a:r>
                      <a:endParaRPr lang="en-IN" dirty="0"/>
                    </a:p>
                  </a:txBody>
                  <a:tcPr/>
                </a:tc>
                <a:tc>
                  <a:txBody>
                    <a:bodyPr/>
                    <a:lstStyle/>
                    <a:p>
                      <a:r>
                        <a:rPr lang="en-US" dirty="0"/>
                        <a:t>150</a:t>
                      </a:r>
                      <a:endParaRPr lang="en-IN" dirty="0"/>
                    </a:p>
                  </a:txBody>
                  <a:tcPr/>
                </a:tc>
                <a:extLst>
                  <a:ext uri="{0D108BD9-81ED-4DB2-BD59-A6C34878D82A}">
                    <a16:rowId xmlns:a16="http://schemas.microsoft.com/office/drawing/2014/main" val="3928541262"/>
                  </a:ext>
                </a:extLst>
              </a:tr>
              <a:tr h="370149">
                <a:tc>
                  <a:txBody>
                    <a:bodyPr/>
                    <a:lstStyle/>
                    <a:p>
                      <a:r>
                        <a:rPr lang="en-US" dirty="0"/>
                        <a:t>8</a:t>
                      </a:r>
                      <a:endParaRPr lang="en-IN" dirty="0"/>
                    </a:p>
                  </a:txBody>
                  <a:tcPr/>
                </a:tc>
                <a:tc>
                  <a:txBody>
                    <a:bodyPr/>
                    <a:lstStyle/>
                    <a:p>
                      <a:r>
                        <a:rPr lang="en-US" dirty="0"/>
                        <a:t>LIGHT</a:t>
                      </a:r>
                      <a:endParaRPr lang="en-IN" dirty="0"/>
                    </a:p>
                  </a:txBody>
                  <a:tcPr/>
                </a:tc>
                <a:tc>
                  <a:txBody>
                    <a:bodyPr/>
                    <a:lstStyle/>
                    <a:p>
                      <a:r>
                        <a:rPr lang="en-US" dirty="0"/>
                        <a:t>120</a:t>
                      </a:r>
                      <a:endParaRPr lang="en-IN" dirty="0"/>
                    </a:p>
                  </a:txBody>
                  <a:tcPr/>
                </a:tc>
                <a:tc>
                  <a:txBody>
                    <a:bodyPr/>
                    <a:lstStyle/>
                    <a:p>
                      <a:r>
                        <a:rPr lang="en-US" dirty="0"/>
                        <a:t>18</a:t>
                      </a:r>
                      <a:endParaRPr lang="en-IN" dirty="0"/>
                    </a:p>
                  </a:txBody>
                  <a:tcPr/>
                </a:tc>
                <a:tc>
                  <a:txBody>
                    <a:bodyPr/>
                    <a:lstStyle/>
                    <a:p>
                      <a:r>
                        <a:rPr lang="en-US" dirty="0"/>
                        <a:t>CONNECTING WIRES</a:t>
                      </a:r>
                      <a:endParaRPr lang="en-IN" dirty="0"/>
                    </a:p>
                  </a:txBody>
                  <a:tcPr/>
                </a:tc>
                <a:tc>
                  <a:txBody>
                    <a:bodyPr/>
                    <a:lstStyle/>
                    <a:p>
                      <a:r>
                        <a:rPr lang="en-US" dirty="0"/>
                        <a:t>60</a:t>
                      </a:r>
                      <a:endParaRPr lang="en-IN" dirty="0"/>
                    </a:p>
                  </a:txBody>
                  <a:tcPr/>
                </a:tc>
                <a:extLst>
                  <a:ext uri="{0D108BD9-81ED-4DB2-BD59-A6C34878D82A}">
                    <a16:rowId xmlns:a16="http://schemas.microsoft.com/office/drawing/2014/main" val="99076000"/>
                  </a:ext>
                </a:extLst>
              </a:tr>
              <a:tr h="370149">
                <a:tc>
                  <a:txBody>
                    <a:bodyPr/>
                    <a:lstStyle/>
                    <a:p>
                      <a:r>
                        <a:rPr lang="en-US" dirty="0"/>
                        <a:t>9</a:t>
                      </a:r>
                      <a:endParaRPr lang="en-IN" dirty="0"/>
                    </a:p>
                  </a:txBody>
                  <a:tcPr/>
                </a:tc>
                <a:tc>
                  <a:txBody>
                    <a:bodyPr/>
                    <a:lstStyle/>
                    <a:p>
                      <a:r>
                        <a:rPr lang="en-US" dirty="0"/>
                        <a:t>FAN</a:t>
                      </a:r>
                      <a:endParaRPr lang="en-IN" dirty="0"/>
                    </a:p>
                  </a:txBody>
                  <a:tcPr/>
                </a:tc>
                <a:tc>
                  <a:txBody>
                    <a:bodyPr/>
                    <a:lstStyle/>
                    <a:p>
                      <a:r>
                        <a:rPr lang="en-US" dirty="0"/>
                        <a:t>2100</a:t>
                      </a:r>
                      <a:endParaRPr lang="en-IN" dirty="0"/>
                    </a:p>
                  </a:txBody>
                  <a:tcPr/>
                </a:tc>
                <a:tc>
                  <a:txBody>
                    <a:bodyPr/>
                    <a:lstStyle/>
                    <a:p>
                      <a:r>
                        <a:rPr lang="en-US" dirty="0"/>
                        <a:t>19</a:t>
                      </a:r>
                      <a:endParaRPr lang="en-IN" dirty="0"/>
                    </a:p>
                  </a:txBody>
                  <a:tcPr/>
                </a:tc>
                <a:tc>
                  <a:txBody>
                    <a:bodyPr/>
                    <a:lstStyle/>
                    <a:p>
                      <a:r>
                        <a:rPr lang="en-US" dirty="0"/>
                        <a:t>SWITCHES</a:t>
                      </a:r>
                      <a:endParaRPr lang="en-IN" dirty="0"/>
                    </a:p>
                  </a:txBody>
                  <a:tcPr/>
                </a:tc>
                <a:tc>
                  <a:txBody>
                    <a:bodyPr/>
                    <a:lstStyle/>
                    <a:p>
                      <a:r>
                        <a:rPr lang="en-US" dirty="0"/>
                        <a:t>40</a:t>
                      </a:r>
                      <a:endParaRPr lang="en-IN" dirty="0"/>
                    </a:p>
                  </a:txBody>
                  <a:tcPr/>
                </a:tc>
                <a:extLst>
                  <a:ext uri="{0D108BD9-81ED-4DB2-BD59-A6C34878D82A}">
                    <a16:rowId xmlns:a16="http://schemas.microsoft.com/office/drawing/2014/main" val="1886499307"/>
                  </a:ext>
                </a:extLst>
              </a:tr>
              <a:tr h="348659">
                <a:tc>
                  <a:txBody>
                    <a:bodyPr/>
                    <a:lstStyle/>
                    <a:p>
                      <a:r>
                        <a:rPr lang="en-US" dirty="0"/>
                        <a:t>10</a:t>
                      </a:r>
                    </a:p>
                  </a:txBody>
                  <a:tcPr/>
                </a:tc>
                <a:tc>
                  <a:txBody>
                    <a:bodyPr/>
                    <a:lstStyle/>
                    <a:p>
                      <a:r>
                        <a:rPr lang="en-US" dirty="0"/>
                        <a:t>EXTENSION BOARD</a:t>
                      </a:r>
                      <a:endParaRPr lang="en-IN" dirty="0"/>
                    </a:p>
                  </a:txBody>
                  <a:tcPr/>
                </a:tc>
                <a:tc>
                  <a:txBody>
                    <a:bodyPr/>
                    <a:lstStyle/>
                    <a:p>
                      <a:r>
                        <a:rPr lang="en-US" dirty="0"/>
                        <a:t>250</a:t>
                      </a:r>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821889991"/>
                  </a:ext>
                </a:extLst>
              </a:tr>
            </a:tbl>
          </a:graphicData>
        </a:graphic>
      </p:graphicFrame>
      <p:sp>
        <p:nvSpPr>
          <p:cNvPr id="10" name="TextBox 9">
            <a:extLst>
              <a:ext uri="{FF2B5EF4-FFF2-40B4-BE49-F238E27FC236}">
                <a16:creationId xmlns:a16="http://schemas.microsoft.com/office/drawing/2014/main" id="{76BEC3A1-3960-3DB2-ABB0-C310A75B5290}"/>
              </a:ext>
            </a:extLst>
          </p:cNvPr>
          <p:cNvSpPr txBox="1"/>
          <p:nvPr/>
        </p:nvSpPr>
        <p:spPr>
          <a:xfrm>
            <a:off x="7772400" y="6396335"/>
            <a:ext cx="4767943" cy="461665"/>
          </a:xfrm>
          <a:prstGeom prst="rect">
            <a:avLst/>
          </a:prstGeom>
          <a:noFill/>
        </p:spPr>
        <p:txBody>
          <a:bodyPr wrap="square" rtlCol="0">
            <a:spAutoFit/>
          </a:bodyPr>
          <a:lstStyle/>
          <a:p>
            <a:r>
              <a:rPr lang="en-US" sz="2400" b="1" dirty="0"/>
              <a:t>TOTAL COST: 4726/-</a:t>
            </a:r>
            <a:endParaRPr lang="en-IN" sz="2400" b="1" dirty="0"/>
          </a:p>
        </p:txBody>
      </p:sp>
      <p:sp>
        <p:nvSpPr>
          <p:cNvPr id="12" name="TextBox 11">
            <a:extLst>
              <a:ext uri="{FF2B5EF4-FFF2-40B4-BE49-F238E27FC236}">
                <a16:creationId xmlns:a16="http://schemas.microsoft.com/office/drawing/2014/main" id="{F1A193BD-4188-6AA2-D906-EC49A185D0EB}"/>
              </a:ext>
            </a:extLst>
          </p:cNvPr>
          <p:cNvSpPr txBox="1"/>
          <p:nvPr/>
        </p:nvSpPr>
        <p:spPr>
          <a:xfrm>
            <a:off x="10907485" y="109035"/>
            <a:ext cx="742648" cy="369332"/>
          </a:xfrm>
          <a:prstGeom prst="rect">
            <a:avLst/>
          </a:prstGeom>
          <a:noFill/>
        </p:spPr>
        <p:txBody>
          <a:bodyPr wrap="square">
            <a:spAutoFit/>
          </a:bodyPr>
          <a:lstStyle/>
          <a:p>
            <a:r>
              <a:rPr lang="en-US" b="1" dirty="0"/>
              <a:t>31</a:t>
            </a:r>
          </a:p>
        </p:txBody>
      </p:sp>
      <p:sp>
        <p:nvSpPr>
          <p:cNvPr id="5" name="Slide Number Placeholder 4">
            <a:extLst>
              <a:ext uri="{FF2B5EF4-FFF2-40B4-BE49-F238E27FC236}">
                <a16:creationId xmlns:a16="http://schemas.microsoft.com/office/drawing/2014/main" id="{97BC82EF-1D5F-B079-9F62-50ACBA67B902}"/>
              </a:ext>
            </a:extLst>
          </p:cNvPr>
          <p:cNvSpPr>
            <a:spLocks noGrp="1"/>
          </p:cNvSpPr>
          <p:nvPr>
            <p:ph type="sldNum" sz="quarter" idx="12"/>
          </p:nvPr>
        </p:nvSpPr>
        <p:spPr/>
        <p:txBody>
          <a:bodyPr/>
          <a:lstStyle/>
          <a:p>
            <a:fld id="{0E29D32D-1BC0-48D0-BB54-D1EE225F3EBD}" type="slidenum">
              <a:rPr lang="en-IN" smtClean="0"/>
              <a:t>34</a:t>
            </a:fld>
            <a:endParaRPr lang="en-IN" dirty="0"/>
          </a:p>
        </p:txBody>
      </p:sp>
    </p:spTree>
    <p:extLst>
      <p:ext uri="{BB962C8B-B14F-4D97-AF65-F5344CB8AC3E}">
        <p14:creationId xmlns:p14="http://schemas.microsoft.com/office/powerpoint/2010/main" val="2108104483"/>
      </p:ext>
    </p:extLst>
  </p:cSld>
  <p:clrMapOvr>
    <a:masterClrMapping/>
  </p:clrMapOvr>
  <p:transition spd="med">
    <p:pull/>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61D00-673E-6F9C-B043-2D3966F99E8D}"/>
              </a:ext>
            </a:extLst>
          </p:cNvPr>
          <p:cNvSpPr>
            <a:spLocks noGrp="1"/>
          </p:cNvSpPr>
          <p:nvPr>
            <p:ph type="title"/>
          </p:nvPr>
        </p:nvSpPr>
        <p:spPr>
          <a:xfrm>
            <a:off x="254559" y="46181"/>
            <a:ext cx="10515600" cy="1325563"/>
          </a:xfrm>
        </p:spPr>
        <p:txBody>
          <a:bodyPr>
            <a:normAutofit/>
          </a:bodyPr>
          <a:lstStyle/>
          <a:p>
            <a:r>
              <a:rPr lang="en-US" sz="3600" b="1" u="sng" dirty="0"/>
              <a:t>RESULT</a:t>
            </a:r>
            <a:endParaRPr lang="en-IN" sz="3600" b="1" u="sng" dirty="0"/>
          </a:p>
        </p:txBody>
      </p:sp>
      <p:sp>
        <p:nvSpPr>
          <p:cNvPr id="3" name="TextBox 2">
            <a:extLst>
              <a:ext uri="{FF2B5EF4-FFF2-40B4-BE49-F238E27FC236}">
                <a16:creationId xmlns:a16="http://schemas.microsoft.com/office/drawing/2014/main" id="{04511BA4-6D5C-FC6B-5B17-369418A6200A}"/>
              </a:ext>
            </a:extLst>
          </p:cNvPr>
          <p:cNvSpPr txBox="1"/>
          <p:nvPr/>
        </p:nvSpPr>
        <p:spPr>
          <a:xfrm>
            <a:off x="254559" y="1093371"/>
            <a:ext cx="10994571" cy="5262979"/>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t>The Smart Classroom Energy Management System was </a:t>
            </a:r>
            <a:r>
              <a:rPr lang="en-US" sz="2400" b="1" dirty="0"/>
              <a:t>successfully implemented using ESP32</a:t>
            </a:r>
            <a:r>
              <a:rPr lang="en-US" sz="2400" dirty="0"/>
              <a:t> with PIR sensor, LM35 temperature sensor, and LDR sensor</a:t>
            </a:r>
          </a:p>
          <a:p>
            <a:pPr marL="285750" indent="-285750" algn="just">
              <a:buFont typeface="Arial" panose="020B0604020202020204" pitchFamily="34" charset="0"/>
              <a:buChar char="•"/>
            </a:pPr>
            <a:r>
              <a:rPr lang="en-US" sz="2400" dirty="0"/>
              <a:t>The </a:t>
            </a:r>
            <a:r>
              <a:rPr lang="en-US" sz="2400" b="1" dirty="0"/>
              <a:t>PIR sensor detected human motion</a:t>
            </a:r>
            <a:r>
              <a:rPr lang="en-US" sz="2400" dirty="0"/>
              <a:t> and was used to determine classroom occupancy status.</a:t>
            </a:r>
          </a:p>
          <a:p>
            <a:pPr marL="285750" indent="-285750" algn="just">
              <a:buFont typeface="Arial" panose="020B0604020202020204" pitchFamily="34" charset="0"/>
              <a:buChar char="•"/>
            </a:pPr>
            <a:r>
              <a:rPr lang="en-US" sz="2400" dirty="0"/>
              <a:t>The </a:t>
            </a:r>
            <a:r>
              <a:rPr lang="en-US" sz="2400" b="1" dirty="0"/>
              <a:t>LM35 sensor monitored temperature</a:t>
            </a:r>
            <a:r>
              <a:rPr lang="en-US" sz="2400" dirty="0"/>
              <a:t> and automatically switched the </a:t>
            </a:r>
            <a:r>
              <a:rPr lang="en-US" sz="2400" b="1" dirty="0"/>
              <a:t>fan ON when temperature ≥ 22 °C</a:t>
            </a:r>
            <a:r>
              <a:rPr lang="en-US" sz="2400" dirty="0"/>
              <a:t> during motion detection.</a:t>
            </a:r>
          </a:p>
          <a:p>
            <a:pPr marL="285750" indent="-285750" algn="just">
              <a:buFont typeface="Arial" panose="020B0604020202020204" pitchFamily="34" charset="0"/>
              <a:buChar char="•"/>
            </a:pPr>
            <a:r>
              <a:rPr lang="en-US" sz="2400" dirty="0"/>
              <a:t>The </a:t>
            </a:r>
            <a:r>
              <a:rPr lang="en-US" sz="2400" b="1" dirty="0"/>
              <a:t>LDR sensor controlled the lights</a:t>
            </a:r>
            <a:r>
              <a:rPr lang="en-US" sz="2400" dirty="0"/>
              <a:t> based on surrounding light conditions.</a:t>
            </a:r>
          </a:p>
          <a:p>
            <a:pPr marL="285750" indent="-285750" algn="just">
              <a:buFont typeface="Arial" panose="020B0604020202020204" pitchFamily="34" charset="0"/>
              <a:buChar char="•"/>
            </a:pPr>
            <a:r>
              <a:rPr lang="en-US" sz="2400" dirty="0"/>
              <a:t>The </a:t>
            </a:r>
            <a:r>
              <a:rPr lang="en-US" sz="2400" b="1" dirty="0"/>
              <a:t>relay module successfully operated the AC fan and light</a:t>
            </a:r>
            <a:r>
              <a:rPr lang="en-US" sz="2400" dirty="0"/>
              <a:t> according to sensor inputs.</a:t>
            </a:r>
          </a:p>
          <a:p>
            <a:pPr marL="285750" indent="-285750" algn="just">
              <a:buFont typeface="Arial" panose="020B0604020202020204" pitchFamily="34" charset="0"/>
              <a:buChar char="•"/>
            </a:pPr>
            <a:r>
              <a:rPr lang="en-US" sz="2400" dirty="0"/>
              <a:t>The </a:t>
            </a:r>
            <a:r>
              <a:rPr lang="en-US" sz="2400" b="1" dirty="0"/>
              <a:t>OLED display showed real-time status</a:t>
            </a:r>
            <a:r>
              <a:rPr lang="en-US" sz="2400" dirty="0"/>
              <a:t> of motion detection, temperature, and appliance operation</a:t>
            </a:r>
          </a:p>
          <a:p>
            <a:pPr marL="285750" indent="-285750" algn="just">
              <a:buFont typeface="Arial" panose="020B0604020202020204" pitchFamily="34" charset="0"/>
              <a:buChar char="•"/>
            </a:pPr>
            <a:r>
              <a:rPr lang="en-US" sz="2400" dirty="0"/>
              <a:t>The system helped </a:t>
            </a:r>
            <a:r>
              <a:rPr lang="en-US" sz="2400" b="1" dirty="0"/>
              <a:t>reduce unnecessary power consumption</a:t>
            </a:r>
            <a:r>
              <a:rPr lang="en-US" sz="2400" dirty="0"/>
              <a:t> when the classroom was empty.</a:t>
            </a:r>
          </a:p>
        </p:txBody>
      </p:sp>
      <p:sp>
        <p:nvSpPr>
          <p:cNvPr id="5" name="TextBox 4">
            <a:extLst>
              <a:ext uri="{FF2B5EF4-FFF2-40B4-BE49-F238E27FC236}">
                <a16:creationId xmlns:a16="http://schemas.microsoft.com/office/drawing/2014/main" id="{D31C3D42-E1B8-46D7-403A-DE91083E8D64}"/>
              </a:ext>
            </a:extLst>
          </p:cNvPr>
          <p:cNvSpPr txBox="1"/>
          <p:nvPr/>
        </p:nvSpPr>
        <p:spPr>
          <a:xfrm>
            <a:off x="11136086" y="206955"/>
            <a:ext cx="620485" cy="369332"/>
          </a:xfrm>
          <a:prstGeom prst="rect">
            <a:avLst/>
          </a:prstGeom>
          <a:noFill/>
        </p:spPr>
        <p:txBody>
          <a:bodyPr wrap="square">
            <a:spAutoFit/>
          </a:bodyPr>
          <a:lstStyle/>
          <a:p>
            <a:r>
              <a:rPr lang="en-US" b="1" dirty="0"/>
              <a:t>32</a:t>
            </a:r>
            <a:endParaRPr lang="en-IN" b="1" dirty="0"/>
          </a:p>
        </p:txBody>
      </p:sp>
      <p:sp>
        <p:nvSpPr>
          <p:cNvPr id="7" name="Slide Number Placeholder 6">
            <a:extLst>
              <a:ext uri="{FF2B5EF4-FFF2-40B4-BE49-F238E27FC236}">
                <a16:creationId xmlns:a16="http://schemas.microsoft.com/office/drawing/2014/main" id="{F13EF505-3487-4128-2F27-3E2836113C4A}"/>
              </a:ext>
            </a:extLst>
          </p:cNvPr>
          <p:cNvSpPr>
            <a:spLocks noGrp="1"/>
          </p:cNvSpPr>
          <p:nvPr>
            <p:ph type="sldNum" sz="quarter" idx="12"/>
          </p:nvPr>
        </p:nvSpPr>
        <p:spPr/>
        <p:txBody>
          <a:bodyPr/>
          <a:lstStyle/>
          <a:p>
            <a:fld id="{0E29D32D-1BC0-48D0-BB54-D1EE225F3EBD}" type="slidenum">
              <a:rPr lang="en-IN" smtClean="0"/>
              <a:t>35</a:t>
            </a:fld>
            <a:endParaRPr lang="en-IN" dirty="0"/>
          </a:p>
        </p:txBody>
      </p:sp>
    </p:spTree>
    <p:extLst>
      <p:ext uri="{BB962C8B-B14F-4D97-AF65-F5344CB8AC3E}">
        <p14:creationId xmlns:p14="http://schemas.microsoft.com/office/powerpoint/2010/main" val="914668349"/>
      </p:ext>
    </p:extLst>
  </p:cSld>
  <p:clrMapOvr>
    <a:masterClrMapping/>
  </p:clrMapOvr>
  <p:transition spd="med">
    <p:pull/>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7599B5-C3B3-A0DE-C9BC-25EB14863A82}"/>
              </a:ext>
            </a:extLst>
          </p:cNvPr>
          <p:cNvSpPr>
            <a:spLocks noGrp="1"/>
          </p:cNvSpPr>
          <p:nvPr>
            <p:ph type="sldNum" sz="quarter" idx="12"/>
          </p:nvPr>
        </p:nvSpPr>
        <p:spPr/>
        <p:txBody>
          <a:bodyPr/>
          <a:lstStyle/>
          <a:p>
            <a:fld id="{0E29D32D-1BC0-48D0-BB54-D1EE225F3EBD}" type="slidenum">
              <a:rPr lang="en-IN" smtClean="0"/>
              <a:t>36</a:t>
            </a:fld>
            <a:endParaRPr lang="en-IN"/>
          </a:p>
        </p:txBody>
      </p:sp>
      <p:sp>
        <p:nvSpPr>
          <p:cNvPr id="4" name="TextBox 3">
            <a:extLst>
              <a:ext uri="{FF2B5EF4-FFF2-40B4-BE49-F238E27FC236}">
                <a16:creationId xmlns:a16="http://schemas.microsoft.com/office/drawing/2014/main" id="{3B34CF72-E40F-E685-A335-83FC8D4B805D}"/>
              </a:ext>
            </a:extLst>
          </p:cNvPr>
          <p:cNvSpPr txBox="1"/>
          <p:nvPr/>
        </p:nvSpPr>
        <p:spPr>
          <a:xfrm>
            <a:off x="303963" y="1188173"/>
            <a:ext cx="9955404" cy="4862870"/>
          </a:xfrm>
          <a:prstGeom prst="rect">
            <a:avLst/>
          </a:prstGeom>
          <a:noFill/>
        </p:spPr>
        <p:txBody>
          <a:bodyPr wrap="square">
            <a:spAutoFit/>
          </a:bodyPr>
          <a:lstStyle/>
          <a:p>
            <a:r>
              <a:rPr lang="en-US" sz="2200" dirty="0"/>
              <a:t>• </a:t>
            </a:r>
            <a:r>
              <a:rPr lang="en-US" sz="2400" dirty="0"/>
              <a:t>Integration of IoT for remote monitoring and control</a:t>
            </a:r>
            <a:endParaRPr lang="en-IN" sz="2200" dirty="0"/>
          </a:p>
          <a:p>
            <a:r>
              <a:rPr lang="en-US" sz="2200" dirty="0"/>
              <a:t>• </a:t>
            </a:r>
            <a:r>
              <a:rPr lang="en-US" sz="2400" dirty="0"/>
              <a:t>Mobile app or web-based classroom management </a:t>
            </a:r>
          </a:p>
          <a:p>
            <a:r>
              <a:rPr lang="en-US" sz="2200" dirty="0"/>
              <a:t>• </a:t>
            </a:r>
            <a:r>
              <a:rPr lang="en-US" sz="2400" dirty="0"/>
              <a:t>Suitable for smart classroom and smart campus systems</a:t>
            </a:r>
            <a:endParaRPr lang="en-IN" sz="2200" dirty="0"/>
          </a:p>
          <a:p>
            <a:r>
              <a:rPr lang="en-US" sz="2200" dirty="0"/>
              <a:t>• </a:t>
            </a:r>
            <a:r>
              <a:rPr lang="en-US" sz="2400" dirty="0"/>
              <a:t>Use of AI and machine learning for intelligent automation</a:t>
            </a:r>
            <a:endParaRPr lang="en-IN" sz="2200" dirty="0"/>
          </a:p>
          <a:p>
            <a:r>
              <a:rPr lang="en-US" sz="2200" dirty="0"/>
              <a:t>• </a:t>
            </a:r>
            <a:r>
              <a:rPr lang="en-US" sz="2400" dirty="0"/>
              <a:t>Automatic optimization based on usage patterns </a:t>
            </a:r>
          </a:p>
          <a:p>
            <a:r>
              <a:rPr lang="en-US" sz="2200" dirty="0"/>
              <a:t>• </a:t>
            </a:r>
            <a:r>
              <a:rPr lang="en-US" sz="2400" dirty="0"/>
              <a:t>Improved energy efficiency using smart decision making </a:t>
            </a:r>
          </a:p>
          <a:p>
            <a:r>
              <a:rPr lang="en-US" sz="2200" dirty="0"/>
              <a:t>• </a:t>
            </a:r>
            <a:r>
              <a:rPr lang="en-US" sz="2400" dirty="0"/>
              <a:t>Addition of humidity, air quality, and CO₂ sensors</a:t>
            </a:r>
            <a:r>
              <a:rPr lang="en-IN" sz="2200" dirty="0"/>
              <a:t> </a:t>
            </a:r>
          </a:p>
          <a:p>
            <a:r>
              <a:rPr lang="en-US" sz="2200" dirty="0"/>
              <a:t>• </a:t>
            </a:r>
            <a:r>
              <a:rPr lang="en-US" sz="2400" dirty="0"/>
              <a:t>Enhanced classroom comfort and environmental monitoring </a:t>
            </a:r>
          </a:p>
          <a:p>
            <a:r>
              <a:rPr lang="en-US" sz="2200" dirty="0"/>
              <a:t>• </a:t>
            </a:r>
            <a:r>
              <a:rPr lang="en-US" sz="2400" dirty="0"/>
              <a:t>Expansion to control projectors, ACs, and ventilation systems </a:t>
            </a:r>
          </a:p>
          <a:p>
            <a:r>
              <a:rPr lang="en-US" sz="2200" dirty="0"/>
              <a:t>• </a:t>
            </a:r>
            <a:r>
              <a:rPr lang="en-US" sz="2400" dirty="0"/>
              <a:t>Cloud-based data storage and energy analysis</a:t>
            </a:r>
            <a:endParaRPr lang="en-IN" sz="2200" dirty="0"/>
          </a:p>
          <a:p>
            <a:r>
              <a:rPr lang="en-US" sz="2200" dirty="0"/>
              <a:t>• </a:t>
            </a:r>
            <a:r>
              <a:rPr lang="en-IN" sz="2400" dirty="0"/>
              <a:t>Power usage monitoring for better management </a:t>
            </a:r>
          </a:p>
          <a:p>
            <a:r>
              <a:rPr lang="en-US" sz="2200" dirty="0"/>
              <a:t>• </a:t>
            </a:r>
            <a:r>
              <a:rPr lang="en-US" sz="2400" dirty="0"/>
              <a:t>Use of solid-state relays for faster and reliable switching </a:t>
            </a:r>
          </a:p>
          <a:p>
            <a:r>
              <a:rPr lang="en-US" sz="2200" dirty="0"/>
              <a:t>• </a:t>
            </a:r>
            <a:r>
              <a:rPr lang="en-US" sz="2400" dirty="0"/>
              <a:t>Improved scalability and system performance</a:t>
            </a:r>
            <a:endParaRPr lang="en-IN" sz="2200" dirty="0"/>
          </a:p>
        </p:txBody>
      </p:sp>
      <p:sp>
        <p:nvSpPr>
          <p:cNvPr id="6" name="TextBox 5">
            <a:extLst>
              <a:ext uri="{FF2B5EF4-FFF2-40B4-BE49-F238E27FC236}">
                <a16:creationId xmlns:a16="http://schemas.microsoft.com/office/drawing/2014/main" id="{260DA0B5-88F2-4273-9A4A-8200D95A9A31}"/>
              </a:ext>
            </a:extLst>
          </p:cNvPr>
          <p:cNvSpPr txBox="1"/>
          <p:nvPr/>
        </p:nvSpPr>
        <p:spPr>
          <a:xfrm>
            <a:off x="303963" y="501650"/>
            <a:ext cx="6094324" cy="646331"/>
          </a:xfrm>
          <a:prstGeom prst="rect">
            <a:avLst/>
          </a:prstGeom>
          <a:noFill/>
        </p:spPr>
        <p:txBody>
          <a:bodyPr wrap="square">
            <a:spAutoFit/>
          </a:bodyPr>
          <a:lstStyle/>
          <a:p>
            <a:r>
              <a:rPr lang="en-US" sz="3600" b="1" u="sng" dirty="0"/>
              <a:t>FUTURESCOPE</a:t>
            </a:r>
            <a:endParaRPr lang="en-IN" sz="3600" dirty="0"/>
          </a:p>
        </p:txBody>
      </p:sp>
      <p:sp>
        <p:nvSpPr>
          <p:cNvPr id="7" name="TextBox 6">
            <a:extLst>
              <a:ext uri="{FF2B5EF4-FFF2-40B4-BE49-F238E27FC236}">
                <a16:creationId xmlns:a16="http://schemas.microsoft.com/office/drawing/2014/main" id="{9C8A489B-8108-6A32-88AC-D79C4BA077B1}"/>
              </a:ext>
            </a:extLst>
          </p:cNvPr>
          <p:cNvSpPr txBox="1"/>
          <p:nvPr/>
        </p:nvSpPr>
        <p:spPr>
          <a:xfrm>
            <a:off x="11136923" y="136525"/>
            <a:ext cx="751114" cy="369332"/>
          </a:xfrm>
          <a:prstGeom prst="rect">
            <a:avLst/>
          </a:prstGeom>
          <a:noFill/>
        </p:spPr>
        <p:txBody>
          <a:bodyPr wrap="square">
            <a:spAutoFit/>
          </a:bodyPr>
          <a:lstStyle/>
          <a:p>
            <a:r>
              <a:rPr lang="en-US" b="1" dirty="0"/>
              <a:t>33</a:t>
            </a:r>
          </a:p>
        </p:txBody>
      </p:sp>
    </p:spTree>
    <p:extLst>
      <p:ext uri="{BB962C8B-B14F-4D97-AF65-F5344CB8AC3E}">
        <p14:creationId xmlns:p14="http://schemas.microsoft.com/office/powerpoint/2010/main" val="14524568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49F0B5D-60A7-EBDC-5DB0-AEAB50BACD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183395" y="-325646"/>
            <a:ext cx="2373102" cy="4384483"/>
          </a:xfrm>
          <a:prstGeom prst="rect">
            <a:avLst/>
          </a:prstGeom>
        </p:spPr>
      </p:pic>
      <p:pic>
        <p:nvPicPr>
          <p:cNvPr id="11" name="Picture 10">
            <a:extLst>
              <a:ext uri="{FF2B5EF4-FFF2-40B4-BE49-F238E27FC236}">
                <a16:creationId xmlns:a16="http://schemas.microsoft.com/office/drawing/2014/main" id="{2CBCE628-4C88-0720-5598-FDFBC14058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1055914" y="359227"/>
            <a:ext cx="4789713" cy="6466116"/>
          </a:xfrm>
          <a:prstGeom prst="rect">
            <a:avLst/>
          </a:prstGeom>
        </p:spPr>
      </p:pic>
      <p:pic>
        <p:nvPicPr>
          <p:cNvPr id="13" name="Picture 12">
            <a:extLst>
              <a:ext uri="{FF2B5EF4-FFF2-40B4-BE49-F238E27FC236}">
                <a16:creationId xmlns:a16="http://schemas.microsoft.com/office/drawing/2014/main" id="{37B1E67E-7A4B-BFE2-DF76-8D52A8F4EE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8079816" y="2809571"/>
            <a:ext cx="2580259" cy="4384484"/>
          </a:xfrm>
          <a:prstGeom prst="rect">
            <a:avLst/>
          </a:prstGeom>
        </p:spPr>
      </p:pic>
      <p:sp>
        <p:nvSpPr>
          <p:cNvPr id="14" name="TextBox 13">
            <a:extLst>
              <a:ext uri="{FF2B5EF4-FFF2-40B4-BE49-F238E27FC236}">
                <a16:creationId xmlns:a16="http://schemas.microsoft.com/office/drawing/2014/main" id="{04A1286D-B9F5-55F6-291D-49F75F2BB35F}"/>
              </a:ext>
            </a:extLst>
          </p:cNvPr>
          <p:cNvSpPr txBox="1"/>
          <p:nvPr/>
        </p:nvSpPr>
        <p:spPr>
          <a:xfrm>
            <a:off x="629813" y="202737"/>
            <a:ext cx="2692660" cy="646331"/>
          </a:xfrm>
          <a:prstGeom prst="rect">
            <a:avLst/>
          </a:prstGeom>
          <a:noFill/>
        </p:spPr>
        <p:txBody>
          <a:bodyPr wrap="none" rtlCol="0">
            <a:spAutoFit/>
          </a:bodyPr>
          <a:lstStyle/>
          <a:p>
            <a:r>
              <a:rPr lang="en-US" sz="3600" b="1" u="sng" dirty="0"/>
              <a:t>HARDWARE</a:t>
            </a:r>
            <a:endParaRPr lang="en-IN" sz="3600" b="1" u="sng" dirty="0"/>
          </a:p>
        </p:txBody>
      </p:sp>
      <p:sp>
        <p:nvSpPr>
          <p:cNvPr id="17" name="TextBox 16">
            <a:extLst>
              <a:ext uri="{FF2B5EF4-FFF2-40B4-BE49-F238E27FC236}">
                <a16:creationId xmlns:a16="http://schemas.microsoft.com/office/drawing/2014/main" id="{6C64ED54-5F92-2588-CAFC-36AA73B3AEC7}"/>
              </a:ext>
            </a:extLst>
          </p:cNvPr>
          <p:cNvSpPr txBox="1"/>
          <p:nvPr/>
        </p:nvSpPr>
        <p:spPr>
          <a:xfrm>
            <a:off x="11208254" y="202737"/>
            <a:ext cx="791835" cy="369332"/>
          </a:xfrm>
          <a:prstGeom prst="rect">
            <a:avLst/>
          </a:prstGeom>
          <a:noFill/>
        </p:spPr>
        <p:txBody>
          <a:bodyPr wrap="square">
            <a:spAutoFit/>
          </a:bodyPr>
          <a:lstStyle/>
          <a:p>
            <a:r>
              <a:rPr lang="en-US" b="1" dirty="0"/>
              <a:t>34</a:t>
            </a:r>
            <a:endParaRPr lang="en-IN" b="1" dirty="0"/>
          </a:p>
        </p:txBody>
      </p:sp>
      <p:sp>
        <p:nvSpPr>
          <p:cNvPr id="4" name="Slide Number Placeholder 3">
            <a:extLst>
              <a:ext uri="{FF2B5EF4-FFF2-40B4-BE49-F238E27FC236}">
                <a16:creationId xmlns:a16="http://schemas.microsoft.com/office/drawing/2014/main" id="{2E6135C8-462D-FA1A-6639-6B13A05FC04E}"/>
              </a:ext>
            </a:extLst>
          </p:cNvPr>
          <p:cNvSpPr>
            <a:spLocks noGrp="1"/>
          </p:cNvSpPr>
          <p:nvPr>
            <p:ph type="sldNum" sz="quarter" idx="12"/>
          </p:nvPr>
        </p:nvSpPr>
        <p:spPr/>
        <p:txBody>
          <a:bodyPr/>
          <a:lstStyle/>
          <a:p>
            <a:fld id="{0E29D32D-1BC0-48D0-BB54-D1EE225F3EBD}" type="slidenum">
              <a:rPr lang="en-IN" smtClean="0"/>
              <a:t>37</a:t>
            </a:fld>
            <a:endParaRPr lang="en-IN"/>
          </a:p>
        </p:txBody>
      </p:sp>
    </p:spTree>
    <p:extLst>
      <p:ext uri="{BB962C8B-B14F-4D97-AF65-F5344CB8AC3E}">
        <p14:creationId xmlns:p14="http://schemas.microsoft.com/office/powerpoint/2010/main" val="116406934"/>
      </p:ext>
    </p:extLst>
  </p:cSld>
  <p:clrMapOvr>
    <a:masterClrMapping/>
  </p:clrMapOvr>
  <p:transition spd="med">
    <p:pull/>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7CCB2-2575-03A2-D492-86B56044CD46}"/>
              </a:ext>
            </a:extLst>
          </p:cNvPr>
          <p:cNvSpPr>
            <a:spLocks noGrp="1"/>
          </p:cNvSpPr>
          <p:nvPr>
            <p:ph type="ctrTitle"/>
          </p:nvPr>
        </p:nvSpPr>
        <p:spPr>
          <a:xfrm>
            <a:off x="319872" y="608521"/>
            <a:ext cx="4503174" cy="477837"/>
          </a:xfrm>
        </p:spPr>
        <p:txBody>
          <a:bodyPr>
            <a:noAutofit/>
          </a:bodyPr>
          <a:lstStyle/>
          <a:p>
            <a:pPr algn="l"/>
            <a:r>
              <a:rPr lang="en-IN" sz="3600" b="1" u="sng" dirty="0"/>
              <a:t>CONCLUSION</a:t>
            </a:r>
          </a:p>
        </p:txBody>
      </p:sp>
      <p:sp>
        <p:nvSpPr>
          <p:cNvPr id="3" name="Subtitle 2">
            <a:extLst>
              <a:ext uri="{FF2B5EF4-FFF2-40B4-BE49-F238E27FC236}">
                <a16:creationId xmlns:a16="http://schemas.microsoft.com/office/drawing/2014/main" id="{6F0F8144-D1A8-98C1-D6AA-A0E5B743D0BC}"/>
              </a:ext>
            </a:extLst>
          </p:cNvPr>
          <p:cNvSpPr>
            <a:spLocks noGrp="1"/>
          </p:cNvSpPr>
          <p:nvPr>
            <p:ph type="subTitle" idx="1"/>
          </p:nvPr>
        </p:nvSpPr>
        <p:spPr>
          <a:xfrm>
            <a:off x="379325" y="1233436"/>
            <a:ext cx="10974475" cy="3603173"/>
          </a:xfrm>
        </p:spPr>
        <p:txBody>
          <a:bodyPr>
            <a:normAutofit/>
          </a:bodyPr>
          <a:lstStyle/>
          <a:p>
            <a:pPr algn="just">
              <a:lnSpc>
                <a:spcPct val="100000"/>
              </a:lnSpc>
            </a:pPr>
            <a:r>
              <a:rPr lang="en-US" dirty="0"/>
              <a:t>The Smart Classroom Energy Management System successfully demonstrated automatic control of classroom lights and fan based on </a:t>
            </a:r>
            <a:r>
              <a:rPr lang="en-US" dirty="0" err="1"/>
              <a:t>occupancy,temperature</a:t>
            </a:r>
            <a:r>
              <a:rPr lang="en-US" dirty="0"/>
              <a:t>, and ambient light conditions using the ESP32, thereby improving energy  efficiency and reducing unnecessary power consumption.</a:t>
            </a:r>
          </a:p>
          <a:p>
            <a:pPr algn="l"/>
            <a:endParaRPr lang="en-IN" dirty="0"/>
          </a:p>
        </p:txBody>
      </p:sp>
      <p:sp>
        <p:nvSpPr>
          <p:cNvPr id="5" name="TextBox 4">
            <a:extLst>
              <a:ext uri="{FF2B5EF4-FFF2-40B4-BE49-F238E27FC236}">
                <a16:creationId xmlns:a16="http://schemas.microsoft.com/office/drawing/2014/main" id="{25304971-B861-8BF1-D48E-218A15A8AAB7}"/>
              </a:ext>
            </a:extLst>
          </p:cNvPr>
          <p:cNvSpPr txBox="1"/>
          <p:nvPr/>
        </p:nvSpPr>
        <p:spPr>
          <a:xfrm>
            <a:off x="11190514" y="241403"/>
            <a:ext cx="511629" cy="369332"/>
          </a:xfrm>
          <a:prstGeom prst="rect">
            <a:avLst/>
          </a:prstGeom>
          <a:noFill/>
        </p:spPr>
        <p:txBody>
          <a:bodyPr wrap="square">
            <a:spAutoFit/>
          </a:bodyPr>
          <a:lstStyle/>
          <a:p>
            <a:r>
              <a:rPr lang="en-US" b="1" dirty="0"/>
              <a:t>35</a:t>
            </a:r>
            <a:endParaRPr lang="en-IN" b="1" dirty="0"/>
          </a:p>
        </p:txBody>
      </p:sp>
      <p:sp>
        <p:nvSpPr>
          <p:cNvPr id="7" name="Slide Number Placeholder 6">
            <a:extLst>
              <a:ext uri="{FF2B5EF4-FFF2-40B4-BE49-F238E27FC236}">
                <a16:creationId xmlns:a16="http://schemas.microsoft.com/office/drawing/2014/main" id="{DC034F5D-94DD-CACB-12C2-E419880C2206}"/>
              </a:ext>
            </a:extLst>
          </p:cNvPr>
          <p:cNvSpPr>
            <a:spLocks noGrp="1"/>
          </p:cNvSpPr>
          <p:nvPr>
            <p:ph type="sldNum" sz="quarter" idx="12"/>
          </p:nvPr>
        </p:nvSpPr>
        <p:spPr/>
        <p:txBody>
          <a:bodyPr/>
          <a:lstStyle/>
          <a:p>
            <a:fld id="{0E29D32D-1BC0-48D0-BB54-D1EE225F3EBD}" type="slidenum">
              <a:rPr lang="en-IN" smtClean="0"/>
              <a:t>38</a:t>
            </a:fld>
            <a:endParaRPr lang="en-IN"/>
          </a:p>
        </p:txBody>
      </p:sp>
    </p:spTree>
    <p:extLst>
      <p:ext uri="{BB962C8B-B14F-4D97-AF65-F5344CB8AC3E}">
        <p14:creationId xmlns:p14="http://schemas.microsoft.com/office/powerpoint/2010/main" val="3882215640"/>
      </p:ext>
    </p:extLst>
  </p:cSld>
  <p:clrMapOvr>
    <a:masterClrMapping/>
  </p:clrMapOvr>
  <p:transition spd="med">
    <p:pull/>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D05EFB-41AD-27C2-ADD4-9805E2557470}"/>
              </a:ext>
            </a:extLst>
          </p:cNvPr>
          <p:cNvSpPr>
            <a:spLocks noGrp="1"/>
          </p:cNvSpPr>
          <p:nvPr>
            <p:ph type="sldNum" sz="quarter" idx="12"/>
          </p:nvPr>
        </p:nvSpPr>
        <p:spPr/>
        <p:txBody>
          <a:bodyPr/>
          <a:lstStyle/>
          <a:p>
            <a:fld id="{0E29D32D-1BC0-48D0-BB54-D1EE225F3EBD}" type="slidenum">
              <a:rPr lang="en-IN" smtClean="0"/>
              <a:t>39</a:t>
            </a:fld>
            <a:endParaRPr lang="en-IN"/>
          </a:p>
        </p:txBody>
      </p:sp>
      <p:sp>
        <p:nvSpPr>
          <p:cNvPr id="3" name="TextBox 2">
            <a:extLst>
              <a:ext uri="{FF2B5EF4-FFF2-40B4-BE49-F238E27FC236}">
                <a16:creationId xmlns:a16="http://schemas.microsoft.com/office/drawing/2014/main" id="{B6B01034-9015-5704-F788-6B264505BA5A}"/>
              </a:ext>
            </a:extLst>
          </p:cNvPr>
          <p:cNvSpPr txBox="1"/>
          <p:nvPr/>
        </p:nvSpPr>
        <p:spPr>
          <a:xfrm>
            <a:off x="301450" y="221064"/>
            <a:ext cx="1384674" cy="646331"/>
          </a:xfrm>
          <a:prstGeom prst="rect">
            <a:avLst/>
          </a:prstGeom>
          <a:noFill/>
        </p:spPr>
        <p:txBody>
          <a:bodyPr wrap="none" rtlCol="0">
            <a:spAutoFit/>
          </a:bodyPr>
          <a:lstStyle/>
          <a:p>
            <a:r>
              <a:rPr lang="en-US" sz="3600" b="1" u="sng" dirty="0">
                <a:latin typeface="+mj-lt"/>
              </a:rPr>
              <a:t>CODE</a:t>
            </a:r>
            <a:endParaRPr lang="en-IN" sz="3600" b="1" u="sng" dirty="0">
              <a:latin typeface="+mj-lt"/>
            </a:endParaRPr>
          </a:p>
        </p:txBody>
      </p:sp>
      <p:sp>
        <p:nvSpPr>
          <p:cNvPr id="9" name="TextBox 8">
            <a:extLst>
              <a:ext uri="{FF2B5EF4-FFF2-40B4-BE49-F238E27FC236}">
                <a16:creationId xmlns:a16="http://schemas.microsoft.com/office/drawing/2014/main" id="{28D323C6-8DC5-86E0-9989-F0677F51F1E0}"/>
              </a:ext>
            </a:extLst>
          </p:cNvPr>
          <p:cNvSpPr txBox="1"/>
          <p:nvPr/>
        </p:nvSpPr>
        <p:spPr>
          <a:xfrm>
            <a:off x="301450" y="1038217"/>
            <a:ext cx="8460713" cy="5632311"/>
          </a:xfrm>
          <a:prstGeom prst="rect">
            <a:avLst/>
          </a:prstGeom>
          <a:noFill/>
        </p:spPr>
        <p:txBody>
          <a:bodyPr wrap="square">
            <a:spAutoFit/>
          </a:bodyPr>
          <a:lstStyle/>
          <a:p>
            <a:r>
              <a:rPr lang="en-IN" dirty="0"/>
              <a:t>#include &lt;</a:t>
            </a:r>
            <a:r>
              <a:rPr lang="en-IN" dirty="0" err="1"/>
              <a:t>Wire.h</a:t>
            </a:r>
            <a:r>
              <a:rPr lang="en-IN" dirty="0"/>
              <a:t>&gt;</a:t>
            </a:r>
          </a:p>
          <a:p>
            <a:r>
              <a:rPr lang="en-IN" dirty="0"/>
              <a:t>#include &lt;</a:t>
            </a:r>
            <a:r>
              <a:rPr lang="en-IN" dirty="0" err="1"/>
              <a:t>Adafruit_GFX.h</a:t>
            </a:r>
            <a:r>
              <a:rPr lang="en-IN" dirty="0"/>
              <a:t>&gt;</a:t>
            </a:r>
          </a:p>
          <a:p>
            <a:r>
              <a:rPr lang="en-IN" dirty="0"/>
              <a:t>#include &lt;Adafruit_SSD1306.h&gt;</a:t>
            </a:r>
          </a:p>
          <a:p>
            <a:endParaRPr lang="en-IN" dirty="0"/>
          </a:p>
          <a:p>
            <a:r>
              <a:rPr lang="en-IN" dirty="0"/>
              <a:t>// -------- PIN DEFINITIONS --------</a:t>
            </a:r>
          </a:p>
          <a:p>
            <a:r>
              <a:rPr lang="en-IN" dirty="0"/>
              <a:t>#define PIR_PIN 14</a:t>
            </a:r>
          </a:p>
          <a:p>
            <a:r>
              <a:rPr lang="en-IN" dirty="0"/>
              <a:t>#define LDR_PIN 34</a:t>
            </a:r>
          </a:p>
          <a:p>
            <a:r>
              <a:rPr lang="en-IN" dirty="0"/>
              <a:t>#define LM35_PIN 32</a:t>
            </a:r>
          </a:p>
          <a:p>
            <a:endParaRPr lang="en-IN" dirty="0"/>
          </a:p>
          <a:p>
            <a:r>
              <a:rPr lang="en-IN" dirty="0"/>
              <a:t>#define RELAY_FAN 26</a:t>
            </a:r>
          </a:p>
          <a:p>
            <a:r>
              <a:rPr lang="en-IN" dirty="0"/>
              <a:t>#define RELAY_LIGHT 25</a:t>
            </a:r>
          </a:p>
          <a:p>
            <a:endParaRPr lang="en-IN" dirty="0"/>
          </a:p>
          <a:p>
            <a:r>
              <a:rPr lang="en-IN" dirty="0"/>
              <a:t>#define FAN_SWITCH 33</a:t>
            </a:r>
          </a:p>
          <a:p>
            <a:r>
              <a:rPr lang="en-IN" dirty="0"/>
              <a:t>#define LIGHT_SWITCH 27</a:t>
            </a:r>
          </a:p>
          <a:p>
            <a:endParaRPr lang="en-IN" dirty="0"/>
          </a:p>
          <a:p>
            <a:r>
              <a:rPr lang="en-IN" dirty="0"/>
              <a:t>// -------- OLED --------</a:t>
            </a:r>
          </a:p>
          <a:p>
            <a:r>
              <a:rPr lang="en-IN" dirty="0"/>
              <a:t>#define SCREEN_WIDTH 128</a:t>
            </a:r>
          </a:p>
          <a:p>
            <a:r>
              <a:rPr lang="en-IN" dirty="0"/>
              <a:t>#define SCREEN_HEIGHT 64</a:t>
            </a:r>
          </a:p>
          <a:p>
            <a:r>
              <a:rPr lang="en-IN" dirty="0"/>
              <a:t>Adafruit_SSD1306 display(SCREEN_WIDTH, SCREEN_HEIGHT, &amp;Wire, -1);</a:t>
            </a:r>
          </a:p>
          <a:p>
            <a:endParaRPr lang="en-IN" dirty="0"/>
          </a:p>
        </p:txBody>
      </p:sp>
      <p:sp>
        <p:nvSpPr>
          <p:cNvPr id="14" name="TextBox 13">
            <a:extLst>
              <a:ext uri="{FF2B5EF4-FFF2-40B4-BE49-F238E27FC236}">
                <a16:creationId xmlns:a16="http://schemas.microsoft.com/office/drawing/2014/main" id="{23C0C140-D8D5-27C4-2636-65744FDFE356}"/>
              </a:ext>
            </a:extLst>
          </p:cNvPr>
          <p:cNvSpPr txBox="1"/>
          <p:nvPr/>
        </p:nvSpPr>
        <p:spPr>
          <a:xfrm>
            <a:off x="11208254" y="202737"/>
            <a:ext cx="791835" cy="369332"/>
          </a:xfrm>
          <a:prstGeom prst="rect">
            <a:avLst/>
          </a:prstGeom>
          <a:noFill/>
        </p:spPr>
        <p:txBody>
          <a:bodyPr wrap="square">
            <a:spAutoFit/>
          </a:bodyPr>
          <a:lstStyle/>
          <a:p>
            <a:r>
              <a:rPr lang="en-US" b="1" dirty="0"/>
              <a:t>36</a:t>
            </a:r>
            <a:endParaRPr lang="en-IN" b="1" dirty="0"/>
          </a:p>
        </p:txBody>
      </p:sp>
    </p:spTree>
    <p:extLst>
      <p:ext uri="{BB962C8B-B14F-4D97-AF65-F5344CB8AC3E}">
        <p14:creationId xmlns:p14="http://schemas.microsoft.com/office/powerpoint/2010/main" val="36218233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6F3AA0-8313-C1EA-7D0F-1208C9BF6D3D}"/>
              </a:ext>
            </a:extLst>
          </p:cNvPr>
          <p:cNvSpPr>
            <a:spLocks noGrp="1"/>
          </p:cNvSpPr>
          <p:nvPr>
            <p:ph type="sldNum" sz="quarter" idx="12"/>
          </p:nvPr>
        </p:nvSpPr>
        <p:spPr/>
        <p:txBody>
          <a:bodyPr/>
          <a:lstStyle/>
          <a:p>
            <a:fld id="{0E29D32D-1BC0-48D0-BB54-D1EE225F3EBD}" type="slidenum">
              <a:rPr lang="en-IN" smtClean="0"/>
              <a:t>40</a:t>
            </a:fld>
            <a:endParaRPr lang="en-IN"/>
          </a:p>
        </p:txBody>
      </p:sp>
      <p:sp>
        <p:nvSpPr>
          <p:cNvPr id="6" name="TextBox 5">
            <a:extLst>
              <a:ext uri="{FF2B5EF4-FFF2-40B4-BE49-F238E27FC236}">
                <a16:creationId xmlns:a16="http://schemas.microsoft.com/office/drawing/2014/main" id="{67011FC6-D0C5-93E3-6387-1E77FA5CE77E}"/>
              </a:ext>
            </a:extLst>
          </p:cNvPr>
          <p:cNvSpPr txBox="1"/>
          <p:nvPr/>
        </p:nvSpPr>
        <p:spPr>
          <a:xfrm>
            <a:off x="364252" y="604001"/>
            <a:ext cx="7533751" cy="5355312"/>
          </a:xfrm>
          <a:prstGeom prst="rect">
            <a:avLst/>
          </a:prstGeom>
          <a:noFill/>
        </p:spPr>
        <p:txBody>
          <a:bodyPr wrap="square">
            <a:spAutoFit/>
          </a:bodyPr>
          <a:lstStyle/>
          <a:p>
            <a:r>
              <a:rPr lang="en-IN" dirty="0"/>
              <a:t>// -------- TIMING --------</a:t>
            </a:r>
          </a:p>
          <a:p>
            <a:r>
              <a:rPr lang="en-IN" dirty="0"/>
              <a:t>unsigned long </a:t>
            </a:r>
            <a:r>
              <a:rPr lang="en-IN" dirty="0" err="1"/>
              <a:t>lastUpdate</a:t>
            </a:r>
            <a:r>
              <a:rPr lang="en-IN" dirty="0"/>
              <a:t> = 0;</a:t>
            </a:r>
          </a:p>
          <a:p>
            <a:r>
              <a:rPr lang="en-IN" dirty="0" err="1"/>
              <a:t>const</a:t>
            </a:r>
            <a:r>
              <a:rPr lang="en-IN" dirty="0"/>
              <a:t> int interval = 200;</a:t>
            </a:r>
          </a:p>
          <a:p>
            <a:endParaRPr lang="en-IN" dirty="0"/>
          </a:p>
          <a:p>
            <a:r>
              <a:rPr lang="en-IN" dirty="0"/>
              <a:t>// -------- MOTION FILTER --------</a:t>
            </a:r>
          </a:p>
          <a:p>
            <a:r>
              <a:rPr lang="en-IN" dirty="0"/>
              <a:t>bool </a:t>
            </a:r>
            <a:r>
              <a:rPr lang="en-IN" dirty="0" err="1"/>
              <a:t>motionState</a:t>
            </a:r>
            <a:r>
              <a:rPr lang="en-IN" dirty="0"/>
              <a:t> = false;</a:t>
            </a:r>
          </a:p>
          <a:p>
            <a:r>
              <a:rPr lang="en-IN" dirty="0"/>
              <a:t>unsigned long </a:t>
            </a:r>
            <a:r>
              <a:rPr lang="en-IN" dirty="0" err="1"/>
              <a:t>lastMotionTime</a:t>
            </a:r>
            <a:r>
              <a:rPr lang="en-IN" dirty="0"/>
              <a:t> = 0;</a:t>
            </a:r>
          </a:p>
          <a:p>
            <a:r>
              <a:rPr lang="en-IN" dirty="0"/>
              <a:t>unsigned long </a:t>
            </a:r>
            <a:r>
              <a:rPr lang="en-IN" dirty="0" err="1"/>
              <a:t>lastHighTime</a:t>
            </a:r>
            <a:r>
              <a:rPr lang="en-IN" dirty="0"/>
              <a:t> = 0;</a:t>
            </a:r>
          </a:p>
          <a:p>
            <a:endParaRPr lang="en-IN" dirty="0"/>
          </a:p>
          <a:p>
            <a:r>
              <a:rPr lang="en-IN" dirty="0" err="1"/>
              <a:t>const</a:t>
            </a:r>
            <a:r>
              <a:rPr lang="en-IN" dirty="0"/>
              <a:t> unsigned long </a:t>
            </a:r>
            <a:r>
              <a:rPr lang="en-IN" dirty="0" err="1"/>
              <a:t>motionHoldTime</a:t>
            </a:r>
            <a:r>
              <a:rPr lang="en-IN" dirty="0"/>
              <a:t> = 5000;</a:t>
            </a:r>
          </a:p>
          <a:p>
            <a:r>
              <a:rPr lang="en-IN" dirty="0" err="1"/>
              <a:t>const</a:t>
            </a:r>
            <a:r>
              <a:rPr lang="en-IN" dirty="0"/>
              <a:t> unsigned long </a:t>
            </a:r>
            <a:r>
              <a:rPr lang="en-IN" dirty="0" err="1"/>
              <a:t>lowConfirmTime</a:t>
            </a:r>
            <a:r>
              <a:rPr lang="en-IN" dirty="0"/>
              <a:t> = 500;</a:t>
            </a:r>
          </a:p>
          <a:p>
            <a:endParaRPr lang="en-IN" dirty="0"/>
          </a:p>
          <a:p>
            <a:r>
              <a:rPr lang="en-IN" dirty="0"/>
              <a:t>// -------- MODES --------</a:t>
            </a:r>
          </a:p>
          <a:p>
            <a:r>
              <a:rPr lang="en-IN" dirty="0"/>
              <a:t>int </a:t>
            </a:r>
            <a:r>
              <a:rPr lang="en-IN" dirty="0" err="1"/>
              <a:t>fanMode</a:t>
            </a:r>
            <a:r>
              <a:rPr lang="en-IN" dirty="0"/>
              <a:t> = 0;   // 0=AUTO, 1=ON, 2=OFF</a:t>
            </a:r>
          </a:p>
          <a:p>
            <a:r>
              <a:rPr lang="en-IN" dirty="0"/>
              <a:t>int </a:t>
            </a:r>
            <a:r>
              <a:rPr lang="en-IN" dirty="0" err="1"/>
              <a:t>lightMode</a:t>
            </a:r>
            <a:r>
              <a:rPr lang="en-IN" dirty="0"/>
              <a:t> = 0; // 0=AUTO, 1=ON, 2=OFF</a:t>
            </a:r>
          </a:p>
          <a:p>
            <a:br>
              <a:rPr lang="en-IN" dirty="0"/>
            </a:br>
            <a:endParaRPr lang="en-IN" dirty="0"/>
          </a:p>
          <a:p>
            <a:r>
              <a:rPr lang="en-IN" dirty="0"/>
              <a:t>bool </a:t>
            </a:r>
            <a:r>
              <a:rPr lang="en-IN" dirty="0" err="1"/>
              <a:t>lastFanSwitch</a:t>
            </a:r>
            <a:r>
              <a:rPr lang="en-IN" dirty="0"/>
              <a:t> = HIGH;</a:t>
            </a:r>
          </a:p>
          <a:p>
            <a:r>
              <a:rPr lang="en-IN" dirty="0"/>
              <a:t>bool </a:t>
            </a:r>
            <a:r>
              <a:rPr lang="en-IN" dirty="0" err="1"/>
              <a:t>lastLightSwitch</a:t>
            </a:r>
            <a:r>
              <a:rPr lang="en-IN" dirty="0"/>
              <a:t> = HIGH;</a:t>
            </a:r>
          </a:p>
        </p:txBody>
      </p:sp>
      <p:sp>
        <p:nvSpPr>
          <p:cNvPr id="7" name="TextBox 6">
            <a:extLst>
              <a:ext uri="{FF2B5EF4-FFF2-40B4-BE49-F238E27FC236}">
                <a16:creationId xmlns:a16="http://schemas.microsoft.com/office/drawing/2014/main" id="{F8A412EF-B943-8C40-AF26-560978D0A9FC}"/>
              </a:ext>
            </a:extLst>
          </p:cNvPr>
          <p:cNvSpPr txBox="1"/>
          <p:nvPr/>
        </p:nvSpPr>
        <p:spPr>
          <a:xfrm>
            <a:off x="11208254" y="202737"/>
            <a:ext cx="791835" cy="369332"/>
          </a:xfrm>
          <a:prstGeom prst="rect">
            <a:avLst/>
          </a:prstGeom>
          <a:noFill/>
        </p:spPr>
        <p:txBody>
          <a:bodyPr wrap="square">
            <a:spAutoFit/>
          </a:bodyPr>
          <a:lstStyle/>
          <a:p>
            <a:r>
              <a:rPr lang="en-US" b="1" dirty="0"/>
              <a:t>37</a:t>
            </a:r>
            <a:endParaRPr lang="en-IN" b="1" dirty="0"/>
          </a:p>
        </p:txBody>
      </p:sp>
    </p:spTree>
    <p:extLst>
      <p:ext uri="{BB962C8B-B14F-4D97-AF65-F5344CB8AC3E}">
        <p14:creationId xmlns:p14="http://schemas.microsoft.com/office/powerpoint/2010/main" val="30091145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6C9E8D-0B9D-9839-E5FB-24CFD9F7FE74}"/>
              </a:ext>
            </a:extLst>
          </p:cNvPr>
          <p:cNvSpPr>
            <a:spLocks noGrp="1"/>
          </p:cNvSpPr>
          <p:nvPr>
            <p:ph type="sldNum" sz="quarter" idx="12"/>
          </p:nvPr>
        </p:nvSpPr>
        <p:spPr/>
        <p:txBody>
          <a:bodyPr/>
          <a:lstStyle/>
          <a:p>
            <a:fld id="{0E29D32D-1BC0-48D0-BB54-D1EE225F3EBD}" type="slidenum">
              <a:rPr lang="en-IN" smtClean="0"/>
              <a:t>41</a:t>
            </a:fld>
            <a:endParaRPr lang="en-IN"/>
          </a:p>
        </p:txBody>
      </p:sp>
      <p:sp>
        <p:nvSpPr>
          <p:cNvPr id="4" name="TextBox 3">
            <a:extLst>
              <a:ext uri="{FF2B5EF4-FFF2-40B4-BE49-F238E27FC236}">
                <a16:creationId xmlns:a16="http://schemas.microsoft.com/office/drawing/2014/main" id="{2A09C5A2-3587-23B4-E060-C5AA62C1F719}"/>
              </a:ext>
            </a:extLst>
          </p:cNvPr>
          <p:cNvSpPr txBox="1"/>
          <p:nvPr/>
        </p:nvSpPr>
        <p:spPr>
          <a:xfrm>
            <a:off x="374300" y="487379"/>
            <a:ext cx="9694147" cy="6574685"/>
          </a:xfrm>
          <a:prstGeom prst="rect">
            <a:avLst/>
          </a:prstGeom>
          <a:noFill/>
        </p:spPr>
        <p:txBody>
          <a:bodyPr wrap="square">
            <a:spAutoFit/>
          </a:bodyPr>
          <a:lstStyle/>
          <a:p>
            <a:pPr>
              <a:lnSpc>
                <a:spcPts val="1425"/>
              </a:lnSpc>
              <a:buNone/>
            </a:pPr>
            <a:r>
              <a:rPr lang="en-IN" b="0" dirty="0">
                <a:effectLst/>
              </a:rPr>
              <a:t>// -------- SETUP --------</a:t>
            </a:r>
          </a:p>
          <a:p>
            <a:pPr>
              <a:lnSpc>
                <a:spcPts val="1425"/>
              </a:lnSpc>
              <a:buNone/>
            </a:pPr>
            <a:r>
              <a:rPr lang="en-IN" b="0" dirty="0">
                <a:effectLst/>
              </a:rPr>
              <a:t>void setup() {</a:t>
            </a:r>
          </a:p>
          <a:p>
            <a:pPr>
              <a:lnSpc>
                <a:spcPts val="1425"/>
              </a:lnSpc>
              <a:buNone/>
            </a:pPr>
            <a:endParaRPr lang="en-IN" b="0" dirty="0">
              <a:effectLst/>
            </a:endParaRPr>
          </a:p>
          <a:p>
            <a:pPr>
              <a:lnSpc>
                <a:spcPts val="1425"/>
              </a:lnSpc>
              <a:buNone/>
            </a:pPr>
            <a:r>
              <a:rPr lang="en-IN" b="0" dirty="0">
                <a:effectLst/>
              </a:rPr>
              <a:t>  </a:t>
            </a:r>
            <a:r>
              <a:rPr lang="en-IN" b="0" dirty="0" err="1">
                <a:effectLst/>
              </a:rPr>
              <a:t>Serial.begin</a:t>
            </a:r>
            <a:r>
              <a:rPr lang="en-IN" b="0" dirty="0">
                <a:effectLst/>
              </a:rPr>
              <a:t>(115200);</a:t>
            </a:r>
          </a:p>
          <a:p>
            <a:pPr>
              <a:lnSpc>
                <a:spcPts val="1425"/>
              </a:lnSpc>
              <a:buNone/>
            </a:pPr>
            <a:r>
              <a:rPr lang="en-IN" b="0" dirty="0">
                <a:effectLst/>
              </a:rPr>
              <a:t>  </a:t>
            </a:r>
            <a:r>
              <a:rPr lang="en-IN" b="0" dirty="0" err="1">
                <a:effectLst/>
              </a:rPr>
              <a:t>pinMode</a:t>
            </a:r>
            <a:r>
              <a:rPr lang="en-IN" b="0" dirty="0">
                <a:effectLst/>
              </a:rPr>
              <a:t>(PIR_PIN, INPUT);</a:t>
            </a:r>
          </a:p>
          <a:p>
            <a:pPr>
              <a:lnSpc>
                <a:spcPts val="1425"/>
              </a:lnSpc>
              <a:buNone/>
            </a:pPr>
            <a:r>
              <a:rPr lang="en-IN" b="0" dirty="0">
                <a:effectLst/>
              </a:rPr>
              <a:t>  </a:t>
            </a:r>
            <a:r>
              <a:rPr lang="en-IN" b="0" dirty="0" err="1">
                <a:effectLst/>
              </a:rPr>
              <a:t>pinMode</a:t>
            </a:r>
            <a:r>
              <a:rPr lang="en-IN" b="0" dirty="0">
                <a:effectLst/>
              </a:rPr>
              <a:t>(LDR_PIN, INPUT);</a:t>
            </a:r>
          </a:p>
          <a:p>
            <a:pPr>
              <a:lnSpc>
                <a:spcPts val="1425"/>
              </a:lnSpc>
              <a:buNone/>
            </a:pPr>
            <a:r>
              <a:rPr lang="en-IN" b="0" dirty="0">
                <a:effectLst/>
              </a:rPr>
              <a:t>  </a:t>
            </a:r>
            <a:r>
              <a:rPr lang="en-IN" b="0" dirty="0" err="1">
                <a:effectLst/>
              </a:rPr>
              <a:t>pinMode</a:t>
            </a:r>
            <a:r>
              <a:rPr lang="en-IN" b="0" dirty="0">
                <a:effectLst/>
              </a:rPr>
              <a:t>(LM35_PIN, INPUT);</a:t>
            </a:r>
          </a:p>
          <a:p>
            <a:pPr>
              <a:lnSpc>
                <a:spcPts val="1425"/>
              </a:lnSpc>
              <a:buNone/>
            </a:pPr>
            <a:r>
              <a:rPr lang="en-IN" b="0" dirty="0">
                <a:effectLst/>
              </a:rPr>
              <a:t>  </a:t>
            </a:r>
            <a:r>
              <a:rPr lang="en-IN" b="0" dirty="0" err="1">
                <a:effectLst/>
              </a:rPr>
              <a:t>pinMode</a:t>
            </a:r>
            <a:r>
              <a:rPr lang="en-IN" b="0" dirty="0">
                <a:effectLst/>
              </a:rPr>
              <a:t>(RELAY_FAN, OUTPUT);</a:t>
            </a:r>
          </a:p>
          <a:p>
            <a:pPr>
              <a:lnSpc>
                <a:spcPts val="1425"/>
              </a:lnSpc>
              <a:buNone/>
            </a:pPr>
            <a:r>
              <a:rPr lang="en-IN" b="0" dirty="0">
                <a:effectLst/>
              </a:rPr>
              <a:t>  </a:t>
            </a:r>
            <a:r>
              <a:rPr lang="en-IN" b="0" dirty="0" err="1">
                <a:effectLst/>
              </a:rPr>
              <a:t>pinMode</a:t>
            </a:r>
            <a:r>
              <a:rPr lang="en-IN" b="0" dirty="0">
                <a:effectLst/>
              </a:rPr>
              <a:t>(RELAY_LIGHT, OUTPUT);</a:t>
            </a:r>
          </a:p>
          <a:p>
            <a:pPr>
              <a:lnSpc>
                <a:spcPts val="1425"/>
              </a:lnSpc>
              <a:buNone/>
            </a:pPr>
            <a:r>
              <a:rPr lang="en-IN" b="0" dirty="0">
                <a:effectLst/>
              </a:rPr>
              <a:t>  </a:t>
            </a:r>
            <a:r>
              <a:rPr lang="en-IN" b="0" dirty="0" err="1">
                <a:effectLst/>
              </a:rPr>
              <a:t>pinMode</a:t>
            </a:r>
            <a:r>
              <a:rPr lang="en-IN" b="0" dirty="0">
                <a:effectLst/>
              </a:rPr>
              <a:t>(FAN_SWITCH, INPUT_PULLUP);</a:t>
            </a:r>
          </a:p>
          <a:p>
            <a:pPr>
              <a:lnSpc>
                <a:spcPts val="1425"/>
              </a:lnSpc>
              <a:buNone/>
            </a:pPr>
            <a:r>
              <a:rPr lang="en-IN" b="0" dirty="0">
                <a:effectLst/>
              </a:rPr>
              <a:t>  </a:t>
            </a:r>
            <a:r>
              <a:rPr lang="en-IN" b="0" dirty="0" err="1">
                <a:effectLst/>
              </a:rPr>
              <a:t>pinMode</a:t>
            </a:r>
            <a:r>
              <a:rPr lang="en-IN" b="0" dirty="0">
                <a:effectLst/>
              </a:rPr>
              <a:t>(LIGHT_SWITCH, INPUT_PULLUP);</a:t>
            </a:r>
          </a:p>
          <a:p>
            <a:pPr>
              <a:lnSpc>
                <a:spcPts val="1425"/>
              </a:lnSpc>
              <a:buNone/>
            </a:pPr>
            <a:r>
              <a:rPr lang="en-IN" b="0" dirty="0">
                <a:effectLst/>
              </a:rPr>
              <a:t>  </a:t>
            </a:r>
            <a:r>
              <a:rPr lang="en-IN" b="0" dirty="0" err="1">
                <a:effectLst/>
              </a:rPr>
              <a:t>digitalWrite</a:t>
            </a:r>
            <a:r>
              <a:rPr lang="en-IN" b="0" dirty="0">
                <a:effectLst/>
              </a:rPr>
              <a:t>(RELAY_FAN, HIGH);</a:t>
            </a:r>
          </a:p>
          <a:p>
            <a:pPr>
              <a:lnSpc>
                <a:spcPts val="1425"/>
              </a:lnSpc>
              <a:buNone/>
            </a:pPr>
            <a:r>
              <a:rPr lang="en-IN" b="0" dirty="0">
                <a:effectLst/>
              </a:rPr>
              <a:t>  </a:t>
            </a:r>
            <a:r>
              <a:rPr lang="en-IN" b="0" dirty="0" err="1">
                <a:effectLst/>
              </a:rPr>
              <a:t>digitalWrite</a:t>
            </a:r>
            <a:r>
              <a:rPr lang="en-IN" b="0" dirty="0">
                <a:effectLst/>
              </a:rPr>
              <a:t>(RELAY_LIGHT, HIGH);</a:t>
            </a:r>
          </a:p>
          <a:p>
            <a:pPr>
              <a:lnSpc>
                <a:spcPts val="1425"/>
              </a:lnSpc>
              <a:buNone/>
            </a:pPr>
            <a:r>
              <a:rPr lang="en-IN" b="0" dirty="0">
                <a:effectLst/>
              </a:rPr>
              <a:t>  </a:t>
            </a:r>
          </a:p>
          <a:p>
            <a:pPr>
              <a:lnSpc>
                <a:spcPts val="1425"/>
              </a:lnSpc>
              <a:buNone/>
            </a:pPr>
            <a:r>
              <a:rPr lang="en-IN" b="0" dirty="0">
                <a:effectLst/>
              </a:rPr>
              <a:t>delay(3000);</a:t>
            </a:r>
          </a:p>
          <a:p>
            <a:pPr>
              <a:lnSpc>
                <a:spcPts val="1425"/>
              </a:lnSpc>
              <a:buNone/>
            </a:pPr>
            <a:endParaRPr lang="en-IN" b="0" dirty="0">
              <a:effectLst/>
            </a:endParaRPr>
          </a:p>
          <a:p>
            <a:pPr>
              <a:lnSpc>
                <a:spcPts val="1425"/>
              </a:lnSpc>
              <a:buNone/>
            </a:pPr>
            <a:r>
              <a:rPr lang="en-IN" b="0" dirty="0">
                <a:effectLst/>
              </a:rPr>
              <a:t>  </a:t>
            </a:r>
            <a:r>
              <a:rPr lang="en-IN" b="0" dirty="0" err="1">
                <a:effectLst/>
              </a:rPr>
              <a:t>Wire.begin</a:t>
            </a:r>
            <a:r>
              <a:rPr lang="en-IN" b="0" dirty="0">
                <a:effectLst/>
              </a:rPr>
              <a:t>(21, 22);</a:t>
            </a:r>
          </a:p>
          <a:p>
            <a:pPr>
              <a:lnSpc>
                <a:spcPts val="1425"/>
              </a:lnSpc>
              <a:buNone/>
            </a:pPr>
            <a:endParaRPr lang="en-IN" b="0" dirty="0">
              <a:effectLst/>
            </a:endParaRPr>
          </a:p>
          <a:p>
            <a:pPr>
              <a:lnSpc>
                <a:spcPts val="1425"/>
              </a:lnSpc>
              <a:buNone/>
            </a:pPr>
            <a:r>
              <a:rPr lang="en-IN" b="0" dirty="0">
                <a:effectLst/>
              </a:rPr>
              <a:t>  if (!</a:t>
            </a:r>
            <a:r>
              <a:rPr lang="en-IN" b="0" dirty="0" err="1">
                <a:effectLst/>
              </a:rPr>
              <a:t>display.begin</a:t>
            </a:r>
            <a:r>
              <a:rPr lang="en-IN" b="0" dirty="0">
                <a:effectLst/>
              </a:rPr>
              <a:t>(SSD1306_SWITCHCAPVCC, 0x3C)) {</a:t>
            </a:r>
          </a:p>
          <a:p>
            <a:pPr>
              <a:lnSpc>
                <a:spcPts val="1425"/>
              </a:lnSpc>
              <a:buNone/>
            </a:pPr>
            <a:r>
              <a:rPr lang="en-IN" b="0" dirty="0">
                <a:effectLst/>
              </a:rPr>
              <a:t>    while (true);</a:t>
            </a:r>
          </a:p>
          <a:p>
            <a:pPr>
              <a:lnSpc>
                <a:spcPts val="1425"/>
              </a:lnSpc>
              <a:buNone/>
            </a:pPr>
            <a:r>
              <a:rPr lang="en-IN" b="0" dirty="0">
                <a:effectLst/>
              </a:rPr>
              <a:t>  }</a:t>
            </a:r>
          </a:p>
          <a:p>
            <a:pPr>
              <a:lnSpc>
                <a:spcPts val="1425"/>
              </a:lnSpc>
              <a:buNone/>
            </a:pPr>
            <a:endParaRPr lang="en-IN" b="0" dirty="0">
              <a:effectLst/>
            </a:endParaRPr>
          </a:p>
          <a:p>
            <a:pPr>
              <a:lnSpc>
                <a:spcPts val="1425"/>
              </a:lnSpc>
              <a:buNone/>
            </a:pPr>
            <a:r>
              <a:rPr lang="en-IN" b="0" dirty="0">
                <a:effectLst/>
              </a:rPr>
              <a:t>  </a:t>
            </a:r>
            <a:r>
              <a:rPr lang="en-IN" b="0" dirty="0" err="1">
                <a:effectLst/>
              </a:rPr>
              <a:t>display.clearDisplay</a:t>
            </a:r>
            <a:r>
              <a:rPr lang="en-IN" b="0" dirty="0">
                <a:effectLst/>
              </a:rPr>
              <a:t>();</a:t>
            </a:r>
          </a:p>
          <a:p>
            <a:pPr>
              <a:lnSpc>
                <a:spcPts val="1425"/>
              </a:lnSpc>
              <a:buNone/>
            </a:pPr>
            <a:r>
              <a:rPr lang="en-IN" b="0" dirty="0">
                <a:effectLst/>
              </a:rPr>
              <a:t>  </a:t>
            </a:r>
            <a:r>
              <a:rPr lang="en-IN" b="0" dirty="0" err="1">
                <a:effectLst/>
              </a:rPr>
              <a:t>display.setTextSize</a:t>
            </a:r>
            <a:r>
              <a:rPr lang="en-IN" b="0" dirty="0">
                <a:effectLst/>
              </a:rPr>
              <a:t>(1);</a:t>
            </a:r>
          </a:p>
          <a:p>
            <a:pPr>
              <a:lnSpc>
                <a:spcPts val="1425"/>
              </a:lnSpc>
              <a:buNone/>
            </a:pPr>
            <a:r>
              <a:rPr lang="en-IN" b="0" dirty="0">
                <a:effectLst/>
              </a:rPr>
              <a:t>  </a:t>
            </a:r>
            <a:r>
              <a:rPr lang="en-IN" b="0" dirty="0" err="1">
                <a:effectLst/>
              </a:rPr>
              <a:t>display.setTextColor</a:t>
            </a:r>
            <a:r>
              <a:rPr lang="en-IN" b="0" dirty="0">
                <a:effectLst/>
              </a:rPr>
              <a:t>(WHITE);</a:t>
            </a:r>
          </a:p>
          <a:p>
            <a:pPr>
              <a:lnSpc>
                <a:spcPts val="1425"/>
              </a:lnSpc>
              <a:buNone/>
            </a:pPr>
            <a:r>
              <a:rPr lang="en-IN" b="0" dirty="0">
                <a:effectLst/>
              </a:rPr>
              <a:t>}</a:t>
            </a:r>
          </a:p>
          <a:p>
            <a:pPr>
              <a:lnSpc>
                <a:spcPts val="1425"/>
              </a:lnSpc>
              <a:buNone/>
            </a:pPr>
            <a:br>
              <a:rPr lang="en-IN" b="0" dirty="0">
                <a:effectLst/>
              </a:rPr>
            </a:br>
            <a:endParaRPr lang="en-IN" b="0" dirty="0">
              <a:effectLst/>
            </a:endParaRPr>
          </a:p>
          <a:p>
            <a:pPr>
              <a:lnSpc>
                <a:spcPts val="1425"/>
              </a:lnSpc>
              <a:buNone/>
            </a:pPr>
            <a:r>
              <a:rPr lang="en-IN" b="0" dirty="0">
                <a:effectLst/>
              </a:rPr>
              <a:t>// -------- LOOP --------</a:t>
            </a:r>
          </a:p>
          <a:p>
            <a:pPr>
              <a:lnSpc>
                <a:spcPts val="1425"/>
              </a:lnSpc>
              <a:buNone/>
            </a:pPr>
            <a:r>
              <a:rPr lang="en-IN" b="0" dirty="0">
                <a:effectLst/>
              </a:rPr>
              <a:t>void loop() {</a:t>
            </a:r>
          </a:p>
          <a:p>
            <a:pPr>
              <a:lnSpc>
                <a:spcPts val="1425"/>
              </a:lnSpc>
              <a:buNone/>
            </a:pPr>
            <a:br>
              <a:rPr lang="en-IN" b="0" dirty="0">
                <a:effectLst/>
              </a:rPr>
            </a:br>
            <a:endParaRPr lang="en-IN" b="0" dirty="0">
              <a:effectLst/>
            </a:endParaRPr>
          </a:p>
          <a:p>
            <a:pPr>
              <a:lnSpc>
                <a:spcPts val="1425"/>
              </a:lnSpc>
              <a:buNone/>
            </a:pPr>
            <a:r>
              <a:rPr lang="en-IN" b="0" dirty="0">
                <a:effectLst/>
              </a:rPr>
              <a:t>  if (</a:t>
            </a:r>
            <a:r>
              <a:rPr lang="en-IN" b="0" dirty="0" err="1">
                <a:effectLst/>
              </a:rPr>
              <a:t>millis</a:t>
            </a:r>
            <a:r>
              <a:rPr lang="en-IN" b="0" dirty="0">
                <a:effectLst/>
              </a:rPr>
              <a:t>() - </a:t>
            </a:r>
            <a:r>
              <a:rPr lang="en-IN" b="0" dirty="0" err="1">
                <a:effectLst/>
              </a:rPr>
              <a:t>lastUpdate</a:t>
            </a:r>
            <a:r>
              <a:rPr lang="en-IN" b="0" dirty="0">
                <a:effectLst/>
              </a:rPr>
              <a:t> &gt;= interval) {</a:t>
            </a:r>
          </a:p>
          <a:p>
            <a:pPr>
              <a:lnSpc>
                <a:spcPts val="1425"/>
              </a:lnSpc>
              <a:buNone/>
            </a:pPr>
            <a:r>
              <a:rPr lang="en-IN" b="0" dirty="0">
                <a:effectLst/>
              </a:rPr>
              <a:t>    </a:t>
            </a:r>
            <a:r>
              <a:rPr lang="en-IN" b="0" dirty="0" err="1">
                <a:effectLst/>
              </a:rPr>
              <a:t>lastUpdate</a:t>
            </a:r>
            <a:r>
              <a:rPr lang="en-IN" b="0" dirty="0">
                <a:effectLst/>
              </a:rPr>
              <a:t> = </a:t>
            </a:r>
            <a:r>
              <a:rPr lang="en-IN" b="0" dirty="0" err="1">
                <a:effectLst/>
              </a:rPr>
              <a:t>millis</a:t>
            </a:r>
            <a:r>
              <a:rPr lang="en-IN" b="0" dirty="0">
                <a:effectLst/>
              </a:rPr>
              <a:t>();</a:t>
            </a:r>
          </a:p>
          <a:p>
            <a:pPr>
              <a:lnSpc>
                <a:spcPts val="1425"/>
              </a:lnSpc>
              <a:buNone/>
            </a:pPr>
            <a:br>
              <a:rPr lang="en-IN" b="0" dirty="0">
                <a:effectLst/>
              </a:rPr>
            </a:br>
            <a:endParaRPr lang="en-IN" b="0" dirty="0">
              <a:effectLst/>
            </a:endParaRPr>
          </a:p>
        </p:txBody>
      </p:sp>
      <p:sp>
        <p:nvSpPr>
          <p:cNvPr id="5" name="TextBox 4">
            <a:extLst>
              <a:ext uri="{FF2B5EF4-FFF2-40B4-BE49-F238E27FC236}">
                <a16:creationId xmlns:a16="http://schemas.microsoft.com/office/drawing/2014/main" id="{9867D611-713F-E137-4F08-24E306B55580}"/>
              </a:ext>
            </a:extLst>
          </p:cNvPr>
          <p:cNvSpPr txBox="1"/>
          <p:nvPr/>
        </p:nvSpPr>
        <p:spPr>
          <a:xfrm>
            <a:off x="11208254" y="202737"/>
            <a:ext cx="791835" cy="369332"/>
          </a:xfrm>
          <a:prstGeom prst="rect">
            <a:avLst/>
          </a:prstGeom>
          <a:noFill/>
        </p:spPr>
        <p:txBody>
          <a:bodyPr wrap="square">
            <a:spAutoFit/>
          </a:bodyPr>
          <a:lstStyle/>
          <a:p>
            <a:r>
              <a:rPr lang="en-US" b="1" dirty="0"/>
              <a:t>38</a:t>
            </a:r>
            <a:endParaRPr lang="en-IN" b="1" dirty="0"/>
          </a:p>
        </p:txBody>
      </p:sp>
    </p:spTree>
    <p:extLst>
      <p:ext uri="{BB962C8B-B14F-4D97-AF65-F5344CB8AC3E}">
        <p14:creationId xmlns:p14="http://schemas.microsoft.com/office/powerpoint/2010/main" val="11358583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593D61-ACF0-3AC2-C6BF-4FC383564630}"/>
              </a:ext>
            </a:extLst>
          </p:cNvPr>
          <p:cNvSpPr>
            <a:spLocks noGrp="1"/>
          </p:cNvSpPr>
          <p:nvPr>
            <p:ph type="sldNum" sz="quarter" idx="12"/>
          </p:nvPr>
        </p:nvSpPr>
        <p:spPr/>
        <p:txBody>
          <a:bodyPr/>
          <a:lstStyle/>
          <a:p>
            <a:fld id="{0E29D32D-1BC0-48D0-BB54-D1EE225F3EBD}" type="slidenum">
              <a:rPr lang="en-IN" smtClean="0"/>
              <a:t>42</a:t>
            </a:fld>
            <a:endParaRPr lang="en-IN"/>
          </a:p>
        </p:txBody>
      </p:sp>
      <p:sp>
        <p:nvSpPr>
          <p:cNvPr id="4" name="TextBox 3">
            <a:extLst>
              <a:ext uri="{FF2B5EF4-FFF2-40B4-BE49-F238E27FC236}">
                <a16:creationId xmlns:a16="http://schemas.microsoft.com/office/drawing/2014/main" id="{64376CF9-E563-8CC6-3410-7B71BCBAAD83}"/>
              </a:ext>
            </a:extLst>
          </p:cNvPr>
          <p:cNvSpPr txBox="1"/>
          <p:nvPr/>
        </p:nvSpPr>
        <p:spPr>
          <a:xfrm>
            <a:off x="344157" y="590498"/>
            <a:ext cx="6094324" cy="5677003"/>
          </a:xfrm>
          <a:prstGeom prst="rect">
            <a:avLst/>
          </a:prstGeom>
          <a:noFill/>
        </p:spPr>
        <p:txBody>
          <a:bodyPr wrap="square">
            <a:spAutoFit/>
          </a:bodyPr>
          <a:lstStyle/>
          <a:p>
            <a:pPr>
              <a:lnSpc>
                <a:spcPts val="1425"/>
              </a:lnSpc>
              <a:buNone/>
            </a:pPr>
            <a:r>
              <a:rPr lang="en-IN" b="0" dirty="0">
                <a:effectLst/>
              </a:rPr>
              <a:t>// -------- SWITCH HANDLING --------</a:t>
            </a:r>
          </a:p>
          <a:p>
            <a:pPr>
              <a:lnSpc>
                <a:spcPts val="1425"/>
              </a:lnSpc>
              <a:buNone/>
            </a:pPr>
            <a:r>
              <a:rPr lang="en-IN" b="0" dirty="0">
                <a:effectLst/>
              </a:rPr>
              <a:t>    bool </a:t>
            </a:r>
            <a:r>
              <a:rPr lang="en-IN" b="0" dirty="0" err="1">
                <a:effectLst/>
              </a:rPr>
              <a:t>fanSw</a:t>
            </a:r>
            <a:r>
              <a:rPr lang="en-IN" b="0" dirty="0">
                <a:effectLst/>
              </a:rPr>
              <a:t> = </a:t>
            </a:r>
            <a:r>
              <a:rPr lang="en-IN" b="0" dirty="0" err="1">
                <a:effectLst/>
              </a:rPr>
              <a:t>digitalRead</a:t>
            </a:r>
            <a:r>
              <a:rPr lang="en-IN" b="0" dirty="0">
                <a:effectLst/>
              </a:rPr>
              <a:t>(FAN_SWITCH);</a:t>
            </a:r>
          </a:p>
          <a:p>
            <a:pPr>
              <a:lnSpc>
                <a:spcPts val="1425"/>
              </a:lnSpc>
              <a:buNone/>
            </a:pPr>
            <a:r>
              <a:rPr lang="en-IN" b="0" dirty="0">
                <a:effectLst/>
              </a:rPr>
              <a:t>    bool </a:t>
            </a:r>
            <a:r>
              <a:rPr lang="en-IN" b="0" dirty="0" err="1">
                <a:effectLst/>
              </a:rPr>
              <a:t>lightSw</a:t>
            </a:r>
            <a:r>
              <a:rPr lang="en-IN" b="0" dirty="0">
                <a:effectLst/>
              </a:rPr>
              <a:t> = </a:t>
            </a:r>
            <a:r>
              <a:rPr lang="en-IN" b="0" dirty="0" err="1">
                <a:effectLst/>
              </a:rPr>
              <a:t>digitalRead</a:t>
            </a:r>
            <a:r>
              <a:rPr lang="en-IN" b="0" dirty="0">
                <a:effectLst/>
              </a:rPr>
              <a:t>(LIGHT_SWITCH);</a:t>
            </a:r>
          </a:p>
          <a:p>
            <a:pPr>
              <a:lnSpc>
                <a:spcPts val="1425"/>
              </a:lnSpc>
              <a:buNone/>
            </a:pPr>
            <a:br>
              <a:rPr lang="en-IN" b="0" dirty="0">
                <a:effectLst/>
              </a:rPr>
            </a:br>
            <a:endParaRPr lang="en-IN" b="0" dirty="0">
              <a:effectLst/>
            </a:endParaRPr>
          </a:p>
          <a:p>
            <a:pPr>
              <a:lnSpc>
                <a:spcPts val="1425"/>
              </a:lnSpc>
              <a:buNone/>
            </a:pPr>
            <a:r>
              <a:rPr lang="en-IN" b="0" dirty="0">
                <a:effectLst/>
              </a:rPr>
              <a:t>    if (</a:t>
            </a:r>
            <a:r>
              <a:rPr lang="en-IN" b="0" dirty="0" err="1">
                <a:effectLst/>
              </a:rPr>
              <a:t>lastFanSwitch</a:t>
            </a:r>
            <a:r>
              <a:rPr lang="en-IN" b="0" dirty="0">
                <a:effectLst/>
              </a:rPr>
              <a:t> == HIGH &amp;&amp; </a:t>
            </a:r>
            <a:r>
              <a:rPr lang="en-IN" b="0" dirty="0" err="1">
                <a:effectLst/>
              </a:rPr>
              <a:t>fanSw</a:t>
            </a:r>
            <a:r>
              <a:rPr lang="en-IN" b="0" dirty="0">
                <a:effectLst/>
              </a:rPr>
              <a:t> == LOW) {</a:t>
            </a:r>
          </a:p>
          <a:p>
            <a:pPr>
              <a:lnSpc>
                <a:spcPts val="1425"/>
              </a:lnSpc>
              <a:buNone/>
            </a:pPr>
            <a:r>
              <a:rPr lang="en-IN" b="0" dirty="0">
                <a:effectLst/>
              </a:rPr>
              <a:t>      </a:t>
            </a:r>
            <a:r>
              <a:rPr lang="en-IN" b="0" dirty="0" err="1">
                <a:effectLst/>
              </a:rPr>
              <a:t>fanMode</a:t>
            </a:r>
            <a:r>
              <a:rPr lang="en-IN" b="0" dirty="0">
                <a:effectLst/>
              </a:rPr>
              <a:t>++;</a:t>
            </a:r>
          </a:p>
          <a:p>
            <a:pPr>
              <a:lnSpc>
                <a:spcPts val="1425"/>
              </a:lnSpc>
              <a:buNone/>
            </a:pPr>
            <a:r>
              <a:rPr lang="en-IN" b="0" dirty="0">
                <a:effectLst/>
              </a:rPr>
              <a:t>      if (</a:t>
            </a:r>
            <a:r>
              <a:rPr lang="en-IN" b="0" dirty="0" err="1">
                <a:effectLst/>
              </a:rPr>
              <a:t>fanMode</a:t>
            </a:r>
            <a:r>
              <a:rPr lang="en-IN" b="0" dirty="0">
                <a:effectLst/>
              </a:rPr>
              <a:t> &gt; 2) </a:t>
            </a:r>
            <a:r>
              <a:rPr lang="en-IN" b="0" dirty="0" err="1">
                <a:effectLst/>
              </a:rPr>
              <a:t>fanMode</a:t>
            </a:r>
            <a:r>
              <a:rPr lang="en-IN" b="0" dirty="0">
                <a:effectLst/>
              </a:rPr>
              <a:t> = 0;</a:t>
            </a:r>
          </a:p>
          <a:p>
            <a:pPr>
              <a:lnSpc>
                <a:spcPts val="1425"/>
              </a:lnSpc>
              <a:buNone/>
            </a:pPr>
            <a:r>
              <a:rPr lang="en-IN" b="0" dirty="0">
                <a:effectLst/>
              </a:rPr>
              <a:t>      delay(200);</a:t>
            </a:r>
          </a:p>
          <a:p>
            <a:pPr>
              <a:lnSpc>
                <a:spcPts val="1425"/>
              </a:lnSpc>
              <a:buNone/>
            </a:pPr>
            <a:r>
              <a:rPr lang="en-IN" b="0" dirty="0">
                <a:effectLst/>
              </a:rPr>
              <a:t>    }</a:t>
            </a:r>
          </a:p>
          <a:p>
            <a:pPr>
              <a:lnSpc>
                <a:spcPts val="1425"/>
              </a:lnSpc>
              <a:buNone/>
            </a:pPr>
            <a:br>
              <a:rPr lang="en-IN" b="0" dirty="0">
                <a:effectLst/>
              </a:rPr>
            </a:br>
            <a:endParaRPr lang="en-IN" b="0" dirty="0">
              <a:effectLst/>
            </a:endParaRPr>
          </a:p>
          <a:p>
            <a:pPr>
              <a:lnSpc>
                <a:spcPts val="1425"/>
              </a:lnSpc>
              <a:buNone/>
            </a:pPr>
            <a:r>
              <a:rPr lang="en-IN" b="0" dirty="0">
                <a:effectLst/>
              </a:rPr>
              <a:t>    if (</a:t>
            </a:r>
            <a:r>
              <a:rPr lang="en-IN" b="0" dirty="0" err="1">
                <a:effectLst/>
              </a:rPr>
              <a:t>lastLightSwitch</a:t>
            </a:r>
            <a:r>
              <a:rPr lang="en-IN" b="0" dirty="0">
                <a:effectLst/>
              </a:rPr>
              <a:t> == HIGH &amp;&amp; </a:t>
            </a:r>
            <a:r>
              <a:rPr lang="en-IN" b="0" dirty="0" err="1">
                <a:effectLst/>
              </a:rPr>
              <a:t>lightSw</a:t>
            </a:r>
            <a:r>
              <a:rPr lang="en-IN" b="0" dirty="0">
                <a:effectLst/>
              </a:rPr>
              <a:t> == LOW) {</a:t>
            </a:r>
          </a:p>
          <a:p>
            <a:pPr>
              <a:lnSpc>
                <a:spcPts val="1425"/>
              </a:lnSpc>
              <a:buNone/>
            </a:pPr>
            <a:r>
              <a:rPr lang="en-IN" b="0" dirty="0">
                <a:effectLst/>
              </a:rPr>
              <a:t>      </a:t>
            </a:r>
            <a:r>
              <a:rPr lang="en-IN" b="0" dirty="0" err="1">
                <a:effectLst/>
              </a:rPr>
              <a:t>lightMode</a:t>
            </a:r>
            <a:r>
              <a:rPr lang="en-IN" b="0" dirty="0">
                <a:effectLst/>
              </a:rPr>
              <a:t>++;</a:t>
            </a:r>
          </a:p>
          <a:p>
            <a:pPr>
              <a:lnSpc>
                <a:spcPts val="1425"/>
              </a:lnSpc>
              <a:buNone/>
            </a:pPr>
            <a:r>
              <a:rPr lang="en-IN" b="0" dirty="0">
                <a:effectLst/>
              </a:rPr>
              <a:t>      if (</a:t>
            </a:r>
            <a:r>
              <a:rPr lang="en-IN" b="0" dirty="0" err="1">
                <a:effectLst/>
              </a:rPr>
              <a:t>lightMode</a:t>
            </a:r>
            <a:r>
              <a:rPr lang="en-IN" b="0" dirty="0">
                <a:effectLst/>
              </a:rPr>
              <a:t> &gt; 2) </a:t>
            </a:r>
            <a:r>
              <a:rPr lang="en-IN" b="0" dirty="0" err="1">
                <a:effectLst/>
              </a:rPr>
              <a:t>lightMode</a:t>
            </a:r>
            <a:r>
              <a:rPr lang="en-IN" b="0" dirty="0">
                <a:effectLst/>
              </a:rPr>
              <a:t> = 0;</a:t>
            </a:r>
          </a:p>
          <a:p>
            <a:pPr>
              <a:lnSpc>
                <a:spcPts val="1425"/>
              </a:lnSpc>
              <a:buNone/>
            </a:pPr>
            <a:r>
              <a:rPr lang="en-IN" b="0" dirty="0">
                <a:effectLst/>
              </a:rPr>
              <a:t>      delay(200);</a:t>
            </a:r>
          </a:p>
          <a:p>
            <a:pPr>
              <a:lnSpc>
                <a:spcPts val="1425"/>
              </a:lnSpc>
              <a:buNone/>
            </a:pPr>
            <a:r>
              <a:rPr lang="en-IN" b="0" dirty="0">
                <a:effectLst/>
              </a:rPr>
              <a:t>    }</a:t>
            </a:r>
          </a:p>
          <a:p>
            <a:pPr>
              <a:lnSpc>
                <a:spcPts val="1425"/>
              </a:lnSpc>
              <a:buNone/>
            </a:pPr>
            <a:br>
              <a:rPr lang="en-IN" b="0" dirty="0">
                <a:effectLst/>
              </a:rPr>
            </a:br>
            <a:endParaRPr lang="en-IN" b="0" dirty="0">
              <a:effectLst/>
            </a:endParaRPr>
          </a:p>
          <a:p>
            <a:pPr>
              <a:lnSpc>
                <a:spcPts val="1425"/>
              </a:lnSpc>
              <a:buNone/>
            </a:pPr>
            <a:r>
              <a:rPr lang="en-IN" b="0" dirty="0">
                <a:effectLst/>
              </a:rPr>
              <a:t>    </a:t>
            </a:r>
            <a:r>
              <a:rPr lang="en-IN" b="0" dirty="0" err="1">
                <a:effectLst/>
              </a:rPr>
              <a:t>lastFanSwitch</a:t>
            </a:r>
            <a:r>
              <a:rPr lang="en-IN" b="0" dirty="0">
                <a:effectLst/>
              </a:rPr>
              <a:t> = </a:t>
            </a:r>
            <a:r>
              <a:rPr lang="en-IN" b="0" dirty="0" err="1">
                <a:effectLst/>
              </a:rPr>
              <a:t>fanSw</a:t>
            </a:r>
            <a:r>
              <a:rPr lang="en-IN" b="0" dirty="0">
                <a:effectLst/>
              </a:rPr>
              <a:t>;</a:t>
            </a:r>
          </a:p>
          <a:p>
            <a:pPr>
              <a:lnSpc>
                <a:spcPts val="1425"/>
              </a:lnSpc>
              <a:buNone/>
            </a:pPr>
            <a:r>
              <a:rPr lang="en-IN" b="0" dirty="0">
                <a:effectLst/>
              </a:rPr>
              <a:t>    </a:t>
            </a:r>
            <a:r>
              <a:rPr lang="en-IN" b="0" dirty="0" err="1">
                <a:effectLst/>
              </a:rPr>
              <a:t>lastLightSwitch</a:t>
            </a:r>
            <a:r>
              <a:rPr lang="en-IN" b="0" dirty="0">
                <a:effectLst/>
              </a:rPr>
              <a:t> = </a:t>
            </a:r>
            <a:r>
              <a:rPr lang="en-IN" b="0" dirty="0" err="1">
                <a:effectLst/>
              </a:rPr>
              <a:t>lightSw</a:t>
            </a:r>
            <a:r>
              <a:rPr lang="en-IN" b="0" dirty="0">
                <a:effectLst/>
              </a:rPr>
              <a:t>;</a:t>
            </a:r>
          </a:p>
          <a:p>
            <a:pPr>
              <a:lnSpc>
                <a:spcPts val="1425"/>
              </a:lnSpc>
              <a:buNone/>
            </a:pPr>
            <a:br>
              <a:rPr lang="en-IN" b="0" dirty="0">
                <a:effectLst/>
              </a:rPr>
            </a:br>
            <a:endParaRPr lang="en-IN" b="0" dirty="0">
              <a:effectLst/>
            </a:endParaRPr>
          </a:p>
          <a:p>
            <a:pPr>
              <a:lnSpc>
                <a:spcPts val="1425"/>
              </a:lnSpc>
              <a:buNone/>
            </a:pPr>
            <a:r>
              <a:rPr lang="en-IN" b="0" dirty="0">
                <a:effectLst/>
              </a:rPr>
              <a:t>    int </a:t>
            </a:r>
            <a:r>
              <a:rPr lang="en-IN" b="0" dirty="0" err="1">
                <a:effectLst/>
              </a:rPr>
              <a:t>rawMotion</a:t>
            </a:r>
            <a:r>
              <a:rPr lang="en-IN" b="0" dirty="0">
                <a:effectLst/>
              </a:rPr>
              <a:t> = </a:t>
            </a:r>
            <a:r>
              <a:rPr lang="en-IN" b="0" dirty="0" err="1">
                <a:effectLst/>
              </a:rPr>
              <a:t>digitalRead</a:t>
            </a:r>
            <a:r>
              <a:rPr lang="en-IN" b="0" dirty="0">
                <a:effectLst/>
              </a:rPr>
              <a:t>(PIR_PIN);</a:t>
            </a:r>
          </a:p>
          <a:p>
            <a:pPr>
              <a:lnSpc>
                <a:spcPts val="1425"/>
              </a:lnSpc>
              <a:buNone/>
            </a:pPr>
            <a:br>
              <a:rPr lang="en-IN" b="0" dirty="0">
                <a:effectLst/>
              </a:rPr>
            </a:br>
            <a:endParaRPr lang="en-IN" b="0" dirty="0">
              <a:effectLst/>
            </a:endParaRPr>
          </a:p>
          <a:p>
            <a:pPr>
              <a:lnSpc>
                <a:spcPts val="1425"/>
              </a:lnSpc>
              <a:buNone/>
            </a:pPr>
            <a:r>
              <a:rPr lang="en-IN" b="0" dirty="0">
                <a:effectLst/>
              </a:rPr>
              <a:t>    // -------- MOTION FILTER --------</a:t>
            </a:r>
          </a:p>
          <a:p>
            <a:pPr>
              <a:lnSpc>
                <a:spcPts val="1425"/>
              </a:lnSpc>
              <a:buNone/>
            </a:pPr>
            <a:r>
              <a:rPr lang="en-IN" b="0" dirty="0">
                <a:effectLst/>
              </a:rPr>
              <a:t>    if (</a:t>
            </a:r>
            <a:r>
              <a:rPr lang="en-IN" b="0" dirty="0" err="1">
                <a:effectLst/>
              </a:rPr>
              <a:t>rawMotion</a:t>
            </a:r>
            <a:r>
              <a:rPr lang="en-IN" b="0" dirty="0">
                <a:effectLst/>
              </a:rPr>
              <a:t> == HIGH) {</a:t>
            </a:r>
          </a:p>
          <a:p>
            <a:pPr>
              <a:lnSpc>
                <a:spcPts val="1425"/>
              </a:lnSpc>
              <a:buNone/>
            </a:pPr>
            <a:r>
              <a:rPr lang="en-IN" b="0" dirty="0">
                <a:effectLst/>
              </a:rPr>
              <a:t>      </a:t>
            </a:r>
            <a:r>
              <a:rPr lang="en-IN" b="0" dirty="0" err="1">
                <a:effectLst/>
              </a:rPr>
              <a:t>lastMotionTime</a:t>
            </a:r>
            <a:r>
              <a:rPr lang="en-IN" b="0" dirty="0">
                <a:effectLst/>
              </a:rPr>
              <a:t> = </a:t>
            </a:r>
            <a:r>
              <a:rPr lang="en-IN" b="0" dirty="0" err="1">
                <a:effectLst/>
              </a:rPr>
              <a:t>millis</a:t>
            </a:r>
            <a:r>
              <a:rPr lang="en-IN" b="0" dirty="0">
                <a:effectLst/>
              </a:rPr>
              <a:t>();</a:t>
            </a:r>
          </a:p>
          <a:p>
            <a:pPr>
              <a:lnSpc>
                <a:spcPts val="1425"/>
              </a:lnSpc>
              <a:buNone/>
            </a:pPr>
            <a:r>
              <a:rPr lang="en-IN" b="0" dirty="0">
                <a:effectLst/>
              </a:rPr>
              <a:t>      </a:t>
            </a:r>
            <a:r>
              <a:rPr lang="en-IN" b="0" dirty="0" err="1">
                <a:effectLst/>
              </a:rPr>
              <a:t>lastHighTime</a:t>
            </a:r>
            <a:r>
              <a:rPr lang="en-IN" b="0" dirty="0">
                <a:effectLst/>
              </a:rPr>
              <a:t> = </a:t>
            </a:r>
            <a:r>
              <a:rPr lang="en-IN" b="0" dirty="0" err="1">
                <a:effectLst/>
              </a:rPr>
              <a:t>millis</a:t>
            </a:r>
            <a:r>
              <a:rPr lang="en-IN" b="0" dirty="0">
                <a:effectLst/>
              </a:rPr>
              <a:t>();</a:t>
            </a:r>
          </a:p>
          <a:p>
            <a:pPr>
              <a:lnSpc>
                <a:spcPts val="1425"/>
              </a:lnSpc>
              <a:buNone/>
            </a:pPr>
            <a:r>
              <a:rPr lang="en-IN" b="0" dirty="0">
                <a:effectLst/>
              </a:rPr>
              <a:t>    }</a:t>
            </a:r>
          </a:p>
        </p:txBody>
      </p:sp>
      <p:sp>
        <p:nvSpPr>
          <p:cNvPr id="5" name="TextBox 4">
            <a:extLst>
              <a:ext uri="{FF2B5EF4-FFF2-40B4-BE49-F238E27FC236}">
                <a16:creationId xmlns:a16="http://schemas.microsoft.com/office/drawing/2014/main" id="{E467E72B-F160-3CA0-39A2-907F7B0465C7}"/>
              </a:ext>
            </a:extLst>
          </p:cNvPr>
          <p:cNvSpPr txBox="1"/>
          <p:nvPr/>
        </p:nvSpPr>
        <p:spPr>
          <a:xfrm>
            <a:off x="11208254" y="202737"/>
            <a:ext cx="791835" cy="369332"/>
          </a:xfrm>
          <a:prstGeom prst="rect">
            <a:avLst/>
          </a:prstGeom>
          <a:noFill/>
        </p:spPr>
        <p:txBody>
          <a:bodyPr wrap="square">
            <a:spAutoFit/>
          </a:bodyPr>
          <a:lstStyle/>
          <a:p>
            <a:r>
              <a:rPr lang="en-US" b="1" dirty="0"/>
              <a:t>39</a:t>
            </a:r>
            <a:endParaRPr lang="en-IN" b="1" dirty="0"/>
          </a:p>
        </p:txBody>
      </p:sp>
    </p:spTree>
    <p:extLst>
      <p:ext uri="{BB962C8B-B14F-4D97-AF65-F5344CB8AC3E}">
        <p14:creationId xmlns:p14="http://schemas.microsoft.com/office/powerpoint/2010/main" val="25318679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1F3CFBD-B5EE-60E2-8836-5E973A847355}"/>
              </a:ext>
            </a:extLst>
          </p:cNvPr>
          <p:cNvSpPr>
            <a:spLocks noGrp="1"/>
          </p:cNvSpPr>
          <p:nvPr>
            <p:ph type="sldNum" sz="quarter" idx="12"/>
          </p:nvPr>
        </p:nvSpPr>
        <p:spPr/>
        <p:txBody>
          <a:bodyPr/>
          <a:lstStyle/>
          <a:p>
            <a:fld id="{0E29D32D-1BC0-48D0-BB54-D1EE225F3EBD}" type="slidenum">
              <a:rPr lang="en-IN" smtClean="0"/>
              <a:t>43</a:t>
            </a:fld>
            <a:endParaRPr lang="en-IN"/>
          </a:p>
        </p:txBody>
      </p:sp>
      <p:sp>
        <p:nvSpPr>
          <p:cNvPr id="4" name="TextBox 3">
            <a:extLst>
              <a:ext uri="{FF2B5EF4-FFF2-40B4-BE49-F238E27FC236}">
                <a16:creationId xmlns:a16="http://schemas.microsoft.com/office/drawing/2014/main" id="{FD2DA020-B073-DDE3-0223-42F077F00C32}"/>
              </a:ext>
            </a:extLst>
          </p:cNvPr>
          <p:cNvSpPr txBox="1"/>
          <p:nvPr/>
        </p:nvSpPr>
        <p:spPr>
          <a:xfrm>
            <a:off x="222739" y="283315"/>
            <a:ext cx="8076362" cy="6574685"/>
          </a:xfrm>
          <a:prstGeom prst="rect">
            <a:avLst/>
          </a:prstGeom>
          <a:noFill/>
        </p:spPr>
        <p:txBody>
          <a:bodyPr wrap="square">
            <a:spAutoFit/>
          </a:bodyPr>
          <a:lstStyle/>
          <a:p>
            <a:pPr>
              <a:lnSpc>
                <a:spcPts val="1425"/>
              </a:lnSpc>
              <a:buNone/>
            </a:pPr>
            <a:r>
              <a:rPr lang="en-IN" b="0" dirty="0">
                <a:effectLst/>
              </a:rPr>
              <a:t> if (</a:t>
            </a:r>
            <a:r>
              <a:rPr lang="en-IN" b="0" dirty="0" err="1">
                <a:effectLst/>
              </a:rPr>
              <a:t>rawMotion</a:t>
            </a:r>
            <a:r>
              <a:rPr lang="en-IN" b="0" dirty="0">
                <a:effectLst/>
              </a:rPr>
              <a:t> == LOW) {</a:t>
            </a:r>
          </a:p>
          <a:p>
            <a:pPr>
              <a:lnSpc>
                <a:spcPts val="1425"/>
              </a:lnSpc>
              <a:buNone/>
            </a:pPr>
            <a:r>
              <a:rPr lang="en-IN" b="0" dirty="0">
                <a:effectLst/>
              </a:rPr>
              <a:t>      if (</a:t>
            </a:r>
            <a:r>
              <a:rPr lang="en-IN" b="0" dirty="0" err="1">
                <a:effectLst/>
              </a:rPr>
              <a:t>millis</a:t>
            </a:r>
            <a:r>
              <a:rPr lang="en-IN" b="0" dirty="0">
                <a:effectLst/>
              </a:rPr>
              <a:t>() - </a:t>
            </a:r>
            <a:r>
              <a:rPr lang="en-IN" b="0" dirty="0" err="1">
                <a:effectLst/>
              </a:rPr>
              <a:t>lastHighTime</a:t>
            </a:r>
            <a:r>
              <a:rPr lang="en-IN" b="0" dirty="0">
                <a:effectLst/>
              </a:rPr>
              <a:t> &gt; </a:t>
            </a:r>
            <a:r>
              <a:rPr lang="en-IN" b="0" dirty="0" err="1">
                <a:effectLst/>
              </a:rPr>
              <a:t>lowConfirmTime</a:t>
            </a:r>
            <a:r>
              <a:rPr lang="en-IN" b="0" dirty="0">
                <a:effectLst/>
              </a:rPr>
              <a:t>) {</a:t>
            </a:r>
          </a:p>
          <a:p>
            <a:pPr>
              <a:lnSpc>
                <a:spcPts val="1425"/>
              </a:lnSpc>
              <a:buNone/>
            </a:pPr>
            <a:r>
              <a:rPr lang="en-IN" b="0" dirty="0">
                <a:effectLst/>
              </a:rPr>
              <a:t>        if (</a:t>
            </a:r>
            <a:r>
              <a:rPr lang="en-IN" b="0" dirty="0" err="1">
                <a:effectLst/>
              </a:rPr>
              <a:t>millis</a:t>
            </a:r>
            <a:r>
              <a:rPr lang="en-IN" b="0" dirty="0">
                <a:effectLst/>
              </a:rPr>
              <a:t>() - </a:t>
            </a:r>
            <a:r>
              <a:rPr lang="en-IN" b="0" dirty="0" err="1">
                <a:effectLst/>
              </a:rPr>
              <a:t>lastMotionTime</a:t>
            </a:r>
            <a:r>
              <a:rPr lang="en-IN" b="0" dirty="0">
                <a:effectLst/>
              </a:rPr>
              <a:t> &gt; </a:t>
            </a:r>
            <a:r>
              <a:rPr lang="en-IN" b="0" dirty="0" err="1">
                <a:effectLst/>
              </a:rPr>
              <a:t>motionHoldTime</a:t>
            </a:r>
            <a:r>
              <a:rPr lang="en-IN" b="0" dirty="0">
                <a:effectLst/>
              </a:rPr>
              <a:t>) {</a:t>
            </a:r>
          </a:p>
          <a:p>
            <a:pPr>
              <a:lnSpc>
                <a:spcPts val="1425"/>
              </a:lnSpc>
              <a:buNone/>
            </a:pPr>
            <a:r>
              <a:rPr lang="en-IN" b="0" dirty="0">
                <a:effectLst/>
              </a:rPr>
              <a:t>          </a:t>
            </a:r>
            <a:r>
              <a:rPr lang="en-IN" b="0" dirty="0" err="1">
                <a:effectLst/>
              </a:rPr>
              <a:t>motionState</a:t>
            </a:r>
            <a:r>
              <a:rPr lang="en-IN" b="0" dirty="0">
                <a:effectLst/>
              </a:rPr>
              <a:t> = false;</a:t>
            </a:r>
          </a:p>
          <a:p>
            <a:pPr>
              <a:lnSpc>
                <a:spcPts val="1425"/>
              </a:lnSpc>
              <a:buNone/>
            </a:pPr>
            <a:r>
              <a:rPr lang="en-IN" b="0" dirty="0">
                <a:effectLst/>
              </a:rPr>
              <a:t>        }</a:t>
            </a:r>
          </a:p>
          <a:p>
            <a:pPr>
              <a:lnSpc>
                <a:spcPts val="1425"/>
              </a:lnSpc>
              <a:buNone/>
            </a:pPr>
            <a:r>
              <a:rPr lang="en-IN" b="0" dirty="0">
                <a:effectLst/>
              </a:rPr>
              <a:t>      }</a:t>
            </a:r>
          </a:p>
          <a:p>
            <a:pPr>
              <a:lnSpc>
                <a:spcPts val="1425"/>
              </a:lnSpc>
              <a:buNone/>
            </a:pPr>
            <a:r>
              <a:rPr lang="en-IN" b="0" dirty="0">
                <a:effectLst/>
              </a:rPr>
              <a:t>    }</a:t>
            </a:r>
          </a:p>
          <a:p>
            <a:pPr>
              <a:lnSpc>
                <a:spcPts val="1425"/>
              </a:lnSpc>
              <a:buNone/>
            </a:pPr>
            <a:br>
              <a:rPr lang="en-IN" b="0" dirty="0">
                <a:effectLst/>
              </a:rPr>
            </a:br>
            <a:endParaRPr lang="en-IN" b="0" dirty="0">
              <a:effectLst/>
            </a:endParaRPr>
          </a:p>
          <a:p>
            <a:pPr>
              <a:lnSpc>
                <a:spcPts val="1425"/>
              </a:lnSpc>
              <a:buNone/>
            </a:pPr>
            <a:r>
              <a:rPr lang="en-IN" b="0" dirty="0">
                <a:effectLst/>
              </a:rPr>
              <a:t>    if (</a:t>
            </a:r>
            <a:r>
              <a:rPr lang="en-IN" b="0" dirty="0" err="1">
                <a:effectLst/>
              </a:rPr>
              <a:t>millis</a:t>
            </a:r>
            <a:r>
              <a:rPr lang="en-IN" b="0" dirty="0">
                <a:effectLst/>
              </a:rPr>
              <a:t>() - </a:t>
            </a:r>
            <a:r>
              <a:rPr lang="en-IN" b="0" dirty="0" err="1">
                <a:effectLst/>
              </a:rPr>
              <a:t>lastMotionTime</a:t>
            </a:r>
            <a:r>
              <a:rPr lang="en-IN" b="0" dirty="0">
                <a:effectLst/>
              </a:rPr>
              <a:t> &lt;= </a:t>
            </a:r>
            <a:r>
              <a:rPr lang="en-IN" b="0" dirty="0" err="1">
                <a:effectLst/>
              </a:rPr>
              <a:t>motionHoldTime</a:t>
            </a:r>
            <a:r>
              <a:rPr lang="en-IN" b="0" dirty="0">
                <a:effectLst/>
              </a:rPr>
              <a:t>) {</a:t>
            </a:r>
          </a:p>
          <a:p>
            <a:pPr>
              <a:lnSpc>
                <a:spcPts val="1425"/>
              </a:lnSpc>
              <a:buNone/>
            </a:pPr>
            <a:r>
              <a:rPr lang="en-IN" b="0" dirty="0">
                <a:effectLst/>
              </a:rPr>
              <a:t>      </a:t>
            </a:r>
            <a:r>
              <a:rPr lang="en-IN" b="0" dirty="0" err="1">
                <a:effectLst/>
              </a:rPr>
              <a:t>motionState</a:t>
            </a:r>
            <a:r>
              <a:rPr lang="en-IN" b="0" dirty="0">
                <a:effectLst/>
              </a:rPr>
              <a:t> = true;</a:t>
            </a:r>
          </a:p>
          <a:p>
            <a:pPr>
              <a:lnSpc>
                <a:spcPts val="1425"/>
              </a:lnSpc>
              <a:buNone/>
            </a:pPr>
            <a:r>
              <a:rPr lang="en-IN" b="0" dirty="0">
                <a:effectLst/>
              </a:rPr>
              <a:t>    }</a:t>
            </a:r>
          </a:p>
          <a:p>
            <a:pPr>
              <a:lnSpc>
                <a:spcPts val="1425"/>
              </a:lnSpc>
              <a:buNone/>
            </a:pPr>
            <a:br>
              <a:rPr lang="en-IN" b="0" dirty="0">
                <a:effectLst/>
              </a:rPr>
            </a:br>
            <a:endParaRPr lang="en-IN" b="0" dirty="0">
              <a:effectLst/>
            </a:endParaRPr>
          </a:p>
          <a:p>
            <a:pPr>
              <a:lnSpc>
                <a:spcPts val="1425"/>
              </a:lnSpc>
              <a:buNone/>
            </a:pPr>
            <a:r>
              <a:rPr lang="en-IN" b="0" dirty="0">
                <a:effectLst/>
              </a:rPr>
              <a:t>    int </a:t>
            </a:r>
            <a:r>
              <a:rPr lang="en-IN" b="0" dirty="0" err="1">
                <a:effectLst/>
              </a:rPr>
              <a:t>lightValue</a:t>
            </a:r>
            <a:r>
              <a:rPr lang="en-IN" b="0" dirty="0">
                <a:effectLst/>
              </a:rPr>
              <a:t> = </a:t>
            </a:r>
            <a:r>
              <a:rPr lang="en-IN" b="0" dirty="0" err="1">
                <a:effectLst/>
              </a:rPr>
              <a:t>analogRead</a:t>
            </a:r>
            <a:r>
              <a:rPr lang="en-IN" b="0" dirty="0">
                <a:effectLst/>
              </a:rPr>
              <a:t>(LDR_PIN);</a:t>
            </a:r>
          </a:p>
          <a:p>
            <a:pPr>
              <a:lnSpc>
                <a:spcPts val="1425"/>
              </a:lnSpc>
              <a:buNone/>
            </a:pPr>
            <a:br>
              <a:rPr lang="en-IN" b="0" dirty="0">
                <a:effectLst/>
              </a:rPr>
            </a:br>
            <a:endParaRPr lang="en-IN" b="0" dirty="0">
              <a:effectLst/>
            </a:endParaRPr>
          </a:p>
          <a:p>
            <a:pPr>
              <a:lnSpc>
                <a:spcPts val="1425"/>
              </a:lnSpc>
              <a:buNone/>
            </a:pPr>
            <a:r>
              <a:rPr lang="en-IN" b="0" dirty="0">
                <a:effectLst/>
              </a:rPr>
              <a:t>    int </a:t>
            </a:r>
            <a:r>
              <a:rPr lang="en-IN" b="0" dirty="0" err="1">
                <a:effectLst/>
              </a:rPr>
              <a:t>adcValue</a:t>
            </a:r>
            <a:r>
              <a:rPr lang="en-IN" b="0" dirty="0">
                <a:effectLst/>
              </a:rPr>
              <a:t> = </a:t>
            </a:r>
            <a:r>
              <a:rPr lang="en-IN" b="0" dirty="0" err="1">
                <a:effectLst/>
              </a:rPr>
              <a:t>analogRead</a:t>
            </a:r>
            <a:r>
              <a:rPr lang="en-IN" b="0" dirty="0">
                <a:effectLst/>
              </a:rPr>
              <a:t>(LM35_PIN);</a:t>
            </a:r>
          </a:p>
          <a:p>
            <a:pPr>
              <a:lnSpc>
                <a:spcPts val="1425"/>
              </a:lnSpc>
              <a:buNone/>
            </a:pPr>
            <a:r>
              <a:rPr lang="en-IN" b="0" dirty="0">
                <a:effectLst/>
              </a:rPr>
              <a:t>    float voltage = </a:t>
            </a:r>
            <a:r>
              <a:rPr lang="en-IN" b="0" dirty="0" err="1">
                <a:effectLst/>
              </a:rPr>
              <a:t>adcValue</a:t>
            </a:r>
            <a:r>
              <a:rPr lang="en-IN" b="0" dirty="0">
                <a:effectLst/>
              </a:rPr>
              <a:t> * (3.3 / 4095.0);</a:t>
            </a:r>
          </a:p>
          <a:p>
            <a:pPr>
              <a:lnSpc>
                <a:spcPts val="1425"/>
              </a:lnSpc>
              <a:buNone/>
            </a:pPr>
            <a:r>
              <a:rPr lang="en-IN" b="0" dirty="0">
                <a:effectLst/>
              </a:rPr>
              <a:t>    float temp = voltage * 100.0;</a:t>
            </a:r>
          </a:p>
          <a:p>
            <a:pPr>
              <a:lnSpc>
                <a:spcPts val="1425"/>
              </a:lnSpc>
              <a:buNone/>
            </a:pPr>
            <a:br>
              <a:rPr lang="en-IN" b="0" dirty="0">
                <a:effectLst/>
              </a:rPr>
            </a:br>
            <a:endParaRPr lang="en-IN" b="0" dirty="0">
              <a:effectLst/>
            </a:endParaRPr>
          </a:p>
          <a:p>
            <a:pPr>
              <a:lnSpc>
                <a:spcPts val="1425"/>
              </a:lnSpc>
              <a:buNone/>
            </a:pPr>
            <a:r>
              <a:rPr lang="en-IN" b="0" dirty="0">
                <a:effectLst/>
              </a:rPr>
              <a:t>    // -------- FAN CONTROL --------</a:t>
            </a:r>
          </a:p>
          <a:p>
            <a:pPr>
              <a:lnSpc>
                <a:spcPts val="1425"/>
              </a:lnSpc>
              <a:buNone/>
            </a:pPr>
            <a:r>
              <a:rPr lang="en-IN" b="0" dirty="0">
                <a:effectLst/>
              </a:rPr>
              <a:t>    if (</a:t>
            </a:r>
            <a:r>
              <a:rPr lang="en-IN" b="0" dirty="0" err="1">
                <a:effectLst/>
              </a:rPr>
              <a:t>fanMode</a:t>
            </a:r>
            <a:r>
              <a:rPr lang="en-IN" b="0" dirty="0">
                <a:effectLst/>
              </a:rPr>
              <a:t> == 1) {</a:t>
            </a:r>
          </a:p>
          <a:p>
            <a:pPr>
              <a:lnSpc>
                <a:spcPts val="1425"/>
              </a:lnSpc>
              <a:buNone/>
            </a:pPr>
            <a:r>
              <a:rPr lang="en-IN" b="0" dirty="0">
                <a:effectLst/>
              </a:rPr>
              <a:t>      </a:t>
            </a:r>
            <a:r>
              <a:rPr lang="en-IN" b="0" dirty="0" err="1">
                <a:effectLst/>
              </a:rPr>
              <a:t>digitalWrite</a:t>
            </a:r>
            <a:r>
              <a:rPr lang="en-IN" b="0" dirty="0">
                <a:effectLst/>
              </a:rPr>
              <a:t>(RELAY_FAN, LOW); // ON</a:t>
            </a:r>
          </a:p>
          <a:p>
            <a:pPr>
              <a:lnSpc>
                <a:spcPts val="1425"/>
              </a:lnSpc>
              <a:buNone/>
            </a:pPr>
            <a:r>
              <a:rPr lang="en-IN" b="0" dirty="0">
                <a:effectLst/>
              </a:rPr>
              <a:t>    }</a:t>
            </a:r>
          </a:p>
          <a:p>
            <a:pPr>
              <a:lnSpc>
                <a:spcPts val="1425"/>
              </a:lnSpc>
              <a:buNone/>
            </a:pPr>
            <a:r>
              <a:rPr lang="en-IN" b="0" dirty="0">
                <a:effectLst/>
              </a:rPr>
              <a:t>    else if (</a:t>
            </a:r>
            <a:r>
              <a:rPr lang="en-IN" b="0" dirty="0" err="1">
                <a:effectLst/>
              </a:rPr>
              <a:t>fanMode</a:t>
            </a:r>
            <a:r>
              <a:rPr lang="en-IN" b="0" dirty="0">
                <a:effectLst/>
              </a:rPr>
              <a:t> == 2) {</a:t>
            </a:r>
          </a:p>
          <a:p>
            <a:pPr>
              <a:lnSpc>
                <a:spcPts val="1425"/>
              </a:lnSpc>
              <a:buNone/>
            </a:pPr>
            <a:r>
              <a:rPr lang="en-IN" b="0" dirty="0">
                <a:effectLst/>
              </a:rPr>
              <a:t>      </a:t>
            </a:r>
            <a:r>
              <a:rPr lang="en-IN" b="0" dirty="0" err="1">
                <a:effectLst/>
              </a:rPr>
              <a:t>digitalWrite</a:t>
            </a:r>
            <a:r>
              <a:rPr lang="en-IN" b="0" dirty="0">
                <a:effectLst/>
              </a:rPr>
              <a:t>(RELAY_FAN, HIGH); // OFF</a:t>
            </a:r>
          </a:p>
          <a:p>
            <a:pPr>
              <a:lnSpc>
                <a:spcPts val="1425"/>
              </a:lnSpc>
              <a:buNone/>
            </a:pPr>
            <a:r>
              <a:rPr lang="en-IN" b="0" dirty="0">
                <a:effectLst/>
              </a:rPr>
              <a:t>    }</a:t>
            </a:r>
          </a:p>
          <a:p>
            <a:pPr>
              <a:lnSpc>
                <a:spcPts val="1425"/>
              </a:lnSpc>
              <a:buNone/>
            </a:pPr>
            <a:r>
              <a:rPr lang="en-IN" b="0" dirty="0">
                <a:effectLst/>
              </a:rPr>
              <a:t>    else {</a:t>
            </a:r>
          </a:p>
          <a:p>
            <a:pPr>
              <a:lnSpc>
                <a:spcPts val="1425"/>
              </a:lnSpc>
              <a:buNone/>
            </a:pPr>
            <a:r>
              <a:rPr lang="en-IN" b="0" dirty="0">
                <a:effectLst/>
              </a:rPr>
              <a:t>      if (</a:t>
            </a:r>
            <a:r>
              <a:rPr lang="en-IN" b="0" dirty="0" err="1">
                <a:effectLst/>
              </a:rPr>
              <a:t>motionState</a:t>
            </a:r>
            <a:r>
              <a:rPr lang="en-IN" b="0" dirty="0">
                <a:effectLst/>
              </a:rPr>
              <a:t> &amp;&amp; temp &gt; 24) {</a:t>
            </a:r>
          </a:p>
          <a:p>
            <a:pPr>
              <a:lnSpc>
                <a:spcPts val="1425"/>
              </a:lnSpc>
              <a:buNone/>
            </a:pPr>
            <a:r>
              <a:rPr lang="en-IN" b="0" dirty="0">
                <a:effectLst/>
              </a:rPr>
              <a:t>        </a:t>
            </a:r>
            <a:r>
              <a:rPr lang="en-IN" b="0" dirty="0" err="1">
                <a:effectLst/>
              </a:rPr>
              <a:t>digitalWrite</a:t>
            </a:r>
            <a:r>
              <a:rPr lang="en-IN" b="0" dirty="0">
                <a:effectLst/>
              </a:rPr>
              <a:t>(RELAY_FAN, LOW);</a:t>
            </a:r>
          </a:p>
          <a:p>
            <a:pPr>
              <a:lnSpc>
                <a:spcPts val="1425"/>
              </a:lnSpc>
              <a:buNone/>
            </a:pPr>
            <a:r>
              <a:rPr lang="en-IN" b="0" dirty="0">
                <a:effectLst/>
              </a:rPr>
              <a:t>      } else {</a:t>
            </a:r>
          </a:p>
          <a:p>
            <a:pPr>
              <a:lnSpc>
                <a:spcPts val="1425"/>
              </a:lnSpc>
              <a:buNone/>
            </a:pPr>
            <a:r>
              <a:rPr lang="en-IN" b="0" dirty="0">
                <a:effectLst/>
              </a:rPr>
              <a:t>        </a:t>
            </a:r>
            <a:r>
              <a:rPr lang="en-IN" b="0" dirty="0" err="1">
                <a:effectLst/>
              </a:rPr>
              <a:t>digitalWrite</a:t>
            </a:r>
            <a:r>
              <a:rPr lang="en-IN" b="0" dirty="0">
                <a:effectLst/>
              </a:rPr>
              <a:t>(RELAY_FAN, HIGH);</a:t>
            </a:r>
          </a:p>
          <a:p>
            <a:pPr>
              <a:lnSpc>
                <a:spcPts val="1425"/>
              </a:lnSpc>
              <a:buNone/>
            </a:pPr>
            <a:r>
              <a:rPr lang="en-IN" b="0" dirty="0">
                <a:effectLst/>
              </a:rPr>
              <a:t>      }</a:t>
            </a:r>
          </a:p>
          <a:p>
            <a:pPr>
              <a:lnSpc>
                <a:spcPts val="1425"/>
              </a:lnSpc>
              <a:buNone/>
            </a:pPr>
            <a:r>
              <a:rPr lang="en-IN" b="0" dirty="0">
                <a:effectLst/>
              </a:rPr>
              <a:t>    }</a:t>
            </a:r>
          </a:p>
        </p:txBody>
      </p:sp>
      <p:sp>
        <p:nvSpPr>
          <p:cNvPr id="5" name="TextBox 4">
            <a:extLst>
              <a:ext uri="{FF2B5EF4-FFF2-40B4-BE49-F238E27FC236}">
                <a16:creationId xmlns:a16="http://schemas.microsoft.com/office/drawing/2014/main" id="{38ECABB7-8B38-840A-5EE8-BAFE15B144C4}"/>
              </a:ext>
            </a:extLst>
          </p:cNvPr>
          <p:cNvSpPr txBox="1"/>
          <p:nvPr/>
        </p:nvSpPr>
        <p:spPr>
          <a:xfrm>
            <a:off x="11208254" y="202737"/>
            <a:ext cx="791835" cy="369332"/>
          </a:xfrm>
          <a:prstGeom prst="rect">
            <a:avLst/>
          </a:prstGeom>
          <a:noFill/>
        </p:spPr>
        <p:txBody>
          <a:bodyPr wrap="square">
            <a:spAutoFit/>
          </a:bodyPr>
          <a:lstStyle/>
          <a:p>
            <a:r>
              <a:rPr lang="en-US" b="1" dirty="0"/>
              <a:t>40</a:t>
            </a:r>
            <a:endParaRPr lang="en-IN" b="1" dirty="0"/>
          </a:p>
        </p:txBody>
      </p:sp>
    </p:spTree>
    <p:extLst>
      <p:ext uri="{BB962C8B-B14F-4D97-AF65-F5344CB8AC3E}">
        <p14:creationId xmlns:p14="http://schemas.microsoft.com/office/powerpoint/2010/main" val="34209974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6A93B-C2FC-4A83-DA6C-6112A1B8E98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07D4EC9-DBE2-B592-E0E4-49E896CB1F2C}"/>
              </a:ext>
            </a:extLst>
          </p:cNvPr>
          <p:cNvSpPr txBox="1"/>
          <p:nvPr/>
        </p:nvSpPr>
        <p:spPr>
          <a:xfrm>
            <a:off x="374301" y="287868"/>
            <a:ext cx="6094324" cy="6570132"/>
          </a:xfrm>
          <a:prstGeom prst="rect">
            <a:avLst/>
          </a:prstGeom>
          <a:noFill/>
        </p:spPr>
        <p:txBody>
          <a:bodyPr wrap="square">
            <a:spAutoFit/>
          </a:bodyPr>
          <a:lstStyle/>
          <a:p>
            <a:pPr>
              <a:lnSpc>
                <a:spcPts val="1425"/>
              </a:lnSpc>
              <a:buNone/>
            </a:pPr>
            <a:r>
              <a:rPr lang="en-IN" dirty="0"/>
              <a:t>// -------- LIGHT CONTROL --------</a:t>
            </a:r>
          </a:p>
          <a:p>
            <a:pPr>
              <a:lnSpc>
                <a:spcPts val="1425"/>
              </a:lnSpc>
              <a:buNone/>
            </a:pPr>
            <a:r>
              <a:rPr lang="en-IN" dirty="0"/>
              <a:t>    if (</a:t>
            </a:r>
            <a:r>
              <a:rPr lang="en-IN" dirty="0" err="1"/>
              <a:t>lightMode</a:t>
            </a:r>
            <a:r>
              <a:rPr lang="en-IN" dirty="0"/>
              <a:t> == 1) {</a:t>
            </a:r>
          </a:p>
          <a:p>
            <a:pPr>
              <a:lnSpc>
                <a:spcPts val="1425"/>
              </a:lnSpc>
              <a:buNone/>
            </a:pPr>
            <a:r>
              <a:rPr lang="en-IN" dirty="0"/>
              <a:t>      </a:t>
            </a:r>
            <a:r>
              <a:rPr lang="en-IN" dirty="0" err="1"/>
              <a:t>digitalWrite</a:t>
            </a:r>
            <a:r>
              <a:rPr lang="en-IN" dirty="0"/>
              <a:t>(RELAY_LIGHT, LOW); // ON</a:t>
            </a:r>
          </a:p>
          <a:p>
            <a:pPr>
              <a:lnSpc>
                <a:spcPts val="1425"/>
              </a:lnSpc>
              <a:buNone/>
            </a:pPr>
            <a:r>
              <a:rPr lang="en-IN" dirty="0"/>
              <a:t>    }</a:t>
            </a:r>
          </a:p>
          <a:p>
            <a:pPr>
              <a:lnSpc>
                <a:spcPts val="1425"/>
              </a:lnSpc>
              <a:buNone/>
            </a:pPr>
            <a:r>
              <a:rPr lang="en-IN" dirty="0"/>
              <a:t>    else if (</a:t>
            </a:r>
            <a:r>
              <a:rPr lang="en-IN" dirty="0" err="1"/>
              <a:t>lightMode</a:t>
            </a:r>
            <a:r>
              <a:rPr lang="en-IN" dirty="0"/>
              <a:t> == 2) {</a:t>
            </a:r>
          </a:p>
          <a:p>
            <a:pPr>
              <a:lnSpc>
                <a:spcPts val="1425"/>
              </a:lnSpc>
              <a:buNone/>
            </a:pPr>
            <a:r>
              <a:rPr lang="en-IN" dirty="0"/>
              <a:t>      </a:t>
            </a:r>
            <a:r>
              <a:rPr lang="en-IN" dirty="0" err="1"/>
              <a:t>digitalWrite</a:t>
            </a:r>
            <a:r>
              <a:rPr lang="en-IN" dirty="0"/>
              <a:t>(RELAY_LIGHT, HIGH); // OFF</a:t>
            </a:r>
          </a:p>
          <a:p>
            <a:pPr>
              <a:lnSpc>
                <a:spcPts val="1425"/>
              </a:lnSpc>
              <a:buNone/>
            </a:pPr>
            <a:r>
              <a:rPr lang="en-IN" dirty="0"/>
              <a:t>    }</a:t>
            </a:r>
          </a:p>
          <a:p>
            <a:pPr>
              <a:lnSpc>
                <a:spcPts val="1425"/>
              </a:lnSpc>
              <a:buNone/>
            </a:pPr>
            <a:r>
              <a:rPr lang="en-IN" dirty="0"/>
              <a:t>    else {</a:t>
            </a:r>
          </a:p>
          <a:p>
            <a:pPr>
              <a:lnSpc>
                <a:spcPts val="1425"/>
              </a:lnSpc>
              <a:buNone/>
            </a:pPr>
            <a:r>
              <a:rPr lang="en-IN" dirty="0"/>
              <a:t>      if (</a:t>
            </a:r>
            <a:r>
              <a:rPr lang="en-IN" dirty="0" err="1"/>
              <a:t>motionState</a:t>
            </a:r>
            <a:r>
              <a:rPr lang="en-IN" dirty="0"/>
              <a:t> &amp;&amp; </a:t>
            </a:r>
            <a:r>
              <a:rPr lang="en-IN" dirty="0" err="1"/>
              <a:t>lightValue</a:t>
            </a:r>
            <a:r>
              <a:rPr lang="en-IN" dirty="0"/>
              <a:t> &gt;= 2000) {</a:t>
            </a:r>
          </a:p>
          <a:p>
            <a:pPr>
              <a:lnSpc>
                <a:spcPts val="1425"/>
              </a:lnSpc>
              <a:buNone/>
            </a:pPr>
            <a:r>
              <a:rPr lang="en-IN" dirty="0"/>
              <a:t>        </a:t>
            </a:r>
            <a:r>
              <a:rPr lang="en-IN" dirty="0" err="1"/>
              <a:t>digitalWrite</a:t>
            </a:r>
            <a:r>
              <a:rPr lang="en-IN" dirty="0"/>
              <a:t>(RELAY_LIGHT, LOW);</a:t>
            </a:r>
          </a:p>
          <a:p>
            <a:pPr>
              <a:lnSpc>
                <a:spcPts val="1425"/>
              </a:lnSpc>
              <a:buNone/>
            </a:pPr>
            <a:r>
              <a:rPr lang="en-IN" dirty="0"/>
              <a:t>      } else {</a:t>
            </a:r>
          </a:p>
          <a:p>
            <a:pPr>
              <a:lnSpc>
                <a:spcPts val="1425"/>
              </a:lnSpc>
              <a:buNone/>
            </a:pPr>
            <a:r>
              <a:rPr lang="en-IN" dirty="0"/>
              <a:t>        </a:t>
            </a:r>
            <a:r>
              <a:rPr lang="en-IN" dirty="0" err="1"/>
              <a:t>digitalWrite</a:t>
            </a:r>
            <a:r>
              <a:rPr lang="en-IN" dirty="0"/>
              <a:t>(RELAY_LIGHT, HIGH);</a:t>
            </a:r>
          </a:p>
          <a:p>
            <a:pPr>
              <a:lnSpc>
                <a:spcPts val="1425"/>
              </a:lnSpc>
              <a:buNone/>
            </a:pPr>
            <a:r>
              <a:rPr lang="en-IN" dirty="0"/>
              <a:t>      }</a:t>
            </a:r>
          </a:p>
          <a:p>
            <a:pPr>
              <a:lnSpc>
                <a:spcPts val="1425"/>
              </a:lnSpc>
              <a:buNone/>
            </a:pPr>
            <a:r>
              <a:rPr lang="en-IN" dirty="0"/>
              <a:t>    }</a:t>
            </a:r>
          </a:p>
          <a:p>
            <a:pPr>
              <a:lnSpc>
                <a:spcPts val="1425"/>
              </a:lnSpc>
              <a:buNone/>
            </a:pPr>
            <a:br>
              <a:rPr lang="en-IN" dirty="0"/>
            </a:br>
            <a:endParaRPr lang="en-IN" dirty="0"/>
          </a:p>
          <a:p>
            <a:pPr>
              <a:lnSpc>
                <a:spcPts val="1425"/>
              </a:lnSpc>
              <a:buNone/>
            </a:pPr>
            <a:r>
              <a:rPr lang="en-IN" dirty="0"/>
              <a:t>    // -------- OLED --------</a:t>
            </a:r>
          </a:p>
          <a:p>
            <a:pPr>
              <a:lnSpc>
                <a:spcPts val="1425"/>
              </a:lnSpc>
              <a:buNone/>
            </a:pPr>
            <a:r>
              <a:rPr lang="en-IN" dirty="0"/>
              <a:t>    </a:t>
            </a:r>
            <a:r>
              <a:rPr lang="en-IN" dirty="0" err="1"/>
              <a:t>display.clearDisplay</a:t>
            </a:r>
            <a:r>
              <a:rPr lang="en-IN" dirty="0"/>
              <a:t>();</a:t>
            </a:r>
          </a:p>
          <a:p>
            <a:pPr>
              <a:lnSpc>
                <a:spcPts val="1425"/>
              </a:lnSpc>
              <a:buNone/>
            </a:pPr>
            <a:br>
              <a:rPr lang="en-IN" dirty="0"/>
            </a:br>
            <a:endParaRPr lang="en-IN" dirty="0"/>
          </a:p>
          <a:p>
            <a:pPr>
              <a:lnSpc>
                <a:spcPts val="1425"/>
              </a:lnSpc>
              <a:buNone/>
            </a:pPr>
            <a:r>
              <a:rPr lang="en-IN" dirty="0"/>
              <a:t>    </a:t>
            </a:r>
            <a:r>
              <a:rPr lang="en-IN" dirty="0" err="1"/>
              <a:t>display.setCursor</a:t>
            </a:r>
            <a:r>
              <a:rPr lang="en-IN" dirty="0"/>
              <a:t>(0, 0);</a:t>
            </a:r>
          </a:p>
          <a:p>
            <a:pPr>
              <a:lnSpc>
                <a:spcPts val="1425"/>
              </a:lnSpc>
              <a:buNone/>
            </a:pPr>
            <a:r>
              <a:rPr lang="en-IN" dirty="0"/>
              <a:t>    </a:t>
            </a:r>
            <a:r>
              <a:rPr lang="en-IN" dirty="0" err="1"/>
              <a:t>display.print</a:t>
            </a:r>
            <a:r>
              <a:rPr lang="en-IN" dirty="0"/>
              <a:t>("Temp: ");   </a:t>
            </a:r>
          </a:p>
          <a:p>
            <a:pPr>
              <a:lnSpc>
                <a:spcPts val="1425"/>
              </a:lnSpc>
              <a:buNone/>
            </a:pPr>
            <a:r>
              <a:rPr lang="en-IN" dirty="0"/>
              <a:t>    </a:t>
            </a:r>
            <a:r>
              <a:rPr lang="en-IN" dirty="0" err="1"/>
              <a:t>display.print</a:t>
            </a:r>
            <a:r>
              <a:rPr lang="en-IN" dirty="0"/>
              <a:t>(temp);</a:t>
            </a:r>
          </a:p>
          <a:p>
            <a:pPr>
              <a:lnSpc>
                <a:spcPts val="1425"/>
              </a:lnSpc>
              <a:buNone/>
            </a:pPr>
            <a:r>
              <a:rPr lang="en-IN" dirty="0"/>
              <a:t>    </a:t>
            </a:r>
            <a:r>
              <a:rPr lang="en-IN" dirty="0" err="1"/>
              <a:t>display.println</a:t>
            </a:r>
            <a:r>
              <a:rPr lang="en-IN" dirty="0"/>
              <a:t>(" C");</a:t>
            </a:r>
          </a:p>
          <a:p>
            <a:pPr>
              <a:lnSpc>
                <a:spcPts val="1425"/>
              </a:lnSpc>
              <a:buNone/>
            </a:pPr>
            <a:br>
              <a:rPr lang="en-IN" dirty="0"/>
            </a:br>
            <a:endParaRPr lang="en-IN" dirty="0"/>
          </a:p>
          <a:p>
            <a:pPr>
              <a:lnSpc>
                <a:spcPts val="1425"/>
              </a:lnSpc>
              <a:buNone/>
            </a:pPr>
            <a:r>
              <a:rPr lang="en-IN" dirty="0"/>
              <a:t>    </a:t>
            </a:r>
            <a:r>
              <a:rPr lang="en-IN" dirty="0" err="1"/>
              <a:t>display.print</a:t>
            </a:r>
            <a:r>
              <a:rPr lang="en-IN" dirty="0"/>
              <a:t>("Motion: ");</a:t>
            </a:r>
          </a:p>
          <a:p>
            <a:pPr>
              <a:lnSpc>
                <a:spcPts val="1425"/>
              </a:lnSpc>
              <a:buNone/>
            </a:pPr>
            <a:r>
              <a:rPr lang="en-IN" dirty="0"/>
              <a:t>    </a:t>
            </a:r>
            <a:r>
              <a:rPr lang="en-IN" dirty="0" err="1"/>
              <a:t>display.println</a:t>
            </a:r>
            <a:r>
              <a:rPr lang="en-IN" dirty="0"/>
              <a:t>(</a:t>
            </a:r>
            <a:r>
              <a:rPr lang="en-IN" dirty="0" err="1"/>
              <a:t>motionState</a:t>
            </a:r>
            <a:r>
              <a:rPr lang="en-IN" dirty="0"/>
              <a:t> ? "YES" : "NO");</a:t>
            </a:r>
          </a:p>
          <a:p>
            <a:pPr>
              <a:lnSpc>
                <a:spcPts val="1425"/>
              </a:lnSpc>
              <a:buNone/>
            </a:pPr>
            <a:br>
              <a:rPr lang="en-IN" dirty="0"/>
            </a:br>
            <a:endParaRPr lang="en-IN" dirty="0"/>
          </a:p>
          <a:p>
            <a:pPr>
              <a:lnSpc>
                <a:spcPts val="1425"/>
              </a:lnSpc>
              <a:buNone/>
            </a:pPr>
            <a:r>
              <a:rPr lang="en-IN" dirty="0"/>
              <a:t>    </a:t>
            </a:r>
            <a:r>
              <a:rPr lang="en-IN" dirty="0" err="1"/>
              <a:t>display.print</a:t>
            </a:r>
            <a:r>
              <a:rPr lang="en-IN" dirty="0"/>
              <a:t>("Light: ");</a:t>
            </a:r>
          </a:p>
          <a:p>
            <a:pPr>
              <a:lnSpc>
                <a:spcPts val="1425"/>
              </a:lnSpc>
              <a:buNone/>
            </a:pPr>
            <a:r>
              <a:rPr lang="en-IN" dirty="0"/>
              <a:t>    </a:t>
            </a:r>
            <a:r>
              <a:rPr lang="en-IN" dirty="0" err="1"/>
              <a:t>display.println</a:t>
            </a:r>
            <a:r>
              <a:rPr lang="en-IN" dirty="0"/>
              <a:t>(</a:t>
            </a:r>
            <a:r>
              <a:rPr lang="en-IN" dirty="0" err="1"/>
              <a:t>lightValue</a:t>
            </a:r>
            <a:r>
              <a:rPr lang="en-IN" dirty="0"/>
              <a:t>);</a:t>
            </a:r>
          </a:p>
          <a:p>
            <a:pPr>
              <a:lnSpc>
                <a:spcPts val="1425"/>
              </a:lnSpc>
              <a:buNone/>
            </a:pPr>
            <a:br>
              <a:rPr lang="en-IN" dirty="0"/>
            </a:br>
            <a:endParaRPr lang="en-IN" dirty="0"/>
          </a:p>
          <a:p>
            <a:pPr>
              <a:lnSpc>
                <a:spcPts val="1425"/>
              </a:lnSpc>
              <a:buNone/>
            </a:pPr>
            <a:r>
              <a:rPr lang="en-IN" dirty="0"/>
              <a:t>    </a:t>
            </a:r>
            <a:r>
              <a:rPr lang="en-IN" dirty="0" err="1"/>
              <a:t>display.println</a:t>
            </a:r>
            <a:r>
              <a:rPr lang="en-IN" dirty="0"/>
              <a:t>("");</a:t>
            </a:r>
          </a:p>
        </p:txBody>
      </p:sp>
      <p:sp>
        <p:nvSpPr>
          <p:cNvPr id="5" name="TextBox 4">
            <a:extLst>
              <a:ext uri="{FF2B5EF4-FFF2-40B4-BE49-F238E27FC236}">
                <a16:creationId xmlns:a16="http://schemas.microsoft.com/office/drawing/2014/main" id="{A3D0F6FB-4DA5-0579-44C7-33DEEB2F76BD}"/>
              </a:ext>
            </a:extLst>
          </p:cNvPr>
          <p:cNvSpPr txBox="1"/>
          <p:nvPr/>
        </p:nvSpPr>
        <p:spPr>
          <a:xfrm>
            <a:off x="11208254" y="202737"/>
            <a:ext cx="791835" cy="369332"/>
          </a:xfrm>
          <a:prstGeom prst="rect">
            <a:avLst/>
          </a:prstGeom>
          <a:noFill/>
        </p:spPr>
        <p:txBody>
          <a:bodyPr wrap="square">
            <a:spAutoFit/>
          </a:bodyPr>
          <a:lstStyle/>
          <a:p>
            <a:r>
              <a:rPr lang="en-US" b="1" dirty="0"/>
              <a:t>41</a:t>
            </a:r>
            <a:endParaRPr lang="en-IN" b="1" dirty="0"/>
          </a:p>
        </p:txBody>
      </p:sp>
      <p:sp>
        <p:nvSpPr>
          <p:cNvPr id="6" name="Slide Number Placeholder 5">
            <a:extLst>
              <a:ext uri="{FF2B5EF4-FFF2-40B4-BE49-F238E27FC236}">
                <a16:creationId xmlns:a16="http://schemas.microsoft.com/office/drawing/2014/main" id="{9607A4AC-C9FC-F9D1-B345-3CB4E7B03AE2}"/>
              </a:ext>
            </a:extLst>
          </p:cNvPr>
          <p:cNvSpPr>
            <a:spLocks noGrp="1"/>
          </p:cNvSpPr>
          <p:nvPr>
            <p:ph type="sldNum" sz="quarter" idx="12"/>
          </p:nvPr>
        </p:nvSpPr>
        <p:spPr/>
        <p:txBody>
          <a:bodyPr/>
          <a:lstStyle/>
          <a:p>
            <a:fld id="{0E29D32D-1BC0-48D0-BB54-D1EE225F3EBD}" type="slidenum">
              <a:rPr lang="en-IN" smtClean="0"/>
              <a:t>44</a:t>
            </a:fld>
            <a:endParaRPr lang="en-IN"/>
          </a:p>
        </p:txBody>
      </p:sp>
    </p:spTree>
    <p:extLst>
      <p:ext uri="{BB962C8B-B14F-4D97-AF65-F5344CB8AC3E}">
        <p14:creationId xmlns:p14="http://schemas.microsoft.com/office/powerpoint/2010/main" val="14118045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BA5E4-C838-0291-FCF2-58E1B81DD09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387EC5-54AE-F1F8-339A-C49517CD4CF4}"/>
              </a:ext>
            </a:extLst>
          </p:cNvPr>
          <p:cNvSpPr>
            <a:spLocks noGrp="1"/>
          </p:cNvSpPr>
          <p:nvPr>
            <p:ph type="sldNum" sz="quarter" idx="12"/>
          </p:nvPr>
        </p:nvSpPr>
        <p:spPr/>
        <p:txBody>
          <a:bodyPr/>
          <a:lstStyle/>
          <a:p>
            <a:fld id="{0E29D32D-1BC0-48D0-BB54-D1EE225F3EBD}" type="slidenum">
              <a:rPr lang="en-IN" smtClean="0"/>
              <a:t>45</a:t>
            </a:fld>
            <a:endParaRPr lang="en-IN"/>
          </a:p>
        </p:txBody>
      </p:sp>
      <p:sp>
        <p:nvSpPr>
          <p:cNvPr id="4" name="TextBox 3">
            <a:extLst>
              <a:ext uri="{FF2B5EF4-FFF2-40B4-BE49-F238E27FC236}">
                <a16:creationId xmlns:a16="http://schemas.microsoft.com/office/drawing/2014/main" id="{2240238D-9256-4E92-724C-A0B0EF35A834}"/>
              </a:ext>
            </a:extLst>
          </p:cNvPr>
          <p:cNvSpPr txBox="1"/>
          <p:nvPr/>
        </p:nvSpPr>
        <p:spPr>
          <a:xfrm>
            <a:off x="303963" y="566476"/>
            <a:ext cx="6094324" cy="4779322"/>
          </a:xfrm>
          <a:prstGeom prst="rect">
            <a:avLst/>
          </a:prstGeom>
          <a:noFill/>
        </p:spPr>
        <p:txBody>
          <a:bodyPr wrap="square">
            <a:spAutoFit/>
          </a:bodyPr>
          <a:lstStyle/>
          <a:p>
            <a:pPr>
              <a:lnSpc>
                <a:spcPts val="1425"/>
              </a:lnSpc>
              <a:buNone/>
            </a:pPr>
            <a:r>
              <a:rPr lang="en-IN" b="0" dirty="0">
                <a:effectLst/>
              </a:rPr>
              <a:t>// FAN STATUS</a:t>
            </a:r>
          </a:p>
          <a:p>
            <a:pPr>
              <a:lnSpc>
                <a:spcPts val="1425"/>
              </a:lnSpc>
              <a:buNone/>
            </a:pPr>
            <a:r>
              <a:rPr lang="en-IN" b="0" dirty="0">
                <a:effectLst/>
              </a:rPr>
              <a:t>    if (</a:t>
            </a:r>
            <a:r>
              <a:rPr lang="en-IN" b="0" dirty="0" err="1">
                <a:effectLst/>
              </a:rPr>
              <a:t>fanMode</a:t>
            </a:r>
            <a:r>
              <a:rPr lang="en-IN" b="0" dirty="0">
                <a:effectLst/>
              </a:rPr>
              <a:t> == 1) </a:t>
            </a:r>
            <a:r>
              <a:rPr lang="en-IN" b="0" dirty="0" err="1">
                <a:effectLst/>
              </a:rPr>
              <a:t>display.println</a:t>
            </a:r>
            <a:r>
              <a:rPr lang="en-IN" b="0" dirty="0">
                <a:effectLst/>
              </a:rPr>
              <a:t>("FAN: MANUAL ON");</a:t>
            </a:r>
          </a:p>
          <a:p>
            <a:pPr>
              <a:lnSpc>
                <a:spcPts val="1425"/>
              </a:lnSpc>
              <a:buNone/>
            </a:pPr>
            <a:r>
              <a:rPr lang="en-IN" b="0" dirty="0">
                <a:effectLst/>
              </a:rPr>
              <a:t>    else if (</a:t>
            </a:r>
            <a:r>
              <a:rPr lang="en-IN" b="0" dirty="0" err="1">
                <a:effectLst/>
              </a:rPr>
              <a:t>fanMode</a:t>
            </a:r>
            <a:r>
              <a:rPr lang="en-IN" b="0" dirty="0">
                <a:effectLst/>
              </a:rPr>
              <a:t> == 2) </a:t>
            </a:r>
            <a:r>
              <a:rPr lang="en-IN" b="0" dirty="0" err="1">
                <a:effectLst/>
              </a:rPr>
              <a:t>display.println</a:t>
            </a:r>
            <a:r>
              <a:rPr lang="en-IN" b="0" dirty="0">
                <a:effectLst/>
              </a:rPr>
              <a:t>("FAN: MANUAL OFF");</a:t>
            </a:r>
          </a:p>
          <a:p>
            <a:pPr>
              <a:lnSpc>
                <a:spcPts val="1425"/>
              </a:lnSpc>
              <a:buNone/>
            </a:pPr>
            <a:r>
              <a:rPr lang="en-IN" b="0" dirty="0">
                <a:effectLst/>
              </a:rPr>
              <a:t>    else </a:t>
            </a:r>
            <a:r>
              <a:rPr lang="en-IN" b="0" dirty="0" err="1">
                <a:effectLst/>
              </a:rPr>
              <a:t>display.println</a:t>
            </a:r>
            <a:r>
              <a:rPr lang="en-IN" b="0" dirty="0">
                <a:effectLst/>
              </a:rPr>
              <a:t>((</a:t>
            </a:r>
            <a:r>
              <a:rPr lang="en-IN" b="0" dirty="0" err="1">
                <a:effectLst/>
              </a:rPr>
              <a:t>motionState</a:t>
            </a:r>
            <a:r>
              <a:rPr lang="en-IN" b="0" dirty="0">
                <a:effectLst/>
              </a:rPr>
              <a:t> &amp;&amp; temp &gt; 24) ? "FAN: AUTO ON" : "FAN: AUTO OFF");</a:t>
            </a:r>
          </a:p>
          <a:p>
            <a:pPr>
              <a:lnSpc>
                <a:spcPts val="1425"/>
              </a:lnSpc>
              <a:buNone/>
            </a:pPr>
            <a:br>
              <a:rPr lang="en-IN" b="0" dirty="0">
                <a:effectLst/>
              </a:rPr>
            </a:br>
            <a:endParaRPr lang="en-IN" b="0" dirty="0">
              <a:effectLst/>
            </a:endParaRPr>
          </a:p>
          <a:p>
            <a:pPr>
              <a:lnSpc>
                <a:spcPts val="1425"/>
              </a:lnSpc>
              <a:buNone/>
            </a:pPr>
            <a:r>
              <a:rPr lang="en-IN" b="0" dirty="0">
                <a:effectLst/>
              </a:rPr>
              <a:t>    // LIGHT STATUS</a:t>
            </a:r>
          </a:p>
          <a:p>
            <a:pPr>
              <a:lnSpc>
                <a:spcPts val="1425"/>
              </a:lnSpc>
              <a:buNone/>
            </a:pPr>
            <a:r>
              <a:rPr lang="en-IN" b="0" dirty="0">
                <a:effectLst/>
              </a:rPr>
              <a:t>    if (</a:t>
            </a:r>
            <a:r>
              <a:rPr lang="en-IN" b="0" dirty="0" err="1">
                <a:effectLst/>
              </a:rPr>
              <a:t>lightMode</a:t>
            </a:r>
            <a:r>
              <a:rPr lang="en-IN" b="0" dirty="0">
                <a:effectLst/>
              </a:rPr>
              <a:t> == 1) </a:t>
            </a:r>
            <a:r>
              <a:rPr lang="en-IN" b="0" dirty="0" err="1">
                <a:effectLst/>
              </a:rPr>
              <a:t>display.println</a:t>
            </a:r>
            <a:r>
              <a:rPr lang="en-IN" b="0" dirty="0">
                <a:effectLst/>
              </a:rPr>
              <a:t>("LIGHT: MANUAL ON");</a:t>
            </a:r>
          </a:p>
          <a:p>
            <a:pPr>
              <a:lnSpc>
                <a:spcPts val="1425"/>
              </a:lnSpc>
              <a:buNone/>
            </a:pPr>
            <a:r>
              <a:rPr lang="en-IN" b="0" dirty="0">
                <a:effectLst/>
              </a:rPr>
              <a:t>    else if (</a:t>
            </a:r>
            <a:r>
              <a:rPr lang="en-IN" b="0" dirty="0" err="1">
                <a:effectLst/>
              </a:rPr>
              <a:t>lightMode</a:t>
            </a:r>
            <a:r>
              <a:rPr lang="en-IN" b="0" dirty="0">
                <a:effectLst/>
              </a:rPr>
              <a:t> == 2) </a:t>
            </a:r>
            <a:r>
              <a:rPr lang="en-IN" b="0" dirty="0" err="1">
                <a:effectLst/>
              </a:rPr>
              <a:t>display.println</a:t>
            </a:r>
            <a:r>
              <a:rPr lang="en-IN" b="0" dirty="0">
                <a:effectLst/>
              </a:rPr>
              <a:t>("LIGHT: MANUAL OFF");</a:t>
            </a:r>
          </a:p>
          <a:p>
            <a:pPr>
              <a:lnSpc>
                <a:spcPts val="1425"/>
              </a:lnSpc>
              <a:buNone/>
            </a:pPr>
            <a:r>
              <a:rPr lang="en-IN" b="0" dirty="0">
                <a:effectLst/>
              </a:rPr>
              <a:t>    else </a:t>
            </a:r>
            <a:r>
              <a:rPr lang="en-IN" b="0" dirty="0" err="1">
                <a:effectLst/>
              </a:rPr>
              <a:t>display.println</a:t>
            </a:r>
            <a:r>
              <a:rPr lang="en-IN" b="0" dirty="0">
                <a:effectLst/>
              </a:rPr>
              <a:t>((</a:t>
            </a:r>
            <a:r>
              <a:rPr lang="en-IN" b="0" dirty="0" err="1">
                <a:effectLst/>
              </a:rPr>
              <a:t>motionState</a:t>
            </a:r>
            <a:r>
              <a:rPr lang="en-IN" b="0" dirty="0">
                <a:effectLst/>
              </a:rPr>
              <a:t> &amp;&amp; </a:t>
            </a:r>
            <a:r>
              <a:rPr lang="en-IN" b="0" dirty="0" err="1">
                <a:effectLst/>
              </a:rPr>
              <a:t>lightValue</a:t>
            </a:r>
            <a:r>
              <a:rPr lang="en-IN" b="0" dirty="0">
                <a:effectLst/>
              </a:rPr>
              <a:t> &gt;= 2000) ? "LIGHT: AUTO ON" : "LIGHT: AUTO OFF");</a:t>
            </a:r>
          </a:p>
          <a:p>
            <a:pPr>
              <a:lnSpc>
                <a:spcPts val="1425"/>
              </a:lnSpc>
              <a:buNone/>
            </a:pPr>
            <a:br>
              <a:rPr lang="en-IN" b="0" dirty="0">
                <a:effectLst/>
              </a:rPr>
            </a:br>
            <a:endParaRPr lang="en-IN" b="0" dirty="0">
              <a:effectLst/>
            </a:endParaRPr>
          </a:p>
          <a:p>
            <a:pPr>
              <a:lnSpc>
                <a:spcPts val="1425"/>
              </a:lnSpc>
              <a:buNone/>
            </a:pPr>
            <a:r>
              <a:rPr lang="en-IN" b="0" dirty="0">
                <a:effectLst/>
              </a:rPr>
              <a:t>    </a:t>
            </a:r>
            <a:r>
              <a:rPr lang="en-IN" b="0" dirty="0" err="1">
                <a:effectLst/>
              </a:rPr>
              <a:t>display.display</a:t>
            </a:r>
            <a:r>
              <a:rPr lang="en-IN" b="0" dirty="0">
                <a:effectLst/>
              </a:rPr>
              <a:t>();</a:t>
            </a:r>
          </a:p>
          <a:p>
            <a:pPr>
              <a:lnSpc>
                <a:spcPts val="1425"/>
              </a:lnSpc>
              <a:buNone/>
            </a:pPr>
            <a:br>
              <a:rPr lang="en-IN" b="0" dirty="0">
                <a:effectLst/>
              </a:rPr>
            </a:br>
            <a:endParaRPr lang="en-IN" b="0" dirty="0">
              <a:effectLst/>
            </a:endParaRPr>
          </a:p>
          <a:p>
            <a:pPr>
              <a:lnSpc>
                <a:spcPts val="1425"/>
              </a:lnSpc>
              <a:buNone/>
            </a:pPr>
            <a:r>
              <a:rPr lang="en-IN" b="0" dirty="0">
                <a:effectLst/>
              </a:rPr>
              <a:t>    // -------- SERIAL --------</a:t>
            </a:r>
          </a:p>
          <a:p>
            <a:pPr>
              <a:lnSpc>
                <a:spcPts val="1425"/>
              </a:lnSpc>
              <a:buNone/>
            </a:pPr>
            <a:r>
              <a:rPr lang="en-IN" b="0" dirty="0">
                <a:effectLst/>
              </a:rPr>
              <a:t>    </a:t>
            </a:r>
            <a:r>
              <a:rPr lang="en-IN" b="0" dirty="0" err="1">
                <a:effectLst/>
              </a:rPr>
              <a:t>Serial.print</a:t>
            </a:r>
            <a:r>
              <a:rPr lang="en-IN" b="0" dirty="0">
                <a:effectLst/>
              </a:rPr>
              <a:t>("</a:t>
            </a:r>
            <a:r>
              <a:rPr lang="en-IN" b="0" dirty="0" err="1">
                <a:effectLst/>
              </a:rPr>
              <a:t>FanMode</a:t>
            </a:r>
            <a:r>
              <a:rPr lang="en-IN" b="0" dirty="0">
                <a:effectLst/>
              </a:rPr>
              <a:t>: "); </a:t>
            </a:r>
            <a:r>
              <a:rPr lang="en-IN" b="0" dirty="0" err="1">
                <a:effectLst/>
              </a:rPr>
              <a:t>Serial.print</a:t>
            </a:r>
            <a:r>
              <a:rPr lang="en-IN" b="0" dirty="0">
                <a:effectLst/>
              </a:rPr>
              <a:t>(</a:t>
            </a:r>
            <a:r>
              <a:rPr lang="en-IN" b="0" dirty="0" err="1">
                <a:effectLst/>
              </a:rPr>
              <a:t>fanMode</a:t>
            </a:r>
            <a:r>
              <a:rPr lang="en-IN" b="0" dirty="0">
                <a:effectLst/>
              </a:rPr>
              <a:t>);</a:t>
            </a:r>
          </a:p>
          <a:p>
            <a:pPr>
              <a:lnSpc>
                <a:spcPts val="1425"/>
              </a:lnSpc>
              <a:buNone/>
            </a:pPr>
            <a:r>
              <a:rPr lang="en-IN" b="0" dirty="0">
                <a:effectLst/>
              </a:rPr>
              <a:t>    </a:t>
            </a:r>
            <a:r>
              <a:rPr lang="en-IN" b="0" dirty="0" err="1">
                <a:effectLst/>
              </a:rPr>
              <a:t>Serial.print</a:t>
            </a:r>
            <a:r>
              <a:rPr lang="en-IN" b="0" dirty="0">
                <a:effectLst/>
              </a:rPr>
              <a:t>(" | </a:t>
            </a:r>
            <a:r>
              <a:rPr lang="en-IN" b="0" dirty="0" err="1">
                <a:effectLst/>
              </a:rPr>
              <a:t>LightMode</a:t>
            </a:r>
            <a:r>
              <a:rPr lang="en-IN" b="0" dirty="0">
                <a:effectLst/>
              </a:rPr>
              <a:t>: "); </a:t>
            </a:r>
            <a:r>
              <a:rPr lang="en-IN" b="0" dirty="0" err="1">
                <a:effectLst/>
              </a:rPr>
              <a:t>Serial.print</a:t>
            </a:r>
            <a:r>
              <a:rPr lang="en-IN" b="0" dirty="0">
                <a:effectLst/>
              </a:rPr>
              <a:t>(</a:t>
            </a:r>
            <a:r>
              <a:rPr lang="en-IN" b="0" dirty="0" err="1">
                <a:effectLst/>
              </a:rPr>
              <a:t>lightMode</a:t>
            </a:r>
            <a:r>
              <a:rPr lang="en-IN" b="0" dirty="0">
                <a:effectLst/>
              </a:rPr>
              <a:t>);</a:t>
            </a:r>
          </a:p>
          <a:p>
            <a:pPr>
              <a:lnSpc>
                <a:spcPts val="1425"/>
              </a:lnSpc>
              <a:buNone/>
            </a:pPr>
            <a:r>
              <a:rPr lang="en-IN" b="0" dirty="0">
                <a:effectLst/>
              </a:rPr>
              <a:t>    </a:t>
            </a:r>
            <a:r>
              <a:rPr lang="en-IN" b="0" dirty="0" err="1">
                <a:effectLst/>
              </a:rPr>
              <a:t>Serial.print</a:t>
            </a:r>
            <a:r>
              <a:rPr lang="en-IN" b="0" dirty="0">
                <a:effectLst/>
              </a:rPr>
              <a:t>(" | Temp: "); </a:t>
            </a:r>
            <a:r>
              <a:rPr lang="en-IN" b="0" dirty="0" err="1">
                <a:effectLst/>
              </a:rPr>
              <a:t>Serial.print</a:t>
            </a:r>
            <a:r>
              <a:rPr lang="en-IN" b="0" dirty="0">
                <a:effectLst/>
              </a:rPr>
              <a:t>(temp);</a:t>
            </a:r>
          </a:p>
          <a:p>
            <a:pPr>
              <a:lnSpc>
                <a:spcPts val="1425"/>
              </a:lnSpc>
              <a:buNone/>
            </a:pPr>
            <a:r>
              <a:rPr lang="en-IN" b="0" dirty="0">
                <a:effectLst/>
              </a:rPr>
              <a:t>    </a:t>
            </a:r>
            <a:r>
              <a:rPr lang="en-IN" b="0" dirty="0" err="1">
                <a:effectLst/>
              </a:rPr>
              <a:t>Serial.print</a:t>
            </a:r>
            <a:r>
              <a:rPr lang="en-IN" b="0" dirty="0">
                <a:effectLst/>
              </a:rPr>
              <a:t>(" | Motion: "); </a:t>
            </a:r>
            <a:r>
              <a:rPr lang="en-IN" b="0" dirty="0" err="1">
                <a:effectLst/>
              </a:rPr>
              <a:t>Serial.println</a:t>
            </a:r>
            <a:r>
              <a:rPr lang="en-IN" b="0" dirty="0">
                <a:effectLst/>
              </a:rPr>
              <a:t>(</a:t>
            </a:r>
            <a:r>
              <a:rPr lang="en-IN" b="0" dirty="0" err="1">
                <a:effectLst/>
              </a:rPr>
              <a:t>motionState</a:t>
            </a:r>
            <a:r>
              <a:rPr lang="en-IN" b="0" dirty="0">
                <a:effectLst/>
              </a:rPr>
              <a:t>);</a:t>
            </a:r>
          </a:p>
          <a:p>
            <a:pPr>
              <a:lnSpc>
                <a:spcPts val="1425"/>
              </a:lnSpc>
              <a:buNone/>
            </a:pPr>
            <a:r>
              <a:rPr lang="en-IN" b="0" dirty="0">
                <a:effectLst/>
              </a:rPr>
              <a:t>  }</a:t>
            </a:r>
          </a:p>
          <a:p>
            <a:pPr>
              <a:lnSpc>
                <a:spcPts val="1425"/>
              </a:lnSpc>
              <a:buNone/>
            </a:pPr>
            <a:r>
              <a:rPr lang="en-IN" b="0" dirty="0">
                <a:effectLst/>
              </a:rPr>
              <a:t>}</a:t>
            </a:r>
          </a:p>
        </p:txBody>
      </p:sp>
      <p:sp>
        <p:nvSpPr>
          <p:cNvPr id="5" name="TextBox 4">
            <a:extLst>
              <a:ext uri="{FF2B5EF4-FFF2-40B4-BE49-F238E27FC236}">
                <a16:creationId xmlns:a16="http://schemas.microsoft.com/office/drawing/2014/main" id="{541FFE9E-F7A4-BFDC-7EAC-2321E72C30F9}"/>
              </a:ext>
            </a:extLst>
          </p:cNvPr>
          <p:cNvSpPr txBox="1"/>
          <p:nvPr/>
        </p:nvSpPr>
        <p:spPr>
          <a:xfrm>
            <a:off x="11208254" y="202737"/>
            <a:ext cx="791835" cy="369332"/>
          </a:xfrm>
          <a:prstGeom prst="rect">
            <a:avLst/>
          </a:prstGeom>
          <a:noFill/>
        </p:spPr>
        <p:txBody>
          <a:bodyPr wrap="square">
            <a:spAutoFit/>
          </a:bodyPr>
          <a:lstStyle/>
          <a:p>
            <a:r>
              <a:rPr lang="en-US" b="1" dirty="0"/>
              <a:t>42</a:t>
            </a:r>
            <a:endParaRPr lang="en-IN" b="1" dirty="0"/>
          </a:p>
        </p:txBody>
      </p:sp>
    </p:spTree>
    <p:extLst>
      <p:ext uri="{BB962C8B-B14F-4D97-AF65-F5344CB8AC3E}">
        <p14:creationId xmlns:p14="http://schemas.microsoft.com/office/powerpoint/2010/main" val="25223739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4703E9-A81A-594C-AE6A-411D05356FAB}"/>
              </a:ext>
            </a:extLst>
          </p:cNvPr>
          <p:cNvSpPr txBox="1"/>
          <p:nvPr/>
        </p:nvSpPr>
        <p:spPr>
          <a:xfrm>
            <a:off x="3535135" y="2505670"/>
            <a:ext cx="5121729" cy="1107996"/>
          </a:xfrm>
          <a:prstGeom prst="rect">
            <a:avLst/>
          </a:prstGeom>
          <a:noFill/>
        </p:spPr>
        <p:txBody>
          <a:bodyPr wrap="square" rtlCol="0">
            <a:spAutoFit/>
          </a:bodyPr>
          <a:lstStyle/>
          <a:p>
            <a:r>
              <a:rPr lang="en-US" sz="6600" b="1" u="sng" dirty="0"/>
              <a:t>THANK YOU</a:t>
            </a:r>
            <a:endParaRPr lang="en-IN" sz="6600" b="1" u="sng" dirty="0"/>
          </a:p>
        </p:txBody>
      </p:sp>
      <p:sp>
        <p:nvSpPr>
          <p:cNvPr id="6" name="Slide Number Placeholder 5">
            <a:extLst>
              <a:ext uri="{FF2B5EF4-FFF2-40B4-BE49-F238E27FC236}">
                <a16:creationId xmlns:a16="http://schemas.microsoft.com/office/drawing/2014/main" id="{71174B33-0779-67AC-979E-0D6EE7B16634}"/>
              </a:ext>
            </a:extLst>
          </p:cNvPr>
          <p:cNvSpPr>
            <a:spLocks noGrp="1"/>
          </p:cNvSpPr>
          <p:nvPr>
            <p:ph type="sldNum" sz="quarter" idx="12"/>
          </p:nvPr>
        </p:nvSpPr>
        <p:spPr/>
        <p:txBody>
          <a:bodyPr/>
          <a:lstStyle/>
          <a:p>
            <a:fld id="{0E29D32D-1BC0-48D0-BB54-D1EE225F3EBD}" type="slidenum">
              <a:rPr lang="en-IN" smtClean="0"/>
              <a:t>46</a:t>
            </a:fld>
            <a:endParaRPr lang="en-IN"/>
          </a:p>
        </p:txBody>
      </p:sp>
      <p:sp>
        <p:nvSpPr>
          <p:cNvPr id="7" name="TextBox 6">
            <a:extLst>
              <a:ext uri="{FF2B5EF4-FFF2-40B4-BE49-F238E27FC236}">
                <a16:creationId xmlns:a16="http://schemas.microsoft.com/office/drawing/2014/main" id="{FEC4F245-57F8-DE60-7580-B3140439106B}"/>
              </a:ext>
            </a:extLst>
          </p:cNvPr>
          <p:cNvSpPr txBox="1"/>
          <p:nvPr/>
        </p:nvSpPr>
        <p:spPr>
          <a:xfrm>
            <a:off x="11208254" y="202737"/>
            <a:ext cx="791835" cy="369332"/>
          </a:xfrm>
          <a:prstGeom prst="rect">
            <a:avLst/>
          </a:prstGeom>
          <a:noFill/>
        </p:spPr>
        <p:txBody>
          <a:bodyPr wrap="square">
            <a:spAutoFit/>
          </a:bodyPr>
          <a:lstStyle/>
          <a:p>
            <a:r>
              <a:rPr lang="en-US" b="1" dirty="0"/>
              <a:t>43</a:t>
            </a:r>
            <a:endParaRPr lang="en-IN" b="1" dirty="0"/>
          </a:p>
        </p:txBody>
      </p:sp>
    </p:spTree>
    <p:extLst>
      <p:ext uri="{BB962C8B-B14F-4D97-AF65-F5344CB8AC3E}">
        <p14:creationId xmlns:p14="http://schemas.microsoft.com/office/powerpoint/2010/main" val="2873435618"/>
      </p:ext>
    </p:extLst>
  </p:cSld>
  <p:clrMapOvr>
    <a:masterClrMapping/>
  </p:clrMapOvr>
  <p:transition spd="med">
    <p:pul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1065</TotalTime>
  <Words>3547</Words>
  <Application>Microsoft Office PowerPoint</Application>
  <PresentationFormat>Widescreen</PresentationFormat>
  <Paragraphs>655</Paragraphs>
  <Slides>46</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Aptos</vt:lpstr>
      <vt:lpstr>Aptos Display</vt:lpstr>
      <vt:lpstr>Arial</vt:lpstr>
      <vt:lpstr>Calibri</vt:lpstr>
      <vt:lpstr>Cambria Math</vt:lpstr>
      <vt:lpstr>Wingdings</vt:lpstr>
      <vt:lpstr>Office Theme</vt:lpstr>
      <vt:lpstr>ADAPTIVE CLASSROOM ENERGY MANAGEMENT </vt:lpstr>
      <vt:lpstr>PowerPoint Presentation</vt:lpstr>
      <vt:lpstr>PowerPoint Presentation</vt:lpstr>
      <vt:lpstr>INTRODUCTION</vt:lpstr>
      <vt:lpstr>PROBLEM STATEMENT  </vt:lpstr>
      <vt:lpstr>OBJECTIVES  </vt:lpstr>
      <vt:lpstr>LITERATURE SURVEY </vt:lpstr>
      <vt:lpstr>PowerPoint Presentation</vt:lpstr>
      <vt:lpstr>COMPONENTS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BLOCK DIAGRAM</vt:lpstr>
      <vt:lpstr>PowerPoint Presentation</vt:lpstr>
      <vt:lpstr>CIRCUIT DIAGRAM</vt:lpstr>
      <vt:lpstr>SIMULATION</vt:lpstr>
      <vt:lpstr>PRACTICAL IMPLEMENTATION</vt:lpstr>
      <vt:lpstr>PowerPoint Presentation</vt:lpstr>
      <vt:lpstr>CONTROL LOGIC</vt:lpstr>
      <vt:lpstr>WORKING / METHODOLOGY</vt:lpstr>
      <vt:lpstr>TECHNICAL PARAMETERS AND SPECIFICATIONS</vt:lpstr>
      <vt:lpstr>PowerPoint Presentation</vt:lpstr>
      <vt:lpstr>WORK DISTRIBUTION </vt:lpstr>
      <vt:lpstr>PowerPoint Presentation</vt:lpstr>
      <vt:lpstr>PowerPoint Presentation</vt:lpstr>
      <vt:lpstr>COST ESTIMATION</vt:lpstr>
      <vt:lpstr>RESULT</vt:lpstr>
      <vt:lpstr>PowerPoint Presentation</vt:lpstr>
      <vt:lpstr>PowerPoint Presentation</vt:lpstr>
      <vt:lpstr>CONCLUSION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Saja</dc:creator>
  <cp:lastModifiedBy>SALMAN FARIZ</cp:lastModifiedBy>
  <cp:revision>10</cp:revision>
  <cp:lastPrinted>2026-10-17T13:23:02Z</cp:lastPrinted>
  <dcterms:created xsi:type="dcterms:W3CDTF">2026-03-26T08:54:24Z</dcterms:created>
  <dcterms:modified xsi:type="dcterms:W3CDTF">2026-10-17T13:23:15Z</dcterms:modified>
</cp:coreProperties>
</file>